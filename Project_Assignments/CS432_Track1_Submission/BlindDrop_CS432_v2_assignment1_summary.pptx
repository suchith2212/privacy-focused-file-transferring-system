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HK Modular" charset="1" panose="00000800000000000000"/>
      <p:regular r:id="rId28"/>
    </p:embeddedFont>
    <p:embeddedFont>
      <p:font typeface="Calibri (MS) Italics" charset="1" panose="020F05020202040A0204"/>
      <p:regular r:id="rId29"/>
    </p:embeddedFont>
    <p:embeddedFont>
      <p:font typeface="Calibri (MS) Bold" charset="1" panose="020F0702030404030204"/>
      <p:regular r:id="rId30"/>
    </p:embeddedFont>
    <p:embeddedFont>
      <p:font typeface="Calibri (MS)" charset="1" panose="020F0502020204030204"/>
      <p:regular r:id="rId31"/>
    </p:embeddedFont>
    <p:embeddedFont>
      <p:font typeface="Times New Roman MT Bold" charset="1" panose="02030802070405020303"/>
      <p:regular r:id="rId33"/>
    </p:embeddedFont>
    <p:embeddedFont>
      <p:font typeface="Consolas Bold" charset="1" panose="020B0709020204030204"/>
      <p:regular r:id="rId34"/>
    </p:embeddedFont>
    <p:embeddedFont>
      <p:font typeface="Consolas" charset="1" panose="020B0609020204030204"/>
      <p:regular r:id="rId35"/>
    </p:embeddedFont>
    <p:embeddedFont>
      <p:font typeface="Calibri (MS) Bold Italics" charset="1" panose="020F07020304040A0204"/>
      <p:regular r:id="rId5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notesMaster" Target="notesMasters/notesMaster1.xml"/><Relationship Id="rId26" Type="http://schemas.openxmlformats.org/officeDocument/2006/relationships/theme" Target="theme/theme2.xml"/><Relationship Id="rId27" Type="http://schemas.openxmlformats.org/officeDocument/2006/relationships/notesSlide" Target="notesSlides/notesSlide1.xml"/><Relationship Id="rId28" Type="http://schemas.openxmlformats.org/officeDocument/2006/relationships/font" Target="fonts/font28.fntdata"/><Relationship Id="rId29" Type="http://schemas.openxmlformats.org/officeDocument/2006/relationships/font" Target="fonts/font29.fntdata"/><Relationship Id="rId30" Type="http://schemas.openxmlformats.org/officeDocument/2006/relationships/font" Target="fonts/font30.fntdata"/><Relationship Id="rId31" Type="http://schemas.openxmlformats.org/officeDocument/2006/relationships/font" Target="fonts/font31.fntdata"/><Relationship Id="rId32" Type="http://schemas.openxmlformats.org/officeDocument/2006/relationships/notesSlide" Target="notesSlides/notesSlide2.xml"/><Relationship Id="rId33" Type="http://schemas.openxmlformats.org/officeDocument/2006/relationships/font" Target="fonts/font33.fntdata"/><Relationship Id="rId34" Type="http://schemas.openxmlformats.org/officeDocument/2006/relationships/font" Target="fonts/font34.fntdata"/><Relationship Id="rId35" Type="http://schemas.openxmlformats.org/officeDocument/2006/relationships/font" Target="fonts/font35.fntdata"/><Relationship Id="rId36" Type="http://schemas.openxmlformats.org/officeDocument/2006/relationships/notesSlide" Target="notesSlides/notesSlide3.xml"/><Relationship Id="rId37" Type="http://schemas.openxmlformats.org/officeDocument/2006/relationships/notesSlide" Target="notesSlides/notesSlide4.xml"/><Relationship Id="rId38" Type="http://schemas.openxmlformats.org/officeDocument/2006/relationships/notesSlide" Target="notesSlides/notesSlide5.xml"/><Relationship Id="rId39" Type="http://schemas.openxmlformats.org/officeDocument/2006/relationships/notesSlide" Target="notesSlides/notesSlide6.xml"/><Relationship Id="rId40" Type="http://schemas.openxmlformats.org/officeDocument/2006/relationships/notesSlide" Target="notesSlides/notesSlide7.xml"/><Relationship Id="rId41" Type="http://schemas.openxmlformats.org/officeDocument/2006/relationships/notesSlide" Target="notesSlides/notesSlide8.xml"/><Relationship Id="rId42" Type="http://schemas.openxmlformats.org/officeDocument/2006/relationships/notesSlide" Target="notesSlides/notesSlide9.xml"/><Relationship Id="rId43" Type="http://schemas.openxmlformats.org/officeDocument/2006/relationships/notesSlide" Target="notesSlides/notesSlide10.xml"/><Relationship Id="rId44" Type="http://schemas.openxmlformats.org/officeDocument/2006/relationships/notesSlide" Target="notesSlides/notesSlide11.xml"/><Relationship Id="rId45" Type="http://schemas.openxmlformats.org/officeDocument/2006/relationships/notesSlide" Target="notesSlides/notesSlide12.xml"/><Relationship Id="rId46" Type="http://schemas.openxmlformats.org/officeDocument/2006/relationships/notesSlide" Target="notesSlides/notesSlide13.xml"/><Relationship Id="rId47" Type="http://schemas.openxmlformats.org/officeDocument/2006/relationships/notesSlide" Target="notesSlides/notesSlide14.xml"/><Relationship Id="rId48" Type="http://schemas.openxmlformats.org/officeDocument/2006/relationships/notesSlide" Target="notesSlides/notesSlide15.xml"/><Relationship Id="rId49" Type="http://schemas.openxmlformats.org/officeDocument/2006/relationships/notesSlide" Target="notesSlides/notesSlide16.xml"/><Relationship Id="rId50" Type="http://schemas.openxmlformats.org/officeDocument/2006/relationships/notesSlide" Target="notesSlides/notesSlide17.xml"/><Relationship Id="rId51" Type="http://schemas.openxmlformats.org/officeDocument/2006/relationships/notesSlide" Target="notesSlides/notesSlide18.xml"/><Relationship Id="rId52" Type="http://schemas.openxmlformats.org/officeDocument/2006/relationships/font" Target="fonts/font52.fntdata"/><Relationship Id="rId53" Type="http://schemas.openxmlformats.org/officeDocument/2006/relationships/notesSlide" Target="notesSlides/notes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e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e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e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e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0312403"/>
            <a:chOff x="0" y="0"/>
            <a:chExt cx="2441787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162340">
                <a:alpha val="48627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732890"/>
                  </a:lnTo>
                  <a:cubicBezTo>
                    <a:pt x="24417782" y="13742290"/>
                    <a:pt x="24410163" y="13749782"/>
                    <a:pt x="24400890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4400890" y="13716000"/>
                  </a:lnTo>
                  <a:lnTo>
                    <a:pt x="24400890" y="13732890"/>
                  </a:lnTo>
                  <a:lnTo>
                    <a:pt x="24384000" y="13732890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6234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281435" cy="10312403"/>
            <a:chOff x="0" y="0"/>
            <a:chExt cx="375247" cy="137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341376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5158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375158">
                  <a:moveTo>
                    <a:pt x="16891" y="0"/>
                  </a:moveTo>
                  <a:lnTo>
                    <a:pt x="358267" y="0"/>
                  </a:lnTo>
                  <a:cubicBezTo>
                    <a:pt x="367665" y="0"/>
                    <a:pt x="375158" y="7620"/>
                    <a:pt x="375158" y="16891"/>
                  </a:cubicBezTo>
                  <a:lnTo>
                    <a:pt x="375158" y="13732890"/>
                  </a:lnTo>
                  <a:cubicBezTo>
                    <a:pt x="375158" y="13742290"/>
                    <a:pt x="367538" y="13749782"/>
                    <a:pt x="358267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358267" y="13716000"/>
                  </a:lnTo>
                  <a:lnTo>
                    <a:pt x="358267" y="13732890"/>
                  </a:lnTo>
                  <a:lnTo>
                    <a:pt x="341376" y="13732890"/>
                  </a:lnTo>
                  <a:lnTo>
                    <a:pt x="341376" y="16891"/>
                  </a:lnTo>
                  <a:lnTo>
                    <a:pt x="358267" y="16891"/>
                  </a:lnTo>
                  <a:lnTo>
                    <a:pt x="35826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2697" y="-12697"/>
            <a:ext cx="18313403" cy="208283"/>
            <a:chOff x="0" y="0"/>
            <a:chExt cx="24417871" cy="2777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4383999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417782" cy="277624"/>
            </a:xfrm>
            <a:custGeom>
              <a:avLst/>
              <a:gdLst/>
              <a:ahLst/>
              <a:cxnLst/>
              <a:rect r="r" b="b" t="t" l="l"/>
              <a:pathLst>
                <a:path h="27762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0731"/>
                  </a:lnTo>
                  <a:cubicBezTo>
                    <a:pt x="24417782" y="270129"/>
                    <a:pt x="24410163" y="277622"/>
                    <a:pt x="2440089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4400890" y="243840"/>
                  </a:lnTo>
                  <a:lnTo>
                    <a:pt x="24400890" y="260731"/>
                  </a:lnTo>
                  <a:lnTo>
                    <a:pt x="24384000" y="2607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-12697" y="10082279"/>
            <a:ext cx="18313403" cy="208283"/>
            <a:chOff x="0" y="0"/>
            <a:chExt cx="24417871" cy="2777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24383999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417782" cy="277624"/>
            </a:xfrm>
            <a:custGeom>
              <a:avLst/>
              <a:gdLst/>
              <a:ahLst/>
              <a:cxnLst/>
              <a:rect r="r" b="b" t="t" l="l"/>
              <a:pathLst>
                <a:path h="27762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0731"/>
                  </a:lnTo>
                  <a:cubicBezTo>
                    <a:pt x="24417782" y="270129"/>
                    <a:pt x="24410163" y="277622"/>
                    <a:pt x="2440089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4400890" y="243840"/>
                  </a:lnTo>
                  <a:lnTo>
                    <a:pt x="24400890" y="260731"/>
                  </a:lnTo>
                  <a:lnTo>
                    <a:pt x="24384000" y="2607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48640" y="146648"/>
            <a:ext cx="17190720" cy="2926080"/>
            <a:chOff x="0" y="0"/>
            <a:chExt cx="22920960" cy="39014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920961" cy="3901440"/>
            </a:xfrm>
            <a:custGeom>
              <a:avLst/>
              <a:gdLst/>
              <a:ahLst/>
              <a:cxnLst/>
              <a:rect r="r" b="b" t="t" l="l"/>
              <a:pathLst>
                <a:path h="390144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3901440"/>
                  </a:lnTo>
                  <a:lnTo>
                    <a:pt x="0" y="3901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474" r="0" b="-6447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22920960" cy="3920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801"/>
                </a:lnSpc>
              </a:pPr>
              <a:r>
                <a:rPr lang="en-US" sz="9001" spc="252">
                  <a:solidFill>
                    <a:srgbClr val="FFFFFF"/>
                  </a:solidFill>
                  <a:latin typeface="HK Modular"/>
                  <a:ea typeface="HK Modular"/>
                  <a:cs typeface="HK Modular"/>
                  <a:sym typeface="HK Modular"/>
                </a:rPr>
                <a:t>BlindDrop</a:t>
              </a:r>
            </a:p>
            <a:p>
              <a:pPr algn="ctr">
                <a:lnSpc>
                  <a:spcPts val="7081"/>
                </a:lnSpc>
              </a:pPr>
              <a:r>
                <a:rPr lang="en-US" sz="5901" spc="168">
                  <a:solidFill>
                    <a:srgbClr val="FFFFFF"/>
                  </a:solidFill>
                  <a:latin typeface="HK Modular"/>
                  <a:ea typeface="HK Modular"/>
                  <a:cs typeface="HK Modular"/>
                  <a:sym typeface="HK Modular"/>
                </a:rPr>
                <a:t>GhostDrop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48645" y="3559984"/>
            <a:ext cx="17190720" cy="914400"/>
            <a:chOff x="0" y="0"/>
            <a:chExt cx="22920960" cy="1219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920961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6318" r="0" b="-31631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2292096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i="true">
                  <a:solidFill>
                    <a:srgbClr val="CAE8F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Secure · Expiring · Token-Scoped File Sharing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88997" y="5278117"/>
            <a:ext cx="8097517" cy="2702557"/>
            <a:chOff x="0" y="0"/>
            <a:chExt cx="10796689" cy="360340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33909" y="33909"/>
              <a:ext cx="10728833" cy="3535680"/>
            </a:xfrm>
            <a:custGeom>
              <a:avLst/>
              <a:gdLst/>
              <a:ahLst/>
              <a:cxnLst/>
              <a:rect r="r" b="b" t="t" l="l"/>
              <a:pathLst>
                <a:path h="3535680" w="10728833">
                  <a:moveTo>
                    <a:pt x="0" y="292608"/>
                  </a:moveTo>
                  <a:cubicBezTo>
                    <a:pt x="0" y="130937"/>
                    <a:pt x="132588" y="0"/>
                    <a:pt x="296291" y="0"/>
                  </a:cubicBezTo>
                  <a:lnTo>
                    <a:pt x="10432542" y="0"/>
                  </a:lnTo>
                  <a:cubicBezTo>
                    <a:pt x="10596245" y="0"/>
                    <a:pt x="10728833" y="131064"/>
                    <a:pt x="10728833" y="292608"/>
                  </a:cubicBezTo>
                  <a:lnTo>
                    <a:pt x="10728833" y="3243072"/>
                  </a:lnTo>
                  <a:cubicBezTo>
                    <a:pt x="10728833" y="3404616"/>
                    <a:pt x="10596118" y="3535680"/>
                    <a:pt x="10432542" y="3535680"/>
                  </a:cubicBezTo>
                  <a:lnTo>
                    <a:pt x="296291" y="3535680"/>
                  </a:lnTo>
                  <a:cubicBezTo>
                    <a:pt x="132588" y="3535680"/>
                    <a:pt x="0" y="3404616"/>
                    <a:pt x="0" y="3243072"/>
                  </a:cubicBezTo>
                  <a:close/>
                </a:path>
              </a:pathLst>
            </a:custGeom>
            <a:solidFill>
              <a:srgbClr val="06B6C8">
                <a:alpha val="784"/>
              </a:srgbClr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796651" cy="3603498"/>
            </a:xfrm>
            <a:custGeom>
              <a:avLst/>
              <a:gdLst/>
              <a:ahLst/>
              <a:cxnLst/>
              <a:rect r="r" b="b" t="t" l="l"/>
              <a:pathLst>
                <a:path h="3603498" w="10796651">
                  <a:moveTo>
                    <a:pt x="0" y="326517"/>
                  </a:moveTo>
                  <a:cubicBezTo>
                    <a:pt x="0" y="145796"/>
                    <a:pt x="148209" y="0"/>
                    <a:pt x="330200" y="0"/>
                  </a:cubicBezTo>
                  <a:lnTo>
                    <a:pt x="10466451" y="0"/>
                  </a:lnTo>
                  <a:lnTo>
                    <a:pt x="10466451" y="33909"/>
                  </a:lnTo>
                  <a:lnTo>
                    <a:pt x="10466451" y="0"/>
                  </a:lnTo>
                  <a:cubicBezTo>
                    <a:pt x="10648442" y="0"/>
                    <a:pt x="10796651" y="145796"/>
                    <a:pt x="10796651" y="326517"/>
                  </a:cubicBezTo>
                  <a:lnTo>
                    <a:pt x="10762742" y="326517"/>
                  </a:lnTo>
                  <a:lnTo>
                    <a:pt x="10796651" y="326517"/>
                  </a:lnTo>
                  <a:lnTo>
                    <a:pt x="10796651" y="3276981"/>
                  </a:lnTo>
                  <a:lnTo>
                    <a:pt x="10762742" y="3276981"/>
                  </a:lnTo>
                  <a:lnTo>
                    <a:pt x="10796651" y="3276981"/>
                  </a:lnTo>
                  <a:cubicBezTo>
                    <a:pt x="10796651" y="3457702"/>
                    <a:pt x="10648442" y="3603498"/>
                    <a:pt x="10466451" y="3603498"/>
                  </a:cubicBezTo>
                  <a:lnTo>
                    <a:pt x="10466451" y="3569589"/>
                  </a:lnTo>
                  <a:lnTo>
                    <a:pt x="10466451" y="3603498"/>
                  </a:lnTo>
                  <a:lnTo>
                    <a:pt x="330200" y="3603498"/>
                  </a:lnTo>
                  <a:lnTo>
                    <a:pt x="330200" y="3569589"/>
                  </a:lnTo>
                  <a:lnTo>
                    <a:pt x="330200" y="3603498"/>
                  </a:lnTo>
                  <a:cubicBezTo>
                    <a:pt x="148209" y="3603498"/>
                    <a:pt x="0" y="3457702"/>
                    <a:pt x="0" y="3276981"/>
                  </a:cubicBezTo>
                  <a:lnTo>
                    <a:pt x="0" y="326517"/>
                  </a:lnTo>
                  <a:lnTo>
                    <a:pt x="33909" y="326517"/>
                  </a:lnTo>
                  <a:lnTo>
                    <a:pt x="0" y="326517"/>
                  </a:lnTo>
                  <a:moveTo>
                    <a:pt x="67691" y="326517"/>
                  </a:moveTo>
                  <a:lnTo>
                    <a:pt x="67691" y="3276981"/>
                  </a:lnTo>
                  <a:lnTo>
                    <a:pt x="33909" y="3276981"/>
                  </a:lnTo>
                  <a:lnTo>
                    <a:pt x="67691" y="3276981"/>
                  </a:lnTo>
                  <a:cubicBezTo>
                    <a:pt x="67691" y="3419475"/>
                    <a:pt x="184785" y="3535680"/>
                    <a:pt x="330200" y="3535680"/>
                  </a:cubicBezTo>
                  <a:lnTo>
                    <a:pt x="10466451" y="3535680"/>
                  </a:lnTo>
                  <a:cubicBezTo>
                    <a:pt x="10611866" y="3535680"/>
                    <a:pt x="10728960" y="3419475"/>
                    <a:pt x="10728960" y="3276981"/>
                  </a:cubicBezTo>
                  <a:lnTo>
                    <a:pt x="10728960" y="326517"/>
                  </a:lnTo>
                  <a:cubicBezTo>
                    <a:pt x="10728960" y="184023"/>
                    <a:pt x="10611866" y="67818"/>
                    <a:pt x="10466451" y="67818"/>
                  </a:cubicBezTo>
                  <a:lnTo>
                    <a:pt x="330200" y="67818"/>
                  </a:lnTo>
                  <a:lnTo>
                    <a:pt x="330200" y="33909"/>
                  </a:lnTo>
                  <a:lnTo>
                    <a:pt x="330200" y="67691"/>
                  </a:lnTo>
                  <a:cubicBezTo>
                    <a:pt x="184785" y="67691"/>
                    <a:pt x="67691" y="183896"/>
                    <a:pt x="67691" y="326390"/>
                  </a:cubicBez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88720" y="5431536"/>
            <a:ext cx="7498080" cy="694944"/>
            <a:chOff x="0" y="0"/>
            <a:chExt cx="9997440" cy="9265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997440" cy="926592"/>
            </a:xfrm>
            <a:custGeom>
              <a:avLst/>
              <a:gdLst/>
              <a:ahLst/>
              <a:cxnLst/>
              <a:rect r="r" b="b" t="t" l="l"/>
              <a:pathLst>
                <a:path h="92659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233" r="0" b="-16023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999744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b="true" sz="3200" spc="400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A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88720" y="6071616"/>
            <a:ext cx="7498080" cy="512064"/>
            <a:chOff x="0" y="0"/>
            <a:chExt cx="9997440" cy="68275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997440" cy="682752"/>
            </a:xfrm>
            <a:custGeom>
              <a:avLst/>
              <a:gdLst/>
              <a:ahLst/>
              <a:cxnLst/>
              <a:rect r="r" b="b" t="t" l="l"/>
              <a:pathLst>
                <a:path h="68275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316" r="0" b="-23531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999744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Custom B+ Tree Engine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88720" y="6583680"/>
            <a:ext cx="7498080" cy="1188720"/>
            <a:chOff x="0" y="0"/>
            <a:chExt cx="9997440" cy="15849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9974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905" r="0" b="-7290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999744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i="true">
                  <a:solidFill>
                    <a:srgbClr val="CAE8F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bplustree.py · bruteforce.py · integration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301477" y="5278117"/>
            <a:ext cx="8097517" cy="2702557"/>
            <a:chOff x="0" y="0"/>
            <a:chExt cx="10796689" cy="360340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33909" y="33909"/>
              <a:ext cx="10728833" cy="3535680"/>
            </a:xfrm>
            <a:custGeom>
              <a:avLst/>
              <a:gdLst/>
              <a:ahLst/>
              <a:cxnLst/>
              <a:rect r="r" b="b" t="t" l="l"/>
              <a:pathLst>
                <a:path h="3535680" w="10728833">
                  <a:moveTo>
                    <a:pt x="0" y="292608"/>
                  </a:moveTo>
                  <a:cubicBezTo>
                    <a:pt x="0" y="130937"/>
                    <a:pt x="132588" y="0"/>
                    <a:pt x="296291" y="0"/>
                  </a:cubicBezTo>
                  <a:lnTo>
                    <a:pt x="10432542" y="0"/>
                  </a:lnTo>
                  <a:cubicBezTo>
                    <a:pt x="10596245" y="0"/>
                    <a:pt x="10728833" y="131064"/>
                    <a:pt x="10728833" y="292608"/>
                  </a:cubicBezTo>
                  <a:lnTo>
                    <a:pt x="10728833" y="3243072"/>
                  </a:lnTo>
                  <a:cubicBezTo>
                    <a:pt x="10728833" y="3404616"/>
                    <a:pt x="10596118" y="3535680"/>
                    <a:pt x="10432542" y="3535680"/>
                  </a:cubicBezTo>
                  <a:lnTo>
                    <a:pt x="296291" y="3535680"/>
                  </a:lnTo>
                  <a:cubicBezTo>
                    <a:pt x="132588" y="3535680"/>
                    <a:pt x="0" y="3404616"/>
                    <a:pt x="0" y="3243072"/>
                  </a:cubicBezTo>
                  <a:close/>
                </a:path>
              </a:pathLst>
            </a:custGeom>
            <a:solidFill>
              <a:srgbClr val="F59E0B">
                <a:alpha val="784"/>
              </a:srgbClr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796651" cy="3603498"/>
            </a:xfrm>
            <a:custGeom>
              <a:avLst/>
              <a:gdLst/>
              <a:ahLst/>
              <a:cxnLst/>
              <a:rect r="r" b="b" t="t" l="l"/>
              <a:pathLst>
                <a:path h="3603498" w="10796651">
                  <a:moveTo>
                    <a:pt x="0" y="326517"/>
                  </a:moveTo>
                  <a:cubicBezTo>
                    <a:pt x="0" y="145796"/>
                    <a:pt x="148209" y="0"/>
                    <a:pt x="330200" y="0"/>
                  </a:cubicBezTo>
                  <a:lnTo>
                    <a:pt x="10466451" y="0"/>
                  </a:lnTo>
                  <a:lnTo>
                    <a:pt x="10466451" y="33909"/>
                  </a:lnTo>
                  <a:lnTo>
                    <a:pt x="10466451" y="0"/>
                  </a:lnTo>
                  <a:cubicBezTo>
                    <a:pt x="10648442" y="0"/>
                    <a:pt x="10796651" y="145796"/>
                    <a:pt x="10796651" y="326517"/>
                  </a:cubicBezTo>
                  <a:lnTo>
                    <a:pt x="10762742" y="326517"/>
                  </a:lnTo>
                  <a:lnTo>
                    <a:pt x="10796651" y="326517"/>
                  </a:lnTo>
                  <a:lnTo>
                    <a:pt x="10796651" y="3276981"/>
                  </a:lnTo>
                  <a:lnTo>
                    <a:pt x="10762742" y="3276981"/>
                  </a:lnTo>
                  <a:lnTo>
                    <a:pt x="10796651" y="3276981"/>
                  </a:lnTo>
                  <a:cubicBezTo>
                    <a:pt x="10796651" y="3457702"/>
                    <a:pt x="10648442" y="3603498"/>
                    <a:pt x="10466451" y="3603498"/>
                  </a:cubicBezTo>
                  <a:lnTo>
                    <a:pt x="10466451" y="3569589"/>
                  </a:lnTo>
                  <a:lnTo>
                    <a:pt x="10466451" y="3603498"/>
                  </a:lnTo>
                  <a:lnTo>
                    <a:pt x="330200" y="3603498"/>
                  </a:lnTo>
                  <a:lnTo>
                    <a:pt x="330200" y="3569589"/>
                  </a:lnTo>
                  <a:lnTo>
                    <a:pt x="330200" y="3603498"/>
                  </a:lnTo>
                  <a:cubicBezTo>
                    <a:pt x="148209" y="3603498"/>
                    <a:pt x="0" y="3457702"/>
                    <a:pt x="0" y="3276981"/>
                  </a:cubicBezTo>
                  <a:lnTo>
                    <a:pt x="0" y="326517"/>
                  </a:lnTo>
                  <a:lnTo>
                    <a:pt x="33909" y="326517"/>
                  </a:lnTo>
                  <a:lnTo>
                    <a:pt x="0" y="326517"/>
                  </a:lnTo>
                  <a:moveTo>
                    <a:pt x="67691" y="326517"/>
                  </a:moveTo>
                  <a:lnTo>
                    <a:pt x="67691" y="3276981"/>
                  </a:lnTo>
                  <a:lnTo>
                    <a:pt x="33909" y="3276981"/>
                  </a:lnTo>
                  <a:lnTo>
                    <a:pt x="67691" y="3276981"/>
                  </a:lnTo>
                  <a:cubicBezTo>
                    <a:pt x="67691" y="3419475"/>
                    <a:pt x="184785" y="3535680"/>
                    <a:pt x="330200" y="3535680"/>
                  </a:cubicBezTo>
                  <a:lnTo>
                    <a:pt x="10466451" y="3535680"/>
                  </a:lnTo>
                  <a:cubicBezTo>
                    <a:pt x="10611866" y="3535680"/>
                    <a:pt x="10728960" y="3419475"/>
                    <a:pt x="10728960" y="3276981"/>
                  </a:cubicBezTo>
                  <a:lnTo>
                    <a:pt x="10728960" y="326517"/>
                  </a:lnTo>
                  <a:cubicBezTo>
                    <a:pt x="10728960" y="184023"/>
                    <a:pt x="10611866" y="67818"/>
                    <a:pt x="10466451" y="67818"/>
                  </a:cubicBezTo>
                  <a:lnTo>
                    <a:pt x="330200" y="67818"/>
                  </a:lnTo>
                  <a:lnTo>
                    <a:pt x="330200" y="33909"/>
                  </a:lnTo>
                  <a:lnTo>
                    <a:pt x="330200" y="67691"/>
                  </a:lnTo>
                  <a:cubicBezTo>
                    <a:pt x="184785" y="67691"/>
                    <a:pt x="67691" y="183896"/>
                    <a:pt x="67691" y="326390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601200" y="5431536"/>
            <a:ext cx="7498080" cy="694944"/>
            <a:chOff x="0" y="0"/>
            <a:chExt cx="9997440" cy="92659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997440" cy="926592"/>
            </a:xfrm>
            <a:custGeom>
              <a:avLst/>
              <a:gdLst/>
              <a:ahLst/>
              <a:cxnLst/>
              <a:rect r="r" b="b" t="t" l="l"/>
              <a:pathLst>
                <a:path h="92659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233" r="0" b="-16023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999744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b="true" sz="3200" spc="400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B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601200" y="6071616"/>
            <a:ext cx="7498080" cy="512064"/>
            <a:chOff x="0" y="0"/>
            <a:chExt cx="9997440" cy="6827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997440" cy="682752"/>
            </a:xfrm>
            <a:custGeom>
              <a:avLst/>
              <a:gdLst/>
              <a:ahLst/>
              <a:cxnLst/>
              <a:rect r="r" b="b" t="t" l="l"/>
              <a:pathLst>
                <a:path h="68275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316" r="0" b="-23531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999744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RBAC Web Application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601200" y="6583680"/>
            <a:ext cx="7498080" cy="1188720"/>
            <a:chOff x="0" y="0"/>
            <a:chExt cx="9997440" cy="15849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9974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905" r="0" b="-7290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999744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i="true">
                  <a:solidFill>
                    <a:srgbClr val="CAE8F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Express · MySQL · Audit · SQL Optimization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48640" y="8138160"/>
            <a:ext cx="17190720" cy="548640"/>
            <a:chOff x="0" y="0"/>
            <a:chExt cx="2292096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2920961" cy="731520"/>
            </a:xfrm>
            <a:custGeom>
              <a:avLst/>
              <a:gdLst/>
              <a:ahLst/>
              <a:cxnLst/>
              <a:rect r="r" b="b" t="t" l="l"/>
              <a:pathLst>
                <a:path h="73152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0531" r="0" b="-56053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229209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CS432 Track 1 · Assignment 2  |  Project_432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03910" y="8850630"/>
            <a:ext cx="2269236" cy="678180"/>
            <a:chOff x="0" y="0"/>
            <a:chExt cx="3025648" cy="9042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25400" y="25400"/>
              <a:ext cx="2974848" cy="853440"/>
            </a:xfrm>
            <a:custGeom>
              <a:avLst/>
              <a:gdLst/>
              <a:ahLst/>
              <a:cxnLst/>
              <a:rect r="r" b="b" t="t" l="l"/>
              <a:pathLst>
                <a:path h="853440" w="2974848">
                  <a:moveTo>
                    <a:pt x="0" y="195072"/>
                  </a:moveTo>
                  <a:cubicBezTo>
                    <a:pt x="0" y="87376"/>
                    <a:pt x="90932" y="0"/>
                    <a:pt x="203200" y="0"/>
                  </a:cubicBezTo>
                  <a:lnTo>
                    <a:pt x="2771648" y="0"/>
                  </a:lnTo>
                  <a:cubicBezTo>
                    <a:pt x="2883916" y="0"/>
                    <a:pt x="2974848" y="87376"/>
                    <a:pt x="2974848" y="195072"/>
                  </a:cubicBezTo>
                  <a:lnTo>
                    <a:pt x="2974848" y="658368"/>
                  </a:lnTo>
                  <a:cubicBezTo>
                    <a:pt x="2974848" y="766064"/>
                    <a:pt x="2883916" y="853440"/>
                    <a:pt x="2771648" y="853440"/>
                  </a:cubicBezTo>
                  <a:lnTo>
                    <a:pt x="203200" y="853440"/>
                  </a:lnTo>
                  <a:cubicBezTo>
                    <a:pt x="90932" y="853440"/>
                    <a:pt x="0" y="766064"/>
                    <a:pt x="0" y="658368"/>
                  </a:cubicBezTo>
                  <a:close/>
                </a:path>
              </a:pathLst>
            </a:custGeom>
            <a:solidFill>
              <a:srgbClr val="22C55E">
                <a:alpha val="3922"/>
              </a:srgbClr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025648" cy="904240"/>
            </a:xfrm>
            <a:custGeom>
              <a:avLst/>
              <a:gdLst/>
              <a:ahLst/>
              <a:cxnLst/>
              <a:rect r="r" b="b" t="t" l="l"/>
              <a:pathLst>
                <a:path h="904240" w="3025648">
                  <a:moveTo>
                    <a:pt x="0" y="220472"/>
                  </a:moveTo>
                  <a:cubicBezTo>
                    <a:pt x="0" y="97790"/>
                    <a:pt x="103378" y="0"/>
                    <a:pt x="228600" y="0"/>
                  </a:cubicBezTo>
                  <a:lnTo>
                    <a:pt x="2797048" y="0"/>
                  </a:lnTo>
                  <a:lnTo>
                    <a:pt x="2797048" y="25400"/>
                  </a:lnTo>
                  <a:lnTo>
                    <a:pt x="2797048" y="0"/>
                  </a:lnTo>
                  <a:cubicBezTo>
                    <a:pt x="2922270" y="0"/>
                    <a:pt x="3025648" y="97790"/>
                    <a:pt x="3025648" y="220472"/>
                  </a:cubicBezTo>
                  <a:lnTo>
                    <a:pt x="3000248" y="220472"/>
                  </a:lnTo>
                  <a:lnTo>
                    <a:pt x="3025648" y="220472"/>
                  </a:lnTo>
                  <a:lnTo>
                    <a:pt x="3025648" y="683768"/>
                  </a:lnTo>
                  <a:lnTo>
                    <a:pt x="3000248" y="683768"/>
                  </a:lnTo>
                  <a:lnTo>
                    <a:pt x="3025648" y="683768"/>
                  </a:lnTo>
                  <a:cubicBezTo>
                    <a:pt x="3025648" y="806450"/>
                    <a:pt x="2922270" y="904240"/>
                    <a:pt x="2797048" y="904240"/>
                  </a:cubicBezTo>
                  <a:lnTo>
                    <a:pt x="2797048" y="878840"/>
                  </a:lnTo>
                  <a:lnTo>
                    <a:pt x="2797048" y="904240"/>
                  </a:lnTo>
                  <a:lnTo>
                    <a:pt x="228600" y="904240"/>
                  </a:lnTo>
                  <a:lnTo>
                    <a:pt x="228600" y="878840"/>
                  </a:lnTo>
                  <a:lnTo>
                    <a:pt x="228600" y="904240"/>
                  </a:lnTo>
                  <a:cubicBezTo>
                    <a:pt x="103378" y="904240"/>
                    <a:pt x="0" y="806450"/>
                    <a:pt x="0" y="683768"/>
                  </a:cubicBezTo>
                  <a:lnTo>
                    <a:pt x="0" y="220472"/>
                  </a:lnTo>
                  <a:lnTo>
                    <a:pt x="25400" y="220472"/>
                  </a:lnTo>
                  <a:lnTo>
                    <a:pt x="0" y="220472"/>
                  </a:lnTo>
                  <a:moveTo>
                    <a:pt x="50800" y="220472"/>
                  </a:moveTo>
                  <a:lnTo>
                    <a:pt x="50800" y="683768"/>
                  </a:lnTo>
                  <a:lnTo>
                    <a:pt x="25400" y="683768"/>
                  </a:lnTo>
                  <a:lnTo>
                    <a:pt x="50800" y="683768"/>
                  </a:lnTo>
                  <a:cubicBezTo>
                    <a:pt x="50800" y="776478"/>
                    <a:pt x="129413" y="853440"/>
                    <a:pt x="228600" y="853440"/>
                  </a:cubicBezTo>
                  <a:lnTo>
                    <a:pt x="2797048" y="853440"/>
                  </a:lnTo>
                  <a:cubicBezTo>
                    <a:pt x="2896235" y="853440"/>
                    <a:pt x="2974848" y="776478"/>
                    <a:pt x="2974848" y="683768"/>
                  </a:cubicBezTo>
                  <a:lnTo>
                    <a:pt x="2974848" y="220472"/>
                  </a:lnTo>
                  <a:cubicBezTo>
                    <a:pt x="2974848" y="127762"/>
                    <a:pt x="2896235" y="50800"/>
                    <a:pt x="2797048" y="50800"/>
                  </a:cubicBezTo>
                  <a:lnTo>
                    <a:pt x="228600" y="50800"/>
                  </a:lnTo>
                  <a:lnTo>
                    <a:pt x="228600" y="25400"/>
                  </a:lnTo>
                  <a:lnTo>
                    <a:pt x="228600" y="50800"/>
                  </a:lnTo>
                  <a:cubicBezTo>
                    <a:pt x="129413" y="50800"/>
                    <a:pt x="50800" y="127762"/>
                    <a:pt x="50800" y="220472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822960" y="8869680"/>
            <a:ext cx="2231136" cy="640080"/>
            <a:chOff x="0" y="0"/>
            <a:chExt cx="2974848" cy="8534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974848" cy="853440"/>
            </a:xfrm>
            <a:custGeom>
              <a:avLst/>
              <a:gdLst/>
              <a:ahLst/>
              <a:cxnLst/>
              <a:rect r="r" b="b" t="t" l="l"/>
              <a:pathLst>
                <a:path h="85344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19" r="0" b="-17919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2974848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Node.js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3291078" y="8850630"/>
            <a:ext cx="2269236" cy="678180"/>
            <a:chOff x="0" y="0"/>
            <a:chExt cx="3025648" cy="9042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25400" y="25400"/>
              <a:ext cx="2974848" cy="853440"/>
            </a:xfrm>
            <a:custGeom>
              <a:avLst/>
              <a:gdLst/>
              <a:ahLst/>
              <a:cxnLst/>
              <a:rect r="r" b="b" t="t" l="l"/>
              <a:pathLst>
                <a:path h="853440" w="2974848">
                  <a:moveTo>
                    <a:pt x="0" y="195072"/>
                  </a:moveTo>
                  <a:cubicBezTo>
                    <a:pt x="0" y="87376"/>
                    <a:pt x="90932" y="0"/>
                    <a:pt x="203200" y="0"/>
                  </a:cubicBezTo>
                  <a:lnTo>
                    <a:pt x="2771648" y="0"/>
                  </a:lnTo>
                  <a:cubicBezTo>
                    <a:pt x="2883916" y="0"/>
                    <a:pt x="2974848" y="87376"/>
                    <a:pt x="2974848" y="195072"/>
                  </a:cubicBezTo>
                  <a:lnTo>
                    <a:pt x="2974848" y="658368"/>
                  </a:lnTo>
                  <a:cubicBezTo>
                    <a:pt x="2974848" y="766064"/>
                    <a:pt x="2883916" y="853440"/>
                    <a:pt x="2771648" y="853440"/>
                  </a:cubicBezTo>
                  <a:lnTo>
                    <a:pt x="203200" y="853440"/>
                  </a:lnTo>
                  <a:cubicBezTo>
                    <a:pt x="90932" y="853440"/>
                    <a:pt x="0" y="766064"/>
                    <a:pt x="0" y="658368"/>
                  </a:cubicBezTo>
                  <a:close/>
                </a:path>
              </a:pathLst>
            </a:custGeom>
            <a:solidFill>
              <a:srgbClr val="06B6C8">
                <a:alpha val="3922"/>
              </a:srgbClr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025648" cy="904240"/>
            </a:xfrm>
            <a:custGeom>
              <a:avLst/>
              <a:gdLst/>
              <a:ahLst/>
              <a:cxnLst/>
              <a:rect r="r" b="b" t="t" l="l"/>
              <a:pathLst>
                <a:path h="904240" w="3025648">
                  <a:moveTo>
                    <a:pt x="0" y="220472"/>
                  </a:moveTo>
                  <a:cubicBezTo>
                    <a:pt x="0" y="97790"/>
                    <a:pt x="103378" y="0"/>
                    <a:pt x="228600" y="0"/>
                  </a:cubicBezTo>
                  <a:lnTo>
                    <a:pt x="2797048" y="0"/>
                  </a:lnTo>
                  <a:lnTo>
                    <a:pt x="2797048" y="25400"/>
                  </a:lnTo>
                  <a:lnTo>
                    <a:pt x="2797048" y="0"/>
                  </a:lnTo>
                  <a:cubicBezTo>
                    <a:pt x="2922270" y="0"/>
                    <a:pt x="3025648" y="97790"/>
                    <a:pt x="3025648" y="220472"/>
                  </a:cubicBezTo>
                  <a:lnTo>
                    <a:pt x="3000248" y="220472"/>
                  </a:lnTo>
                  <a:lnTo>
                    <a:pt x="3025648" y="220472"/>
                  </a:lnTo>
                  <a:lnTo>
                    <a:pt x="3025648" y="683768"/>
                  </a:lnTo>
                  <a:lnTo>
                    <a:pt x="3000248" y="683768"/>
                  </a:lnTo>
                  <a:lnTo>
                    <a:pt x="3025648" y="683768"/>
                  </a:lnTo>
                  <a:cubicBezTo>
                    <a:pt x="3025648" y="806450"/>
                    <a:pt x="2922270" y="904240"/>
                    <a:pt x="2797048" y="904240"/>
                  </a:cubicBezTo>
                  <a:lnTo>
                    <a:pt x="2797048" y="878840"/>
                  </a:lnTo>
                  <a:lnTo>
                    <a:pt x="2797048" y="904240"/>
                  </a:lnTo>
                  <a:lnTo>
                    <a:pt x="228600" y="904240"/>
                  </a:lnTo>
                  <a:lnTo>
                    <a:pt x="228600" y="878840"/>
                  </a:lnTo>
                  <a:lnTo>
                    <a:pt x="228600" y="904240"/>
                  </a:lnTo>
                  <a:cubicBezTo>
                    <a:pt x="103378" y="904240"/>
                    <a:pt x="0" y="806450"/>
                    <a:pt x="0" y="683768"/>
                  </a:cubicBezTo>
                  <a:lnTo>
                    <a:pt x="0" y="220472"/>
                  </a:lnTo>
                  <a:lnTo>
                    <a:pt x="25400" y="220472"/>
                  </a:lnTo>
                  <a:lnTo>
                    <a:pt x="0" y="220472"/>
                  </a:lnTo>
                  <a:moveTo>
                    <a:pt x="50800" y="220472"/>
                  </a:moveTo>
                  <a:lnTo>
                    <a:pt x="50800" y="683768"/>
                  </a:lnTo>
                  <a:lnTo>
                    <a:pt x="25400" y="683768"/>
                  </a:lnTo>
                  <a:lnTo>
                    <a:pt x="50800" y="683768"/>
                  </a:lnTo>
                  <a:cubicBezTo>
                    <a:pt x="50800" y="776478"/>
                    <a:pt x="129413" y="853440"/>
                    <a:pt x="228600" y="853440"/>
                  </a:cubicBezTo>
                  <a:lnTo>
                    <a:pt x="2797048" y="853440"/>
                  </a:lnTo>
                  <a:cubicBezTo>
                    <a:pt x="2896235" y="853440"/>
                    <a:pt x="2974848" y="776478"/>
                    <a:pt x="2974848" y="683768"/>
                  </a:cubicBezTo>
                  <a:lnTo>
                    <a:pt x="2974848" y="220472"/>
                  </a:lnTo>
                  <a:cubicBezTo>
                    <a:pt x="2974848" y="127762"/>
                    <a:pt x="2896235" y="50800"/>
                    <a:pt x="2797048" y="50800"/>
                  </a:cubicBezTo>
                  <a:lnTo>
                    <a:pt x="228600" y="50800"/>
                  </a:lnTo>
                  <a:lnTo>
                    <a:pt x="228600" y="25400"/>
                  </a:lnTo>
                  <a:lnTo>
                    <a:pt x="228600" y="50800"/>
                  </a:lnTo>
                  <a:cubicBezTo>
                    <a:pt x="129413" y="50800"/>
                    <a:pt x="50800" y="127762"/>
                    <a:pt x="50800" y="220472"/>
                  </a:cubicBez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3310128" y="8869680"/>
            <a:ext cx="2231136" cy="640080"/>
            <a:chOff x="0" y="0"/>
            <a:chExt cx="2974848" cy="8534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974848" cy="853440"/>
            </a:xfrm>
            <a:custGeom>
              <a:avLst/>
              <a:gdLst/>
              <a:ahLst/>
              <a:cxnLst/>
              <a:rect r="r" b="b" t="t" l="l"/>
              <a:pathLst>
                <a:path h="85344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19" r="0" b="-17919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2974848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Express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5778246" y="8850630"/>
            <a:ext cx="2269236" cy="678180"/>
            <a:chOff x="0" y="0"/>
            <a:chExt cx="3025648" cy="9042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25400" y="25400"/>
              <a:ext cx="2974848" cy="853440"/>
            </a:xfrm>
            <a:custGeom>
              <a:avLst/>
              <a:gdLst/>
              <a:ahLst/>
              <a:cxnLst/>
              <a:rect r="r" b="b" t="t" l="l"/>
              <a:pathLst>
                <a:path h="853440" w="2974848">
                  <a:moveTo>
                    <a:pt x="0" y="195072"/>
                  </a:moveTo>
                  <a:cubicBezTo>
                    <a:pt x="0" y="87376"/>
                    <a:pt x="90932" y="0"/>
                    <a:pt x="203200" y="0"/>
                  </a:cubicBezTo>
                  <a:lnTo>
                    <a:pt x="2771648" y="0"/>
                  </a:lnTo>
                  <a:cubicBezTo>
                    <a:pt x="2883916" y="0"/>
                    <a:pt x="2974848" y="87376"/>
                    <a:pt x="2974848" y="195072"/>
                  </a:cubicBezTo>
                  <a:lnTo>
                    <a:pt x="2974848" y="658368"/>
                  </a:lnTo>
                  <a:cubicBezTo>
                    <a:pt x="2974848" y="766064"/>
                    <a:pt x="2883916" y="853440"/>
                    <a:pt x="2771648" y="853440"/>
                  </a:cubicBezTo>
                  <a:lnTo>
                    <a:pt x="203200" y="853440"/>
                  </a:lnTo>
                  <a:cubicBezTo>
                    <a:pt x="90932" y="853440"/>
                    <a:pt x="0" y="766064"/>
                    <a:pt x="0" y="658368"/>
                  </a:cubicBezTo>
                  <a:close/>
                </a:path>
              </a:pathLst>
            </a:custGeom>
            <a:solidFill>
              <a:srgbClr val="F97316">
                <a:alpha val="3922"/>
              </a:srgbClr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025648" cy="904240"/>
            </a:xfrm>
            <a:custGeom>
              <a:avLst/>
              <a:gdLst/>
              <a:ahLst/>
              <a:cxnLst/>
              <a:rect r="r" b="b" t="t" l="l"/>
              <a:pathLst>
                <a:path h="904240" w="3025648">
                  <a:moveTo>
                    <a:pt x="0" y="220472"/>
                  </a:moveTo>
                  <a:cubicBezTo>
                    <a:pt x="0" y="97790"/>
                    <a:pt x="103378" y="0"/>
                    <a:pt x="228600" y="0"/>
                  </a:cubicBezTo>
                  <a:lnTo>
                    <a:pt x="2797048" y="0"/>
                  </a:lnTo>
                  <a:lnTo>
                    <a:pt x="2797048" y="25400"/>
                  </a:lnTo>
                  <a:lnTo>
                    <a:pt x="2797048" y="0"/>
                  </a:lnTo>
                  <a:cubicBezTo>
                    <a:pt x="2922270" y="0"/>
                    <a:pt x="3025648" y="97790"/>
                    <a:pt x="3025648" y="220472"/>
                  </a:cubicBezTo>
                  <a:lnTo>
                    <a:pt x="3000248" y="220472"/>
                  </a:lnTo>
                  <a:lnTo>
                    <a:pt x="3025648" y="220472"/>
                  </a:lnTo>
                  <a:lnTo>
                    <a:pt x="3025648" y="683768"/>
                  </a:lnTo>
                  <a:lnTo>
                    <a:pt x="3000248" y="683768"/>
                  </a:lnTo>
                  <a:lnTo>
                    <a:pt x="3025648" y="683768"/>
                  </a:lnTo>
                  <a:cubicBezTo>
                    <a:pt x="3025648" y="806450"/>
                    <a:pt x="2922270" y="904240"/>
                    <a:pt x="2797048" y="904240"/>
                  </a:cubicBezTo>
                  <a:lnTo>
                    <a:pt x="2797048" y="878840"/>
                  </a:lnTo>
                  <a:lnTo>
                    <a:pt x="2797048" y="904240"/>
                  </a:lnTo>
                  <a:lnTo>
                    <a:pt x="228600" y="904240"/>
                  </a:lnTo>
                  <a:lnTo>
                    <a:pt x="228600" y="878840"/>
                  </a:lnTo>
                  <a:lnTo>
                    <a:pt x="228600" y="904240"/>
                  </a:lnTo>
                  <a:cubicBezTo>
                    <a:pt x="103378" y="904240"/>
                    <a:pt x="0" y="806450"/>
                    <a:pt x="0" y="683768"/>
                  </a:cubicBezTo>
                  <a:lnTo>
                    <a:pt x="0" y="220472"/>
                  </a:lnTo>
                  <a:lnTo>
                    <a:pt x="25400" y="220472"/>
                  </a:lnTo>
                  <a:lnTo>
                    <a:pt x="0" y="220472"/>
                  </a:lnTo>
                  <a:moveTo>
                    <a:pt x="50800" y="220472"/>
                  </a:moveTo>
                  <a:lnTo>
                    <a:pt x="50800" y="683768"/>
                  </a:lnTo>
                  <a:lnTo>
                    <a:pt x="25400" y="683768"/>
                  </a:lnTo>
                  <a:lnTo>
                    <a:pt x="50800" y="683768"/>
                  </a:lnTo>
                  <a:cubicBezTo>
                    <a:pt x="50800" y="776478"/>
                    <a:pt x="129413" y="853440"/>
                    <a:pt x="228600" y="853440"/>
                  </a:cubicBezTo>
                  <a:lnTo>
                    <a:pt x="2797048" y="853440"/>
                  </a:lnTo>
                  <a:cubicBezTo>
                    <a:pt x="2896235" y="853440"/>
                    <a:pt x="2974848" y="776478"/>
                    <a:pt x="2974848" y="683768"/>
                  </a:cubicBezTo>
                  <a:lnTo>
                    <a:pt x="2974848" y="220472"/>
                  </a:lnTo>
                  <a:cubicBezTo>
                    <a:pt x="2974848" y="127762"/>
                    <a:pt x="2896235" y="50800"/>
                    <a:pt x="2797048" y="50800"/>
                  </a:cubicBezTo>
                  <a:lnTo>
                    <a:pt x="228600" y="50800"/>
                  </a:lnTo>
                  <a:lnTo>
                    <a:pt x="228600" y="25400"/>
                  </a:lnTo>
                  <a:lnTo>
                    <a:pt x="228600" y="50800"/>
                  </a:lnTo>
                  <a:cubicBezTo>
                    <a:pt x="129413" y="50800"/>
                    <a:pt x="50800" y="127762"/>
                    <a:pt x="50800" y="220472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6034278" y="8848725"/>
            <a:ext cx="2231136" cy="640080"/>
            <a:chOff x="0" y="0"/>
            <a:chExt cx="2974848" cy="8534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974848" cy="853440"/>
            </a:xfrm>
            <a:custGeom>
              <a:avLst/>
              <a:gdLst/>
              <a:ahLst/>
              <a:cxnLst/>
              <a:rect r="r" b="b" t="t" l="l"/>
              <a:pathLst>
                <a:path h="85344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19" r="0" b="-17919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2974848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MySQL 8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8265414" y="8850630"/>
            <a:ext cx="2269236" cy="678180"/>
            <a:chOff x="0" y="0"/>
            <a:chExt cx="3025648" cy="9042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25400" y="25400"/>
              <a:ext cx="2974848" cy="853440"/>
            </a:xfrm>
            <a:custGeom>
              <a:avLst/>
              <a:gdLst/>
              <a:ahLst/>
              <a:cxnLst/>
              <a:rect r="r" b="b" t="t" l="l"/>
              <a:pathLst>
                <a:path h="853440" w="2974848">
                  <a:moveTo>
                    <a:pt x="0" y="195072"/>
                  </a:moveTo>
                  <a:cubicBezTo>
                    <a:pt x="0" y="87376"/>
                    <a:pt x="90932" y="0"/>
                    <a:pt x="203200" y="0"/>
                  </a:cubicBezTo>
                  <a:lnTo>
                    <a:pt x="2771648" y="0"/>
                  </a:lnTo>
                  <a:cubicBezTo>
                    <a:pt x="2883916" y="0"/>
                    <a:pt x="2974848" y="87376"/>
                    <a:pt x="2974848" y="195072"/>
                  </a:cubicBezTo>
                  <a:lnTo>
                    <a:pt x="2974848" y="658368"/>
                  </a:lnTo>
                  <a:cubicBezTo>
                    <a:pt x="2974848" y="766064"/>
                    <a:pt x="2883916" y="853440"/>
                    <a:pt x="2771648" y="853440"/>
                  </a:cubicBezTo>
                  <a:lnTo>
                    <a:pt x="203200" y="853440"/>
                  </a:lnTo>
                  <a:cubicBezTo>
                    <a:pt x="90932" y="853440"/>
                    <a:pt x="0" y="766064"/>
                    <a:pt x="0" y="658368"/>
                  </a:cubicBezTo>
                  <a:close/>
                </a:path>
              </a:pathLst>
            </a:custGeom>
            <a:solidFill>
              <a:srgbClr val="F59E0B">
                <a:alpha val="3922"/>
              </a:srgbClr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025648" cy="904240"/>
            </a:xfrm>
            <a:custGeom>
              <a:avLst/>
              <a:gdLst/>
              <a:ahLst/>
              <a:cxnLst/>
              <a:rect r="r" b="b" t="t" l="l"/>
              <a:pathLst>
                <a:path h="904240" w="3025648">
                  <a:moveTo>
                    <a:pt x="0" y="220472"/>
                  </a:moveTo>
                  <a:cubicBezTo>
                    <a:pt x="0" y="97790"/>
                    <a:pt x="103378" y="0"/>
                    <a:pt x="228600" y="0"/>
                  </a:cubicBezTo>
                  <a:lnTo>
                    <a:pt x="2797048" y="0"/>
                  </a:lnTo>
                  <a:lnTo>
                    <a:pt x="2797048" y="25400"/>
                  </a:lnTo>
                  <a:lnTo>
                    <a:pt x="2797048" y="0"/>
                  </a:lnTo>
                  <a:cubicBezTo>
                    <a:pt x="2922270" y="0"/>
                    <a:pt x="3025648" y="97790"/>
                    <a:pt x="3025648" y="220472"/>
                  </a:cubicBezTo>
                  <a:lnTo>
                    <a:pt x="3000248" y="220472"/>
                  </a:lnTo>
                  <a:lnTo>
                    <a:pt x="3025648" y="220472"/>
                  </a:lnTo>
                  <a:lnTo>
                    <a:pt x="3025648" y="683768"/>
                  </a:lnTo>
                  <a:lnTo>
                    <a:pt x="3000248" y="683768"/>
                  </a:lnTo>
                  <a:lnTo>
                    <a:pt x="3025648" y="683768"/>
                  </a:lnTo>
                  <a:cubicBezTo>
                    <a:pt x="3025648" y="806450"/>
                    <a:pt x="2922270" y="904240"/>
                    <a:pt x="2797048" y="904240"/>
                  </a:cubicBezTo>
                  <a:lnTo>
                    <a:pt x="2797048" y="878840"/>
                  </a:lnTo>
                  <a:lnTo>
                    <a:pt x="2797048" y="904240"/>
                  </a:lnTo>
                  <a:lnTo>
                    <a:pt x="228600" y="904240"/>
                  </a:lnTo>
                  <a:lnTo>
                    <a:pt x="228600" y="878840"/>
                  </a:lnTo>
                  <a:lnTo>
                    <a:pt x="228600" y="904240"/>
                  </a:lnTo>
                  <a:cubicBezTo>
                    <a:pt x="103378" y="904240"/>
                    <a:pt x="0" y="806450"/>
                    <a:pt x="0" y="683768"/>
                  </a:cubicBezTo>
                  <a:lnTo>
                    <a:pt x="0" y="220472"/>
                  </a:lnTo>
                  <a:lnTo>
                    <a:pt x="25400" y="220472"/>
                  </a:lnTo>
                  <a:lnTo>
                    <a:pt x="0" y="220472"/>
                  </a:lnTo>
                  <a:moveTo>
                    <a:pt x="50800" y="220472"/>
                  </a:moveTo>
                  <a:lnTo>
                    <a:pt x="50800" y="683768"/>
                  </a:lnTo>
                  <a:lnTo>
                    <a:pt x="25400" y="683768"/>
                  </a:lnTo>
                  <a:lnTo>
                    <a:pt x="50800" y="683768"/>
                  </a:lnTo>
                  <a:cubicBezTo>
                    <a:pt x="50800" y="776478"/>
                    <a:pt x="129413" y="853440"/>
                    <a:pt x="228600" y="853440"/>
                  </a:cubicBezTo>
                  <a:lnTo>
                    <a:pt x="2797048" y="853440"/>
                  </a:lnTo>
                  <a:cubicBezTo>
                    <a:pt x="2896235" y="853440"/>
                    <a:pt x="2974848" y="776478"/>
                    <a:pt x="2974848" y="683768"/>
                  </a:cubicBezTo>
                  <a:lnTo>
                    <a:pt x="2974848" y="220472"/>
                  </a:lnTo>
                  <a:cubicBezTo>
                    <a:pt x="2974848" y="127762"/>
                    <a:pt x="2896235" y="50800"/>
                    <a:pt x="2797048" y="50800"/>
                  </a:cubicBezTo>
                  <a:lnTo>
                    <a:pt x="228600" y="50800"/>
                  </a:lnTo>
                  <a:lnTo>
                    <a:pt x="228600" y="25400"/>
                  </a:lnTo>
                  <a:lnTo>
                    <a:pt x="228600" y="50800"/>
                  </a:lnTo>
                  <a:cubicBezTo>
                    <a:pt x="129413" y="50800"/>
                    <a:pt x="50800" y="127762"/>
                    <a:pt x="50800" y="220472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8284464" y="8869680"/>
            <a:ext cx="2231136" cy="640080"/>
            <a:chOff x="0" y="0"/>
            <a:chExt cx="2974848" cy="8534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974848" cy="853440"/>
            </a:xfrm>
            <a:custGeom>
              <a:avLst/>
              <a:gdLst/>
              <a:ahLst/>
              <a:cxnLst/>
              <a:rect r="r" b="b" t="t" l="l"/>
              <a:pathLst>
                <a:path h="85344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19" r="0" b="-17919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2974848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Python 3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0752582" y="8850630"/>
            <a:ext cx="2269236" cy="678180"/>
            <a:chOff x="0" y="0"/>
            <a:chExt cx="3025648" cy="9042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25400" y="25400"/>
              <a:ext cx="2974848" cy="853440"/>
            </a:xfrm>
            <a:custGeom>
              <a:avLst/>
              <a:gdLst/>
              <a:ahLst/>
              <a:cxnLst/>
              <a:rect r="r" b="b" t="t" l="l"/>
              <a:pathLst>
                <a:path h="853440" w="2974848">
                  <a:moveTo>
                    <a:pt x="0" y="195072"/>
                  </a:moveTo>
                  <a:cubicBezTo>
                    <a:pt x="0" y="87376"/>
                    <a:pt x="90932" y="0"/>
                    <a:pt x="203200" y="0"/>
                  </a:cubicBezTo>
                  <a:lnTo>
                    <a:pt x="2771648" y="0"/>
                  </a:lnTo>
                  <a:cubicBezTo>
                    <a:pt x="2883916" y="0"/>
                    <a:pt x="2974848" y="87376"/>
                    <a:pt x="2974848" y="195072"/>
                  </a:cubicBezTo>
                  <a:lnTo>
                    <a:pt x="2974848" y="658368"/>
                  </a:lnTo>
                  <a:cubicBezTo>
                    <a:pt x="2974848" y="766064"/>
                    <a:pt x="2883916" y="853440"/>
                    <a:pt x="2771648" y="853440"/>
                  </a:cubicBezTo>
                  <a:lnTo>
                    <a:pt x="203200" y="853440"/>
                  </a:lnTo>
                  <a:cubicBezTo>
                    <a:pt x="90932" y="853440"/>
                    <a:pt x="0" y="766064"/>
                    <a:pt x="0" y="658368"/>
                  </a:cubicBezTo>
                  <a:close/>
                </a:path>
              </a:pathLst>
            </a:custGeom>
            <a:solidFill>
              <a:srgbClr val="0891A8">
                <a:alpha val="3922"/>
              </a:srgbClr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025648" cy="904240"/>
            </a:xfrm>
            <a:custGeom>
              <a:avLst/>
              <a:gdLst/>
              <a:ahLst/>
              <a:cxnLst/>
              <a:rect r="r" b="b" t="t" l="l"/>
              <a:pathLst>
                <a:path h="904240" w="3025648">
                  <a:moveTo>
                    <a:pt x="0" y="220472"/>
                  </a:moveTo>
                  <a:cubicBezTo>
                    <a:pt x="0" y="97790"/>
                    <a:pt x="103378" y="0"/>
                    <a:pt x="228600" y="0"/>
                  </a:cubicBezTo>
                  <a:lnTo>
                    <a:pt x="2797048" y="0"/>
                  </a:lnTo>
                  <a:lnTo>
                    <a:pt x="2797048" y="25400"/>
                  </a:lnTo>
                  <a:lnTo>
                    <a:pt x="2797048" y="0"/>
                  </a:lnTo>
                  <a:cubicBezTo>
                    <a:pt x="2922270" y="0"/>
                    <a:pt x="3025648" y="97790"/>
                    <a:pt x="3025648" y="220472"/>
                  </a:cubicBezTo>
                  <a:lnTo>
                    <a:pt x="3000248" y="220472"/>
                  </a:lnTo>
                  <a:lnTo>
                    <a:pt x="3025648" y="220472"/>
                  </a:lnTo>
                  <a:lnTo>
                    <a:pt x="3025648" y="683768"/>
                  </a:lnTo>
                  <a:lnTo>
                    <a:pt x="3000248" y="683768"/>
                  </a:lnTo>
                  <a:lnTo>
                    <a:pt x="3025648" y="683768"/>
                  </a:lnTo>
                  <a:cubicBezTo>
                    <a:pt x="3025648" y="806450"/>
                    <a:pt x="2922270" y="904240"/>
                    <a:pt x="2797048" y="904240"/>
                  </a:cubicBezTo>
                  <a:lnTo>
                    <a:pt x="2797048" y="878840"/>
                  </a:lnTo>
                  <a:lnTo>
                    <a:pt x="2797048" y="904240"/>
                  </a:lnTo>
                  <a:lnTo>
                    <a:pt x="228600" y="904240"/>
                  </a:lnTo>
                  <a:lnTo>
                    <a:pt x="228600" y="878840"/>
                  </a:lnTo>
                  <a:lnTo>
                    <a:pt x="228600" y="904240"/>
                  </a:lnTo>
                  <a:cubicBezTo>
                    <a:pt x="103378" y="904240"/>
                    <a:pt x="0" y="806450"/>
                    <a:pt x="0" y="683768"/>
                  </a:cubicBezTo>
                  <a:lnTo>
                    <a:pt x="0" y="220472"/>
                  </a:lnTo>
                  <a:lnTo>
                    <a:pt x="25400" y="220472"/>
                  </a:lnTo>
                  <a:lnTo>
                    <a:pt x="0" y="220472"/>
                  </a:lnTo>
                  <a:moveTo>
                    <a:pt x="50800" y="220472"/>
                  </a:moveTo>
                  <a:lnTo>
                    <a:pt x="50800" y="683768"/>
                  </a:lnTo>
                  <a:lnTo>
                    <a:pt x="25400" y="683768"/>
                  </a:lnTo>
                  <a:lnTo>
                    <a:pt x="50800" y="683768"/>
                  </a:lnTo>
                  <a:cubicBezTo>
                    <a:pt x="50800" y="776478"/>
                    <a:pt x="129413" y="853440"/>
                    <a:pt x="228600" y="853440"/>
                  </a:cubicBezTo>
                  <a:lnTo>
                    <a:pt x="2797048" y="853440"/>
                  </a:lnTo>
                  <a:cubicBezTo>
                    <a:pt x="2896235" y="853440"/>
                    <a:pt x="2974848" y="776478"/>
                    <a:pt x="2974848" y="683768"/>
                  </a:cubicBezTo>
                  <a:lnTo>
                    <a:pt x="2974848" y="220472"/>
                  </a:lnTo>
                  <a:cubicBezTo>
                    <a:pt x="2974848" y="127762"/>
                    <a:pt x="2896235" y="50800"/>
                    <a:pt x="2797048" y="50800"/>
                  </a:cubicBezTo>
                  <a:lnTo>
                    <a:pt x="228600" y="50800"/>
                  </a:lnTo>
                  <a:lnTo>
                    <a:pt x="228600" y="25400"/>
                  </a:lnTo>
                  <a:lnTo>
                    <a:pt x="228600" y="50800"/>
                  </a:lnTo>
                  <a:cubicBezTo>
                    <a:pt x="129413" y="50800"/>
                    <a:pt x="50800" y="127762"/>
                    <a:pt x="50800" y="220472"/>
                  </a:cubicBezTo>
                  <a:close/>
                </a:path>
              </a:pathLst>
            </a:custGeom>
            <a:solidFill>
              <a:srgbClr val="0891A8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0771632" y="8869680"/>
            <a:ext cx="2231136" cy="640080"/>
            <a:chOff x="0" y="0"/>
            <a:chExt cx="2974848" cy="8534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974848" cy="853440"/>
            </a:xfrm>
            <a:custGeom>
              <a:avLst/>
              <a:gdLst/>
              <a:ahLst/>
              <a:cxnLst/>
              <a:rect r="r" b="b" t="t" l="l"/>
              <a:pathLst>
                <a:path h="85344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19" r="0" b="-17919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2974848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891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B+ Tree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3239750" y="8850630"/>
            <a:ext cx="2269236" cy="678180"/>
            <a:chOff x="0" y="0"/>
            <a:chExt cx="3025648" cy="90424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25400" y="25400"/>
              <a:ext cx="2974848" cy="853440"/>
            </a:xfrm>
            <a:custGeom>
              <a:avLst/>
              <a:gdLst/>
              <a:ahLst/>
              <a:cxnLst/>
              <a:rect r="r" b="b" t="t" l="l"/>
              <a:pathLst>
                <a:path h="853440" w="2974848">
                  <a:moveTo>
                    <a:pt x="0" y="195072"/>
                  </a:moveTo>
                  <a:cubicBezTo>
                    <a:pt x="0" y="87376"/>
                    <a:pt x="90932" y="0"/>
                    <a:pt x="203200" y="0"/>
                  </a:cubicBezTo>
                  <a:lnTo>
                    <a:pt x="2771648" y="0"/>
                  </a:lnTo>
                  <a:cubicBezTo>
                    <a:pt x="2883916" y="0"/>
                    <a:pt x="2974848" y="87376"/>
                    <a:pt x="2974848" y="195072"/>
                  </a:cubicBezTo>
                  <a:lnTo>
                    <a:pt x="2974848" y="658368"/>
                  </a:lnTo>
                  <a:cubicBezTo>
                    <a:pt x="2974848" y="766064"/>
                    <a:pt x="2883916" y="853440"/>
                    <a:pt x="2771648" y="853440"/>
                  </a:cubicBezTo>
                  <a:lnTo>
                    <a:pt x="203200" y="853440"/>
                  </a:lnTo>
                  <a:cubicBezTo>
                    <a:pt x="90932" y="853440"/>
                    <a:pt x="0" y="766064"/>
                    <a:pt x="0" y="658368"/>
                  </a:cubicBezTo>
                  <a:close/>
                </a:path>
              </a:pathLst>
            </a:custGeom>
            <a:solidFill>
              <a:srgbClr val="8BAFC7">
                <a:alpha val="3922"/>
              </a:srgbClr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025648" cy="904240"/>
            </a:xfrm>
            <a:custGeom>
              <a:avLst/>
              <a:gdLst/>
              <a:ahLst/>
              <a:cxnLst/>
              <a:rect r="r" b="b" t="t" l="l"/>
              <a:pathLst>
                <a:path h="904240" w="3025648">
                  <a:moveTo>
                    <a:pt x="0" y="220472"/>
                  </a:moveTo>
                  <a:cubicBezTo>
                    <a:pt x="0" y="97790"/>
                    <a:pt x="103378" y="0"/>
                    <a:pt x="228600" y="0"/>
                  </a:cubicBezTo>
                  <a:lnTo>
                    <a:pt x="2797048" y="0"/>
                  </a:lnTo>
                  <a:lnTo>
                    <a:pt x="2797048" y="25400"/>
                  </a:lnTo>
                  <a:lnTo>
                    <a:pt x="2797048" y="0"/>
                  </a:lnTo>
                  <a:cubicBezTo>
                    <a:pt x="2922270" y="0"/>
                    <a:pt x="3025648" y="97790"/>
                    <a:pt x="3025648" y="220472"/>
                  </a:cubicBezTo>
                  <a:lnTo>
                    <a:pt x="3000248" y="220472"/>
                  </a:lnTo>
                  <a:lnTo>
                    <a:pt x="3025648" y="220472"/>
                  </a:lnTo>
                  <a:lnTo>
                    <a:pt x="3025648" y="683768"/>
                  </a:lnTo>
                  <a:lnTo>
                    <a:pt x="3000248" y="683768"/>
                  </a:lnTo>
                  <a:lnTo>
                    <a:pt x="3025648" y="683768"/>
                  </a:lnTo>
                  <a:cubicBezTo>
                    <a:pt x="3025648" y="806450"/>
                    <a:pt x="2922270" y="904240"/>
                    <a:pt x="2797048" y="904240"/>
                  </a:cubicBezTo>
                  <a:lnTo>
                    <a:pt x="2797048" y="878840"/>
                  </a:lnTo>
                  <a:lnTo>
                    <a:pt x="2797048" y="904240"/>
                  </a:lnTo>
                  <a:lnTo>
                    <a:pt x="228600" y="904240"/>
                  </a:lnTo>
                  <a:lnTo>
                    <a:pt x="228600" y="878840"/>
                  </a:lnTo>
                  <a:lnTo>
                    <a:pt x="228600" y="904240"/>
                  </a:lnTo>
                  <a:cubicBezTo>
                    <a:pt x="103378" y="904240"/>
                    <a:pt x="0" y="806450"/>
                    <a:pt x="0" y="683768"/>
                  </a:cubicBezTo>
                  <a:lnTo>
                    <a:pt x="0" y="220472"/>
                  </a:lnTo>
                  <a:lnTo>
                    <a:pt x="25400" y="220472"/>
                  </a:lnTo>
                  <a:lnTo>
                    <a:pt x="0" y="220472"/>
                  </a:lnTo>
                  <a:moveTo>
                    <a:pt x="50800" y="220472"/>
                  </a:moveTo>
                  <a:lnTo>
                    <a:pt x="50800" y="683768"/>
                  </a:lnTo>
                  <a:lnTo>
                    <a:pt x="25400" y="683768"/>
                  </a:lnTo>
                  <a:lnTo>
                    <a:pt x="50800" y="683768"/>
                  </a:lnTo>
                  <a:cubicBezTo>
                    <a:pt x="50800" y="776478"/>
                    <a:pt x="129413" y="853440"/>
                    <a:pt x="228600" y="853440"/>
                  </a:cubicBezTo>
                  <a:lnTo>
                    <a:pt x="2797048" y="853440"/>
                  </a:lnTo>
                  <a:cubicBezTo>
                    <a:pt x="2896235" y="853440"/>
                    <a:pt x="2974848" y="776478"/>
                    <a:pt x="2974848" y="683768"/>
                  </a:cubicBezTo>
                  <a:lnTo>
                    <a:pt x="2974848" y="220472"/>
                  </a:lnTo>
                  <a:cubicBezTo>
                    <a:pt x="2974848" y="127762"/>
                    <a:pt x="2896235" y="50800"/>
                    <a:pt x="2797048" y="50800"/>
                  </a:cubicBezTo>
                  <a:lnTo>
                    <a:pt x="228600" y="50800"/>
                  </a:lnTo>
                  <a:lnTo>
                    <a:pt x="228600" y="25400"/>
                  </a:lnTo>
                  <a:lnTo>
                    <a:pt x="228600" y="50800"/>
                  </a:lnTo>
                  <a:cubicBezTo>
                    <a:pt x="129413" y="50800"/>
                    <a:pt x="50800" y="127762"/>
                    <a:pt x="50800" y="220472"/>
                  </a:cubicBez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3258800" y="8869680"/>
            <a:ext cx="2231136" cy="640080"/>
            <a:chOff x="0" y="0"/>
            <a:chExt cx="2974848" cy="8534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974848" cy="853440"/>
            </a:xfrm>
            <a:custGeom>
              <a:avLst/>
              <a:gdLst/>
              <a:ahLst/>
              <a:cxnLst/>
              <a:rect r="r" b="b" t="t" l="l"/>
              <a:pathLst>
                <a:path h="85344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19" r="0" b="-17919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2974848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8BAFC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Google Drive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5726918" y="8850630"/>
            <a:ext cx="2269236" cy="678180"/>
            <a:chOff x="0" y="0"/>
            <a:chExt cx="3025648" cy="9042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25400" y="25400"/>
              <a:ext cx="2974848" cy="853440"/>
            </a:xfrm>
            <a:custGeom>
              <a:avLst/>
              <a:gdLst/>
              <a:ahLst/>
              <a:cxnLst/>
              <a:rect r="r" b="b" t="t" l="l"/>
              <a:pathLst>
                <a:path h="853440" w="2974848">
                  <a:moveTo>
                    <a:pt x="0" y="195072"/>
                  </a:moveTo>
                  <a:cubicBezTo>
                    <a:pt x="0" y="87376"/>
                    <a:pt x="90932" y="0"/>
                    <a:pt x="203200" y="0"/>
                  </a:cubicBezTo>
                  <a:lnTo>
                    <a:pt x="2771648" y="0"/>
                  </a:lnTo>
                  <a:cubicBezTo>
                    <a:pt x="2883916" y="0"/>
                    <a:pt x="2974848" y="87376"/>
                    <a:pt x="2974848" y="195072"/>
                  </a:cubicBezTo>
                  <a:lnTo>
                    <a:pt x="2974848" y="658368"/>
                  </a:lnTo>
                  <a:cubicBezTo>
                    <a:pt x="2974848" y="766064"/>
                    <a:pt x="2883916" y="853440"/>
                    <a:pt x="2771648" y="853440"/>
                  </a:cubicBezTo>
                  <a:lnTo>
                    <a:pt x="203200" y="853440"/>
                  </a:lnTo>
                  <a:cubicBezTo>
                    <a:pt x="90932" y="853440"/>
                    <a:pt x="0" y="766064"/>
                    <a:pt x="0" y="658368"/>
                  </a:cubicBezTo>
                  <a:close/>
                </a:path>
              </a:pathLst>
            </a:custGeom>
            <a:solidFill>
              <a:srgbClr val="8B5CF6">
                <a:alpha val="3922"/>
              </a:srgbClr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025648" cy="904240"/>
            </a:xfrm>
            <a:custGeom>
              <a:avLst/>
              <a:gdLst/>
              <a:ahLst/>
              <a:cxnLst/>
              <a:rect r="r" b="b" t="t" l="l"/>
              <a:pathLst>
                <a:path h="904240" w="3025648">
                  <a:moveTo>
                    <a:pt x="0" y="220472"/>
                  </a:moveTo>
                  <a:cubicBezTo>
                    <a:pt x="0" y="97790"/>
                    <a:pt x="103378" y="0"/>
                    <a:pt x="228600" y="0"/>
                  </a:cubicBezTo>
                  <a:lnTo>
                    <a:pt x="2797048" y="0"/>
                  </a:lnTo>
                  <a:lnTo>
                    <a:pt x="2797048" y="25400"/>
                  </a:lnTo>
                  <a:lnTo>
                    <a:pt x="2797048" y="0"/>
                  </a:lnTo>
                  <a:cubicBezTo>
                    <a:pt x="2922270" y="0"/>
                    <a:pt x="3025648" y="97790"/>
                    <a:pt x="3025648" y="220472"/>
                  </a:cubicBezTo>
                  <a:lnTo>
                    <a:pt x="3000248" y="220472"/>
                  </a:lnTo>
                  <a:lnTo>
                    <a:pt x="3025648" y="220472"/>
                  </a:lnTo>
                  <a:lnTo>
                    <a:pt x="3025648" y="683768"/>
                  </a:lnTo>
                  <a:lnTo>
                    <a:pt x="3000248" y="683768"/>
                  </a:lnTo>
                  <a:lnTo>
                    <a:pt x="3025648" y="683768"/>
                  </a:lnTo>
                  <a:cubicBezTo>
                    <a:pt x="3025648" y="806450"/>
                    <a:pt x="2922270" y="904240"/>
                    <a:pt x="2797048" y="904240"/>
                  </a:cubicBezTo>
                  <a:lnTo>
                    <a:pt x="2797048" y="878840"/>
                  </a:lnTo>
                  <a:lnTo>
                    <a:pt x="2797048" y="904240"/>
                  </a:lnTo>
                  <a:lnTo>
                    <a:pt x="228600" y="904240"/>
                  </a:lnTo>
                  <a:lnTo>
                    <a:pt x="228600" y="878840"/>
                  </a:lnTo>
                  <a:lnTo>
                    <a:pt x="228600" y="904240"/>
                  </a:lnTo>
                  <a:cubicBezTo>
                    <a:pt x="103378" y="904240"/>
                    <a:pt x="0" y="806450"/>
                    <a:pt x="0" y="683768"/>
                  </a:cubicBezTo>
                  <a:lnTo>
                    <a:pt x="0" y="220472"/>
                  </a:lnTo>
                  <a:lnTo>
                    <a:pt x="25400" y="220472"/>
                  </a:lnTo>
                  <a:lnTo>
                    <a:pt x="0" y="220472"/>
                  </a:lnTo>
                  <a:moveTo>
                    <a:pt x="50800" y="220472"/>
                  </a:moveTo>
                  <a:lnTo>
                    <a:pt x="50800" y="683768"/>
                  </a:lnTo>
                  <a:lnTo>
                    <a:pt x="25400" y="683768"/>
                  </a:lnTo>
                  <a:lnTo>
                    <a:pt x="50800" y="683768"/>
                  </a:lnTo>
                  <a:cubicBezTo>
                    <a:pt x="50800" y="776478"/>
                    <a:pt x="129413" y="853440"/>
                    <a:pt x="228600" y="853440"/>
                  </a:cubicBezTo>
                  <a:lnTo>
                    <a:pt x="2797048" y="853440"/>
                  </a:lnTo>
                  <a:cubicBezTo>
                    <a:pt x="2896235" y="853440"/>
                    <a:pt x="2974848" y="776478"/>
                    <a:pt x="2974848" y="683768"/>
                  </a:cubicBezTo>
                  <a:lnTo>
                    <a:pt x="2974848" y="220472"/>
                  </a:lnTo>
                  <a:cubicBezTo>
                    <a:pt x="2974848" y="127762"/>
                    <a:pt x="2896235" y="50800"/>
                    <a:pt x="2797048" y="50800"/>
                  </a:cubicBezTo>
                  <a:lnTo>
                    <a:pt x="228600" y="50800"/>
                  </a:lnTo>
                  <a:lnTo>
                    <a:pt x="228600" y="25400"/>
                  </a:lnTo>
                  <a:lnTo>
                    <a:pt x="228600" y="50800"/>
                  </a:lnTo>
                  <a:cubicBezTo>
                    <a:pt x="129413" y="50800"/>
                    <a:pt x="50800" y="127762"/>
                    <a:pt x="50800" y="220472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5766161" y="8888730"/>
            <a:ext cx="2231136" cy="640080"/>
            <a:chOff x="0" y="0"/>
            <a:chExt cx="2974848" cy="85344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974848" cy="853440"/>
            </a:xfrm>
            <a:custGeom>
              <a:avLst/>
              <a:gdLst/>
              <a:ahLst/>
              <a:cxnLst/>
              <a:rect r="r" b="b" t="t" l="l"/>
              <a:pathLst>
                <a:path h="85344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19" r="0" b="-17919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2974848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8B5C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Graphviz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7200" y="0"/>
            <a:ext cx="17373600" cy="914400"/>
            <a:chOff x="0" y="0"/>
            <a:chExt cx="23164800" cy="12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164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231648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399"/>
                </a:lnSpc>
              </a:pPr>
              <a:r>
                <a:rPr lang="en-US" b="true" sz="4499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PROBLEM STATEMENT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0080" y="681228"/>
            <a:ext cx="17190720" cy="694944"/>
            <a:chOff x="0" y="0"/>
            <a:chExt cx="22920960" cy="9265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920961" cy="926592"/>
            </a:xfrm>
            <a:custGeom>
              <a:avLst/>
              <a:gdLst/>
              <a:ahLst/>
              <a:cxnLst/>
              <a:rect r="r" b="b" t="t" l="l"/>
              <a:pathLst>
                <a:path h="926592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1998" r="0" b="-43199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22920960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i="true">
                  <a:solidFill>
                    <a:srgbClr val="CAE8F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Critical Gaps in Current File Transfer Solutions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1966238"/>
            <a:ext cx="4786930" cy="1944776"/>
            <a:chOff x="0" y="0"/>
            <a:chExt cx="6382573" cy="2593035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6382573" cy="2593035"/>
              <a:chOff x="0" y="0"/>
              <a:chExt cx="10796689" cy="438634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33909" y="41277"/>
                <a:ext cx="10728833" cy="4303903"/>
              </a:xfrm>
              <a:custGeom>
                <a:avLst/>
                <a:gdLst/>
                <a:ahLst/>
                <a:cxnLst/>
                <a:rect r="r" b="b" t="t" l="l"/>
                <a:pathLst>
                  <a:path h="4303903" w="10728833">
                    <a:moveTo>
                      <a:pt x="0" y="356185"/>
                    </a:moveTo>
                    <a:cubicBezTo>
                      <a:pt x="0" y="159386"/>
                      <a:pt x="132588" y="0"/>
                      <a:pt x="296291" y="0"/>
                    </a:cubicBezTo>
                    <a:lnTo>
                      <a:pt x="10432542" y="0"/>
                    </a:lnTo>
                    <a:cubicBezTo>
                      <a:pt x="10596245" y="0"/>
                      <a:pt x="10728833" y="159541"/>
                      <a:pt x="10728833" y="356185"/>
                    </a:cubicBezTo>
                    <a:lnTo>
                      <a:pt x="10728833" y="3947718"/>
                    </a:lnTo>
                    <a:cubicBezTo>
                      <a:pt x="10728833" y="4144362"/>
                      <a:pt x="10596118" y="4303903"/>
                      <a:pt x="10432542" y="4303903"/>
                    </a:cubicBezTo>
                    <a:lnTo>
                      <a:pt x="296291" y="4303903"/>
                    </a:lnTo>
                    <a:cubicBezTo>
                      <a:pt x="132588" y="4303903"/>
                      <a:pt x="0" y="4144362"/>
                      <a:pt x="0" y="3947718"/>
                    </a:cubicBezTo>
                    <a:close/>
                  </a:path>
                </a:pathLst>
              </a:custGeom>
              <a:solidFill>
                <a:srgbClr val="06B6C8">
                  <a:alpha val="784"/>
                </a:srgbClr>
              </a:solidFill>
            </p:spPr>
          </p:sp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0796651" cy="4386437"/>
              </a:xfrm>
              <a:custGeom>
                <a:avLst/>
                <a:gdLst/>
                <a:ahLst/>
                <a:cxnLst/>
                <a:rect r="r" b="b" t="t" l="l"/>
                <a:pathLst>
                  <a:path h="4386437" w="10796651">
                    <a:moveTo>
                      <a:pt x="0" y="397462"/>
                    </a:moveTo>
                    <a:cubicBezTo>
                      <a:pt x="0" y="177474"/>
                      <a:pt x="148209" y="0"/>
                      <a:pt x="330200" y="0"/>
                    </a:cubicBezTo>
                    <a:lnTo>
                      <a:pt x="10466451" y="0"/>
                    </a:lnTo>
                    <a:lnTo>
                      <a:pt x="10466451" y="41277"/>
                    </a:lnTo>
                    <a:lnTo>
                      <a:pt x="10466451" y="0"/>
                    </a:lnTo>
                    <a:cubicBezTo>
                      <a:pt x="10648442" y="0"/>
                      <a:pt x="10796651" y="177474"/>
                      <a:pt x="10796651" y="397462"/>
                    </a:cubicBezTo>
                    <a:lnTo>
                      <a:pt x="10762742" y="397462"/>
                    </a:lnTo>
                    <a:lnTo>
                      <a:pt x="10796651" y="397462"/>
                    </a:lnTo>
                    <a:lnTo>
                      <a:pt x="10796651" y="3988995"/>
                    </a:lnTo>
                    <a:lnTo>
                      <a:pt x="10762742" y="3988995"/>
                    </a:lnTo>
                    <a:lnTo>
                      <a:pt x="10796651" y="3988995"/>
                    </a:lnTo>
                    <a:cubicBezTo>
                      <a:pt x="10796651" y="4208983"/>
                      <a:pt x="10648442" y="4386437"/>
                      <a:pt x="10466451" y="4386437"/>
                    </a:cubicBezTo>
                    <a:lnTo>
                      <a:pt x="10466451" y="4345180"/>
                    </a:lnTo>
                    <a:lnTo>
                      <a:pt x="10466451" y="4386437"/>
                    </a:lnTo>
                    <a:lnTo>
                      <a:pt x="330200" y="4386437"/>
                    </a:lnTo>
                    <a:lnTo>
                      <a:pt x="330200" y="4345180"/>
                    </a:lnTo>
                    <a:lnTo>
                      <a:pt x="330200" y="4386437"/>
                    </a:lnTo>
                    <a:cubicBezTo>
                      <a:pt x="148209" y="4386437"/>
                      <a:pt x="0" y="4208983"/>
                      <a:pt x="0" y="3988995"/>
                    </a:cubicBezTo>
                    <a:lnTo>
                      <a:pt x="0" y="397462"/>
                    </a:lnTo>
                    <a:lnTo>
                      <a:pt x="33909" y="397462"/>
                    </a:lnTo>
                    <a:lnTo>
                      <a:pt x="0" y="397462"/>
                    </a:lnTo>
                    <a:moveTo>
                      <a:pt x="67691" y="397462"/>
                    </a:moveTo>
                    <a:lnTo>
                      <a:pt x="67691" y="3988995"/>
                    </a:lnTo>
                    <a:lnTo>
                      <a:pt x="33909" y="3988995"/>
                    </a:lnTo>
                    <a:lnTo>
                      <a:pt x="67691" y="3988995"/>
                    </a:lnTo>
                    <a:cubicBezTo>
                      <a:pt x="67691" y="4162449"/>
                      <a:pt x="184785" y="4303903"/>
                      <a:pt x="330200" y="4303903"/>
                    </a:cubicBezTo>
                    <a:lnTo>
                      <a:pt x="10466451" y="4303903"/>
                    </a:lnTo>
                    <a:cubicBezTo>
                      <a:pt x="10611866" y="4303903"/>
                      <a:pt x="10728960" y="4162449"/>
                      <a:pt x="10728960" y="3988995"/>
                    </a:cubicBezTo>
                    <a:lnTo>
                      <a:pt x="10728960" y="397462"/>
                    </a:lnTo>
                    <a:cubicBezTo>
                      <a:pt x="10728960" y="224007"/>
                      <a:pt x="10611866" y="82553"/>
                      <a:pt x="10466451" y="82553"/>
                    </a:cubicBezTo>
                    <a:lnTo>
                      <a:pt x="330200" y="82553"/>
                    </a:lnTo>
                    <a:lnTo>
                      <a:pt x="330200" y="41277"/>
                    </a:lnTo>
                    <a:lnTo>
                      <a:pt x="330200" y="82399"/>
                    </a:lnTo>
                    <a:cubicBezTo>
                      <a:pt x="184785" y="82399"/>
                      <a:pt x="67691" y="223852"/>
                      <a:pt x="67691" y="397307"/>
                    </a:cubicBezTo>
                    <a:close/>
                  </a:path>
                </a:pathLst>
              </a:custGeom>
              <a:solidFill>
                <a:srgbClr val="06B6C8"/>
              </a:solidFill>
            </p:spPr>
          </p:sp>
        </p:grpSp>
        <p:sp>
          <p:nvSpPr>
            <p:cNvPr name="TextBox 12" id="12"/>
            <p:cNvSpPr txBox="true"/>
            <p:nvPr/>
          </p:nvSpPr>
          <p:spPr>
            <a:xfrm rot="0">
              <a:off x="106937" y="366242"/>
              <a:ext cx="6168698" cy="1812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23"/>
                </a:lnSpc>
                <a:spcBef>
                  <a:spcPct val="0"/>
                </a:spcBef>
              </a:pPr>
              <a:r>
                <a:rPr lang="en-US" b="true" sz="2353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Mandat</a:t>
              </a:r>
              <a:r>
                <a:rPr lang="en-US" b="true" sz="2353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ory login</a:t>
              </a:r>
            </a:p>
            <a:p>
              <a:pPr algn="ctr">
                <a:lnSpc>
                  <a:spcPts val="2583"/>
                </a:lnSpc>
                <a:spcBef>
                  <a:spcPct val="0"/>
                </a:spcBef>
              </a:pPr>
              <a:r>
                <a:rPr lang="en-US" sz="2153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Credentials exposed onpublic systemsDrive, Dropbox, WhatsApp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750535" y="1966238"/>
            <a:ext cx="4786930" cy="1944776"/>
            <a:chOff x="0" y="0"/>
            <a:chExt cx="10796689" cy="43863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33909" y="41277"/>
              <a:ext cx="10728833" cy="4303903"/>
            </a:xfrm>
            <a:custGeom>
              <a:avLst/>
              <a:gdLst/>
              <a:ahLst/>
              <a:cxnLst/>
              <a:rect r="r" b="b" t="t" l="l"/>
              <a:pathLst>
                <a:path h="4303903" w="10728833">
                  <a:moveTo>
                    <a:pt x="0" y="356185"/>
                  </a:moveTo>
                  <a:cubicBezTo>
                    <a:pt x="0" y="159386"/>
                    <a:pt x="132588" y="0"/>
                    <a:pt x="296291" y="0"/>
                  </a:cubicBezTo>
                  <a:lnTo>
                    <a:pt x="10432542" y="0"/>
                  </a:lnTo>
                  <a:cubicBezTo>
                    <a:pt x="10596245" y="0"/>
                    <a:pt x="10728833" y="159541"/>
                    <a:pt x="10728833" y="356185"/>
                  </a:cubicBezTo>
                  <a:lnTo>
                    <a:pt x="10728833" y="3947718"/>
                  </a:lnTo>
                  <a:cubicBezTo>
                    <a:pt x="10728833" y="4144362"/>
                    <a:pt x="10596118" y="4303903"/>
                    <a:pt x="10432542" y="4303903"/>
                  </a:cubicBezTo>
                  <a:lnTo>
                    <a:pt x="296291" y="4303903"/>
                  </a:lnTo>
                  <a:cubicBezTo>
                    <a:pt x="132588" y="4303903"/>
                    <a:pt x="0" y="4144362"/>
                    <a:pt x="0" y="3947718"/>
                  </a:cubicBezTo>
                  <a:close/>
                </a:path>
              </a:pathLst>
            </a:custGeom>
            <a:solidFill>
              <a:srgbClr val="06B6C8">
                <a:alpha val="784"/>
              </a:srgbClr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96651" cy="4386437"/>
            </a:xfrm>
            <a:custGeom>
              <a:avLst/>
              <a:gdLst/>
              <a:ahLst/>
              <a:cxnLst/>
              <a:rect r="r" b="b" t="t" l="l"/>
              <a:pathLst>
                <a:path h="4386437" w="10796651">
                  <a:moveTo>
                    <a:pt x="0" y="397462"/>
                  </a:moveTo>
                  <a:cubicBezTo>
                    <a:pt x="0" y="177474"/>
                    <a:pt x="148209" y="0"/>
                    <a:pt x="330200" y="0"/>
                  </a:cubicBezTo>
                  <a:lnTo>
                    <a:pt x="10466451" y="0"/>
                  </a:lnTo>
                  <a:lnTo>
                    <a:pt x="10466451" y="41277"/>
                  </a:lnTo>
                  <a:lnTo>
                    <a:pt x="10466451" y="0"/>
                  </a:lnTo>
                  <a:cubicBezTo>
                    <a:pt x="10648442" y="0"/>
                    <a:pt x="10796651" y="177474"/>
                    <a:pt x="10796651" y="397462"/>
                  </a:cubicBezTo>
                  <a:lnTo>
                    <a:pt x="10762742" y="397462"/>
                  </a:lnTo>
                  <a:lnTo>
                    <a:pt x="10796651" y="397462"/>
                  </a:lnTo>
                  <a:lnTo>
                    <a:pt x="10796651" y="3988995"/>
                  </a:lnTo>
                  <a:lnTo>
                    <a:pt x="10762742" y="3988995"/>
                  </a:lnTo>
                  <a:lnTo>
                    <a:pt x="10796651" y="3988995"/>
                  </a:lnTo>
                  <a:cubicBezTo>
                    <a:pt x="10796651" y="4208983"/>
                    <a:pt x="10648442" y="4386437"/>
                    <a:pt x="10466451" y="4386437"/>
                  </a:cubicBezTo>
                  <a:lnTo>
                    <a:pt x="10466451" y="4345180"/>
                  </a:lnTo>
                  <a:lnTo>
                    <a:pt x="10466451" y="4386437"/>
                  </a:lnTo>
                  <a:lnTo>
                    <a:pt x="330200" y="4386437"/>
                  </a:lnTo>
                  <a:lnTo>
                    <a:pt x="330200" y="4345180"/>
                  </a:lnTo>
                  <a:lnTo>
                    <a:pt x="330200" y="4386437"/>
                  </a:lnTo>
                  <a:cubicBezTo>
                    <a:pt x="148209" y="4386437"/>
                    <a:pt x="0" y="4208983"/>
                    <a:pt x="0" y="3988995"/>
                  </a:cubicBezTo>
                  <a:lnTo>
                    <a:pt x="0" y="397462"/>
                  </a:lnTo>
                  <a:lnTo>
                    <a:pt x="33909" y="397462"/>
                  </a:lnTo>
                  <a:lnTo>
                    <a:pt x="0" y="397462"/>
                  </a:lnTo>
                  <a:moveTo>
                    <a:pt x="67691" y="397462"/>
                  </a:moveTo>
                  <a:lnTo>
                    <a:pt x="67691" y="3988995"/>
                  </a:lnTo>
                  <a:lnTo>
                    <a:pt x="33909" y="3988995"/>
                  </a:lnTo>
                  <a:lnTo>
                    <a:pt x="67691" y="3988995"/>
                  </a:lnTo>
                  <a:cubicBezTo>
                    <a:pt x="67691" y="4162449"/>
                    <a:pt x="184785" y="4303903"/>
                    <a:pt x="330200" y="4303903"/>
                  </a:cubicBezTo>
                  <a:lnTo>
                    <a:pt x="10466451" y="4303903"/>
                  </a:lnTo>
                  <a:cubicBezTo>
                    <a:pt x="10611866" y="4303903"/>
                    <a:pt x="10728960" y="4162449"/>
                    <a:pt x="10728960" y="3988995"/>
                  </a:cubicBezTo>
                  <a:lnTo>
                    <a:pt x="10728960" y="397462"/>
                  </a:lnTo>
                  <a:cubicBezTo>
                    <a:pt x="10728960" y="224007"/>
                    <a:pt x="10611866" y="82553"/>
                    <a:pt x="10466451" y="82553"/>
                  </a:cubicBezTo>
                  <a:lnTo>
                    <a:pt x="330200" y="82553"/>
                  </a:lnTo>
                  <a:lnTo>
                    <a:pt x="330200" y="41277"/>
                  </a:lnTo>
                  <a:lnTo>
                    <a:pt x="330200" y="82399"/>
                  </a:lnTo>
                  <a:cubicBezTo>
                    <a:pt x="184785" y="82399"/>
                    <a:pt x="67691" y="223852"/>
                    <a:pt x="67691" y="397307"/>
                  </a:cubicBezTo>
                  <a:close/>
                </a:path>
              </a:pathLst>
            </a:custGeom>
            <a:solidFill>
              <a:srgbClr val="06B6C8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830738" y="2229013"/>
            <a:ext cx="4626523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3"/>
              </a:lnSpc>
              <a:spcBef>
                <a:spcPct val="0"/>
              </a:spcBef>
            </a:pPr>
            <a:r>
              <a:rPr lang="en-US" b="true" sz="2353">
                <a:solidFill>
                  <a:srgbClr val="FFFFFF"/>
                </a:solidFill>
                <a:latin typeface="Consolas Bold"/>
                <a:ea typeface="Consolas Bold"/>
                <a:cs typeface="Consolas Bold"/>
                <a:sym typeface="Consolas Bold"/>
              </a:rPr>
              <a:t>Persistent</a:t>
            </a:r>
            <a:r>
              <a:rPr lang="en-US" b="true" sz="2353">
                <a:solidFill>
                  <a:srgbClr val="FFFFFF"/>
                </a:solidFill>
                <a:latin typeface="Consolas Bold"/>
                <a:ea typeface="Consolas Bold"/>
                <a:cs typeface="Consolas Bold"/>
                <a:sym typeface="Consolas Bold"/>
              </a:rPr>
              <a:t> storage</a:t>
            </a:r>
          </a:p>
          <a:p>
            <a:pPr algn="ctr">
              <a:lnSpc>
                <a:spcPts val="2583"/>
              </a:lnSpc>
              <a:spcBef>
                <a:spcPct val="0"/>
              </a:spcBef>
            </a:pPr>
            <a:r>
              <a:rPr lang="en-US" sz="2153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Files remain afterdownloadWeTransfer, MediaFire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472370" y="1966238"/>
            <a:ext cx="4786930" cy="1944776"/>
            <a:chOff x="0" y="0"/>
            <a:chExt cx="10796689" cy="438634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33909" y="41277"/>
              <a:ext cx="10728833" cy="4303903"/>
            </a:xfrm>
            <a:custGeom>
              <a:avLst/>
              <a:gdLst/>
              <a:ahLst/>
              <a:cxnLst/>
              <a:rect r="r" b="b" t="t" l="l"/>
              <a:pathLst>
                <a:path h="4303903" w="10728833">
                  <a:moveTo>
                    <a:pt x="0" y="356185"/>
                  </a:moveTo>
                  <a:cubicBezTo>
                    <a:pt x="0" y="159386"/>
                    <a:pt x="132588" y="0"/>
                    <a:pt x="296291" y="0"/>
                  </a:cubicBezTo>
                  <a:lnTo>
                    <a:pt x="10432542" y="0"/>
                  </a:lnTo>
                  <a:cubicBezTo>
                    <a:pt x="10596245" y="0"/>
                    <a:pt x="10728833" y="159541"/>
                    <a:pt x="10728833" y="356185"/>
                  </a:cubicBezTo>
                  <a:lnTo>
                    <a:pt x="10728833" y="3947718"/>
                  </a:lnTo>
                  <a:cubicBezTo>
                    <a:pt x="10728833" y="4144362"/>
                    <a:pt x="10596118" y="4303903"/>
                    <a:pt x="10432542" y="4303903"/>
                  </a:cubicBezTo>
                  <a:lnTo>
                    <a:pt x="296291" y="4303903"/>
                  </a:lnTo>
                  <a:cubicBezTo>
                    <a:pt x="132588" y="4303903"/>
                    <a:pt x="0" y="4144362"/>
                    <a:pt x="0" y="3947718"/>
                  </a:cubicBezTo>
                  <a:close/>
                </a:path>
              </a:pathLst>
            </a:custGeom>
            <a:solidFill>
              <a:srgbClr val="06B6C8">
                <a:alpha val="784"/>
              </a:srgbClr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96651" cy="4386437"/>
            </a:xfrm>
            <a:custGeom>
              <a:avLst/>
              <a:gdLst/>
              <a:ahLst/>
              <a:cxnLst/>
              <a:rect r="r" b="b" t="t" l="l"/>
              <a:pathLst>
                <a:path h="4386437" w="10796651">
                  <a:moveTo>
                    <a:pt x="0" y="397462"/>
                  </a:moveTo>
                  <a:cubicBezTo>
                    <a:pt x="0" y="177474"/>
                    <a:pt x="148209" y="0"/>
                    <a:pt x="330200" y="0"/>
                  </a:cubicBezTo>
                  <a:lnTo>
                    <a:pt x="10466451" y="0"/>
                  </a:lnTo>
                  <a:lnTo>
                    <a:pt x="10466451" y="41277"/>
                  </a:lnTo>
                  <a:lnTo>
                    <a:pt x="10466451" y="0"/>
                  </a:lnTo>
                  <a:cubicBezTo>
                    <a:pt x="10648442" y="0"/>
                    <a:pt x="10796651" y="177474"/>
                    <a:pt x="10796651" y="397462"/>
                  </a:cubicBezTo>
                  <a:lnTo>
                    <a:pt x="10762742" y="397462"/>
                  </a:lnTo>
                  <a:lnTo>
                    <a:pt x="10796651" y="397462"/>
                  </a:lnTo>
                  <a:lnTo>
                    <a:pt x="10796651" y="3988995"/>
                  </a:lnTo>
                  <a:lnTo>
                    <a:pt x="10762742" y="3988995"/>
                  </a:lnTo>
                  <a:lnTo>
                    <a:pt x="10796651" y="3988995"/>
                  </a:lnTo>
                  <a:cubicBezTo>
                    <a:pt x="10796651" y="4208983"/>
                    <a:pt x="10648442" y="4386437"/>
                    <a:pt x="10466451" y="4386437"/>
                  </a:cubicBezTo>
                  <a:lnTo>
                    <a:pt x="10466451" y="4345180"/>
                  </a:lnTo>
                  <a:lnTo>
                    <a:pt x="10466451" y="4386437"/>
                  </a:lnTo>
                  <a:lnTo>
                    <a:pt x="330200" y="4386437"/>
                  </a:lnTo>
                  <a:lnTo>
                    <a:pt x="330200" y="4345180"/>
                  </a:lnTo>
                  <a:lnTo>
                    <a:pt x="330200" y="4386437"/>
                  </a:lnTo>
                  <a:cubicBezTo>
                    <a:pt x="148209" y="4386437"/>
                    <a:pt x="0" y="4208983"/>
                    <a:pt x="0" y="3988995"/>
                  </a:cubicBezTo>
                  <a:lnTo>
                    <a:pt x="0" y="397462"/>
                  </a:lnTo>
                  <a:lnTo>
                    <a:pt x="33909" y="397462"/>
                  </a:lnTo>
                  <a:lnTo>
                    <a:pt x="0" y="397462"/>
                  </a:lnTo>
                  <a:moveTo>
                    <a:pt x="67691" y="397462"/>
                  </a:moveTo>
                  <a:lnTo>
                    <a:pt x="67691" y="3988995"/>
                  </a:lnTo>
                  <a:lnTo>
                    <a:pt x="33909" y="3988995"/>
                  </a:lnTo>
                  <a:lnTo>
                    <a:pt x="67691" y="3988995"/>
                  </a:lnTo>
                  <a:cubicBezTo>
                    <a:pt x="67691" y="4162449"/>
                    <a:pt x="184785" y="4303903"/>
                    <a:pt x="330200" y="4303903"/>
                  </a:cubicBezTo>
                  <a:lnTo>
                    <a:pt x="10466451" y="4303903"/>
                  </a:lnTo>
                  <a:cubicBezTo>
                    <a:pt x="10611866" y="4303903"/>
                    <a:pt x="10728960" y="4162449"/>
                    <a:pt x="10728960" y="3988995"/>
                  </a:cubicBezTo>
                  <a:lnTo>
                    <a:pt x="10728960" y="397462"/>
                  </a:lnTo>
                  <a:cubicBezTo>
                    <a:pt x="10728960" y="224007"/>
                    <a:pt x="10611866" y="82553"/>
                    <a:pt x="10466451" y="82553"/>
                  </a:cubicBezTo>
                  <a:lnTo>
                    <a:pt x="330200" y="82553"/>
                  </a:lnTo>
                  <a:lnTo>
                    <a:pt x="330200" y="41277"/>
                  </a:lnTo>
                  <a:lnTo>
                    <a:pt x="330200" y="82399"/>
                  </a:lnTo>
                  <a:cubicBezTo>
                    <a:pt x="184785" y="82399"/>
                    <a:pt x="67691" y="223852"/>
                    <a:pt x="67691" y="397307"/>
                  </a:cubicBezTo>
                  <a:close/>
                </a:path>
              </a:pathLst>
            </a:custGeom>
            <a:solidFill>
              <a:srgbClr val="06B6C8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472370" y="2364845"/>
            <a:ext cx="4786930" cy="1160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9"/>
              </a:lnSpc>
              <a:spcBef>
                <a:spcPct val="0"/>
              </a:spcBef>
            </a:pPr>
            <a:r>
              <a:rPr lang="en-US" b="true" sz="2641">
                <a:solidFill>
                  <a:srgbClr val="FFFFFF"/>
                </a:solidFill>
                <a:latin typeface="Consolas Bold"/>
                <a:ea typeface="Consolas Bold"/>
                <a:cs typeface="Consolas Bold"/>
                <a:sym typeface="Consolas Bold"/>
              </a:rPr>
              <a:t>Weak access</a:t>
            </a:r>
            <a:r>
              <a:rPr lang="en-US" b="true" sz="2641">
                <a:solidFill>
                  <a:srgbClr val="FFFFFF"/>
                </a:solidFill>
                <a:latin typeface="Consolas Bold"/>
                <a:ea typeface="Consolas Bold"/>
                <a:cs typeface="Consolas Bold"/>
                <a:sym typeface="Consolas Bold"/>
              </a:rPr>
              <a:t> control</a:t>
            </a:r>
          </a:p>
          <a:p>
            <a:pPr algn="ctr">
              <a:lnSpc>
                <a:spcPts val="2797"/>
              </a:lnSpc>
              <a:spcBef>
                <a:spcPct val="0"/>
              </a:spcBef>
            </a:pPr>
            <a:r>
              <a:rPr lang="en-US" sz="233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Single URL, no layered authentication Transfer.sh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5815630" y="4611632"/>
            <a:ext cx="7197660" cy="1801125"/>
            <a:chOff x="0" y="0"/>
            <a:chExt cx="16233975" cy="406235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50986" y="38228"/>
              <a:ext cx="16131947" cy="3985996"/>
            </a:xfrm>
            <a:custGeom>
              <a:avLst/>
              <a:gdLst/>
              <a:ahLst/>
              <a:cxnLst/>
              <a:rect r="r" b="b" t="t" l="l"/>
              <a:pathLst>
                <a:path h="3985996" w="16131947">
                  <a:moveTo>
                    <a:pt x="0" y="329875"/>
                  </a:moveTo>
                  <a:cubicBezTo>
                    <a:pt x="0" y="147613"/>
                    <a:pt x="199360" y="0"/>
                    <a:pt x="445505" y="0"/>
                  </a:cubicBezTo>
                  <a:lnTo>
                    <a:pt x="15686441" y="0"/>
                  </a:lnTo>
                  <a:cubicBezTo>
                    <a:pt x="15932586" y="0"/>
                    <a:pt x="16131947" y="147756"/>
                    <a:pt x="16131947" y="329875"/>
                  </a:cubicBezTo>
                  <a:lnTo>
                    <a:pt x="16131947" y="3656120"/>
                  </a:lnTo>
                  <a:cubicBezTo>
                    <a:pt x="16131947" y="3838239"/>
                    <a:pt x="15932395" y="3985996"/>
                    <a:pt x="15686441" y="3985996"/>
                  </a:cubicBezTo>
                  <a:lnTo>
                    <a:pt x="445505" y="3985996"/>
                  </a:lnTo>
                  <a:cubicBezTo>
                    <a:pt x="199360" y="3985996"/>
                    <a:pt x="0" y="3838239"/>
                    <a:pt x="0" y="3656120"/>
                  </a:cubicBezTo>
                  <a:close/>
                </a:path>
              </a:pathLst>
            </a:custGeom>
            <a:solidFill>
              <a:srgbClr val="A6A6A6">
                <a:alpha val="0"/>
              </a:srgbClr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233918" cy="4062440"/>
            </a:xfrm>
            <a:custGeom>
              <a:avLst/>
              <a:gdLst/>
              <a:ahLst/>
              <a:cxnLst/>
              <a:rect r="r" b="b" t="t" l="l"/>
              <a:pathLst>
                <a:path h="4062440" w="16233918">
                  <a:moveTo>
                    <a:pt x="0" y="368103"/>
                  </a:moveTo>
                  <a:cubicBezTo>
                    <a:pt x="0" y="164365"/>
                    <a:pt x="222848" y="0"/>
                    <a:pt x="496491" y="0"/>
                  </a:cubicBezTo>
                  <a:lnTo>
                    <a:pt x="15737427" y="0"/>
                  </a:lnTo>
                  <a:lnTo>
                    <a:pt x="15737427" y="38228"/>
                  </a:lnTo>
                  <a:lnTo>
                    <a:pt x="15737427" y="0"/>
                  </a:lnTo>
                  <a:cubicBezTo>
                    <a:pt x="16011071" y="0"/>
                    <a:pt x="16233918" y="164365"/>
                    <a:pt x="16233918" y="368103"/>
                  </a:cubicBezTo>
                  <a:lnTo>
                    <a:pt x="16182933" y="368103"/>
                  </a:lnTo>
                  <a:lnTo>
                    <a:pt x="16233918" y="368103"/>
                  </a:lnTo>
                  <a:lnTo>
                    <a:pt x="16233918" y="3694348"/>
                  </a:lnTo>
                  <a:lnTo>
                    <a:pt x="16182933" y="3694348"/>
                  </a:lnTo>
                  <a:lnTo>
                    <a:pt x="16233918" y="3694348"/>
                  </a:lnTo>
                  <a:cubicBezTo>
                    <a:pt x="16233918" y="3898086"/>
                    <a:pt x="16011071" y="4062440"/>
                    <a:pt x="15737427" y="4062440"/>
                  </a:cubicBezTo>
                  <a:lnTo>
                    <a:pt x="15737427" y="4024224"/>
                  </a:lnTo>
                  <a:lnTo>
                    <a:pt x="15737427" y="4062440"/>
                  </a:lnTo>
                  <a:lnTo>
                    <a:pt x="496491" y="4062440"/>
                  </a:lnTo>
                  <a:lnTo>
                    <a:pt x="496491" y="4024224"/>
                  </a:lnTo>
                  <a:lnTo>
                    <a:pt x="496491" y="4062440"/>
                  </a:lnTo>
                  <a:cubicBezTo>
                    <a:pt x="222848" y="4062440"/>
                    <a:pt x="0" y="3898086"/>
                    <a:pt x="0" y="3694348"/>
                  </a:cubicBezTo>
                  <a:lnTo>
                    <a:pt x="0" y="368103"/>
                  </a:lnTo>
                  <a:lnTo>
                    <a:pt x="50986" y="368103"/>
                  </a:lnTo>
                  <a:lnTo>
                    <a:pt x="0" y="368103"/>
                  </a:lnTo>
                  <a:moveTo>
                    <a:pt x="101781" y="368103"/>
                  </a:moveTo>
                  <a:lnTo>
                    <a:pt x="101781" y="3694348"/>
                  </a:lnTo>
                  <a:lnTo>
                    <a:pt x="50986" y="3694348"/>
                  </a:lnTo>
                  <a:lnTo>
                    <a:pt x="101781" y="3694348"/>
                  </a:lnTo>
                  <a:cubicBezTo>
                    <a:pt x="101781" y="3854991"/>
                    <a:pt x="277844" y="3985996"/>
                    <a:pt x="496491" y="3985996"/>
                  </a:cubicBezTo>
                  <a:lnTo>
                    <a:pt x="15737427" y="3985996"/>
                  </a:lnTo>
                  <a:cubicBezTo>
                    <a:pt x="15956074" y="3985996"/>
                    <a:pt x="16132136" y="3854991"/>
                    <a:pt x="16132136" y="3694348"/>
                  </a:cubicBezTo>
                  <a:lnTo>
                    <a:pt x="16132136" y="368103"/>
                  </a:lnTo>
                  <a:cubicBezTo>
                    <a:pt x="16132136" y="207461"/>
                    <a:pt x="15956074" y="76455"/>
                    <a:pt x="15737427" y="76455"/>
                  </a:cubicBezTo>
                  <a:lnTo>
                    <a:pt x="496491" y="76455"/>
                  </a:lnTo>
                  <a:lnTo>
                    <a:pt x="496491" y="38228"/>
                  </a:lnTo>
                  <a:lnTo>
                    <a:pt x="496491" y="76312"/>
                  </a:lnTo>
                  <a:cubicBezTo>
                    <a:pt x="277844" y="76312"/>
                    <a:pt x="101781" y="207318"/>
                    <a:pt x="101781" y="367960"/>
                  </a:cubicBezTo>
                  <a:close/>
                </a:path>
              </a:pathLst>
            </a:custGeom>
            <a:solidFill>
              <a:srgbClr val="06B6C8">
                <a:alpha val="37647"/>
              </a:srgbClr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7657230" y="4752975"/>
            <a:ext cx="2973541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b="true" sz="2300" u="sng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The</a:t>
            </a:r>
            <a:r>
              <a:rPr lang="en-US" b="true" sz="2300" u="sng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Core Challenge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950701" y="5202972"/>
            <a:ext cx="6927517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No </a:t>
            </a:r>
            <a:r>
              <a:rPr lang="en-US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solution provides temporary, privacy-preservingfile transfer that is both: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950701" y="5824418"/>
            <a:ext cx="706258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b="true" sz="22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Anonymous</a:t>
            </a:r>
            <a:r>
              <a:rPr lang="en-US" b="true" sz="22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• Encrypted • Time-bound • Self-destructing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28700" y="7317632"/>
            <a:ext cx="4786930" cy="1620926"/>
            <a:chOff x="0" y="0"/>
            <a:chExt cx="6382573" cy="2161235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6382573" cy="2161235"/>
              <a:chOff x="0" y="0"/>
              <a:chExt cx="10796689" cy="365592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33909" y="34403"/>
                <a:ext cx="10728833" cy="3587204"/>
              </a:xfrm>
              <a:custGeom>
                <a:avLst/>
                <a:gdLst/>
                <a:ahLst/>
                <a:cxnLst/>
                <a:rect r="r" b="b" t="t" l="l"/>
                <a:pathLst>
                  <a:path h="3587204" w="10728833">
                    <a:moveTo>
                      <a:pt x="0" y="296872"/>
                    </a:moveTo>
                    <a:cubicBezTo>
                      <a:pt x="0" y="132845"/>
                      <a:pt x="132588" y="0"/>
                      <a:pt x="296291" y="0"/>
                    </a:cubicBezTo>
                    <a:lnTo>
                      <a:pt x="10432542" y="0"/>
                    </a:lnTo>
                    <a:cubicBezTo>
                      <a:pt x="10596245" y="0"/>
                      <a:pt x="10728833" y="132974"/>
                      <a:pt x="10728833" y="296872"/>
                    </a:cubicBezTo>
                    <a:lnTo>
                      <a:pt x="10728833" y="3290332"/>
                    </a:lnTo>
                    <a:cubicBezTo>
                      <a:pt x="10728833" y="3454231"/>
                      <a:pt x="10596118" y="3587204"/>
                      <a:pt x="10432542" y="3587204"/>
                    </a:cubicBezTo>
                    <a:lnTo>
                      <a:pt x="296291" y="3587204"/>
                    </a:lnTo>
                    <a:cubicBezTo>
                      <a:pt x="132588" y="3587204"/>
                      <a:pt x="0" y="3454231"/>
                      <a:pt x="0" y="3290332"/>
                    </a:cubicBezTo>
                    <a:close/>
                  </a:path>
                </a:pathLst>
              </a:custGeom>
              <a:solidFill>
                <a:srgbClr val="FCD34D">
                  <a:alpha val="784"/>
                </a:srgbClr>
              </a:solidFill>
            </p:spPr>
          </p:sp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0796651" cy="3656009"/>
              </a:xfrm>
              <a:custGeom>
                <a:avLst/>
                <a:gdLst/>
                <a:ahLst/>
                <a:cxnLst/>
                <a:rect r="r" b="b" t="t" l="l"/>
                <a:pathLst>
                  <a:path h="3656009" w="10796651">
                    <a:moveTo>
                      <a:pt x="0" y="331275"/>
                    </a:moveTo>
                    <a:cubicBezTo>
                      <a:pt x="0" y="147921"/>
                      <a:pt x="148209" y="0"/>
                      <a:pt x="330200" y="0"/>
                    </a:cubicBezTo>
                    <a:lnTo>
                      <a:pt x="10466451" y="0"/>
                    </a:lnTo>
                    <a:lnTo>
                      <a:pt x="10466451" y="34403"/>
                    </a:lnTo>
                    <a:lnTo>
                      <a:pt x="10466451" y="0"/>
                    </a:lnTo>
                    <a:cubicBezTo>
                      <a:pt x="10648442" y="0"/>
                      <a:pt x="10796651" y="147921"/>
                      <a:pt x="10796651" y="331275"/>
                    </a:cubicBezTo>
                    <a:lnTo>
                      <a:pt x="10762742" y="331275"/>
                    </a:lnTo>
                    <a:lnTo>
                      <a:pt x="10796651" y="331275"/>
                    </a:lnTo>
                    <a:lnTo>
                      <a:pt x="10796651" y="3324735"/>
                    </a:lnTo>
                    <a:lnTo>
                      <a:pt x="10762742" y="3324735"/>
                    </a:lnTo>
                    <a:lnTo>
                      <a:pt x="10796651" y="3324735"/>
                    </a:lnTo>
                    <a:cubicBezTo>
                      <a:pt x="10796651" y="3508090"/>
                      <a:pt x="10648442" y="3656009"/>
                      <a:pt x="10466451" y="3656009"/>
                    </a:cubicBezTo>
                    <a:lnTo>
                      <a:pt x="10466451" y="3621607"/>
                    </a:lnTo>
                    <a:lnTo>
                      <a:pt x="10466451" y="3656009"/>
                    </a:lnTo>
                    <a:lnTo>
                      <a:pt x="330200" y="3656009"/>
                    </a:lnTo>
                    <a:lnTo>
                      <a:pt x="330200" y="3621607"/>
                    </a:lnTo>
                    <a:lnTo>
                      <a:pt x="330200" y="3656009"/>
                    </a:lnTo>
                    <a:cubicBezTo>
                      <a:pt x="148209" y="3656009"/>
                      <a:pt x="0" y="3508090"/>
                      <a:pt x="0" y="3324735"/>
                    </a:cubicBezTo>
                    <a:lnTo>
                      <a:pt x="0" y="331275"/>
                    </a:lnTo>
                    <a:lnTo>
                      <a:pt x="33909" y="331275"/>
                    </a:lnTo>
                    <a:lnTo>
                      <a:pt x="0" y="331275"/>
                    </a:lnTo>
                    <a:moveTo>
                      <a:pt x="67691" y="331275"/>
                    </a:moveTo>
                    <a:lnTo>
                      <a:pt x="67691" y="3324735"/>
                    </a:lnTo>
                    <a:lnTo>
                      <a:pt x="33909" y="3324735"/>
                    </a:lnTo>
                    <a:lnTo>
                      <a:pt x="67691" y="3324735"/>
                    </a:lnTo>
                    <a:cubicBezTo>
                      <a:pt x="67691" y="3469306"/>
                      <a:pt x="184785" y="3587204"/>
                      <a:pt x="330200" y="3587204"/>
                    </a:cubicBezTo>
                    <a:lnTo>
                      <a:pt x="10466451" y="3587204"/>
                    </a:lnTo>
                    <a:cubicBezTo>
                      <a:pt x="10611866" y="3587204"/>
                      <a:pt x="10728960" y="3469306"/>
                      <a:pt x="10728960" y="3324735"/>
                    </a:cubicBezTo>
                    <a:lnTo>
                      <a:pt x="10728960" y="331275"/>
                    </a:lnTo>
                    <a:cubicBezTo>
                      <a:pt x="10728960" y="186705"/>
                      <a:pt x="10611866" y="68806"/>
                      <a:pt x="10466451" y="68806"/>
                    </a:cubicBezTo>
                    <a:lnTo>
                      <a:pt x="330200" y="68806"/>
                    </a:lnTo>
                    <a:lnTo>
                      <a:pt x="330200" y="34403"/>
                    </a:lnTo>
                    <a:lnTo>
                      <a:pt x="330200" y="68677"/>
                    </a:lnTo>
                    <a:cubicBezTo>
                      <a:pt x="184785" y="68677"/>
                      <a:pt x="67691" y="186576"/>
                      <a:pt x="67691" y="331146"/>
                    </a:cubicBezTo>
                    <a:close/>
                  </a:path>
                </a:pathLst>
              </a:custGeom>
              <a:solidFill>
                <a:srgbClr val="FCD34D"/>
              </a:solidFill>
            </p:spPr>
          </p:sp>
        </p:grpSp>
        <p:sp>
          <p:nvSpPr>
            <p:cNvPr name="TextBox 31" id="31"/>
            <p:cNvSpPr txBox="true"/>
            <p:nvPr/>
          </p:nvSpPr>
          <p:spPr>
            <a:xfrm rot="0">
              <a:off x="106937" y="366242"/>
              <a:ext cx="6168698" cy="1381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23"/>
                </a:lnSpc>
              </a:pPr>
              <a:r>
                <a:rPr lang="en-US" sz="2353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Digit</a:t>
              </a:r>
              <a:r>
                <a:rPr lang="en-US" b="true" sz="2353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al traces</a:t>
              </a:r>
            </a:p>
            <a:p>
              <a:pPr algn="ctr">
                <a:lnSpc>
                  <a:spcPts val="2583"/>
                </a:lnSpc>
                <a:spcBef>
                  <a:spcPct val="0"/>
                </a:spcBef>
              </a:pPr>
              <a:r>
                <a:rPr lang="en-US" sz="2153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Browser hist</a:t>
              </a:r>
              <a:r>
                <a:rPr lang="en-US" sz="2153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ory, cache,session data persistChrome, Firefox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750535" y="7317632"/>
            <a:ext cx="4786930" cy="1597644"/>
            <a:chOff x="0" y="0"/>
            <a:chExt cx="10796689" cy="360340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33909" y="33909"/>
              <a:ext cx="10728833" cy="3535680"/>
            </a:xfrm>
            <a:custGeom>
              <a:avLst/>
              <a:gdLst/>
              <a:ahLst/>
              <a:cxnLst/>
              <a:rect r="r" b="b" t="t" l="l"/>
              <a:pathLst>
                <a:path h="3535680" w="10728833">
                  <a:moveTo>
                    <a:pt x="0" y="292608"/>
                  </a:moveTo>
                  <a:cubicBezTo>
                    <a:pt x="0" y="130937"/>
                    <a:pt x="132588" y="0"/>
                    <a:pt x="296291" y="0"/>
                  </a:cubicBezTo>
                  <a:lnTo>
                    <a:pt x="10432542" y="0"/>
                  </a:lnTo>
                  <a:cubicBezTo>
                    <a:pt x="10596245" y="0"/>
                    <a:pt x="10728833" y="131064"/>
                    <a:pt x="10728833" y="292608"/>
                  </a:cubicBezTo>
                  <a:lnTo>
                    <a:pt x="10728833" y="3243072"/>
                  </a:lnTo>
                  <a:cubicBezTo>
                    <a:pt x="10728833" y="3404616"/>
                    <a:pt x="10596118" y="3535680"/>
                    <a:pt x="10432542" y="3535680"/>
                  </a:cubicBezTo>
                  <a:lnTo>
                    <a:pt x="296291" y="3535680"/>
                  </a:lnTo>
                  <a:cubicBezTo>
                    <a:pt x="132588" y="3535680"/>
                    <a:pt x="0" y="3404616"/>
                    <a:pt x="0" y="3243072"/>
                  </a:cubicBezTo>
                  <a:close/>
                </a:path>
              </a:pathLst>
            </a:custGeom>
            <a:solidFill>
              <a:srgbClr val="FCD34D">
                <a:alpha val="784"/>
              </a:srgbClr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796651" cy="3603498"/>
            </a:xfrm>
            <a:custGeom>
              <a:avLst/>
              <a:gdLst/>
              <a:ahLst/>
              <a:cxnLst/>
              <a:rect r="r" b="b" t="t" l="l"/>
              <a:pathLst>
                <a:path h="3603498" w="10796651">
                  <a:moveTo>
                    <a:pt x="0" y="326517"/>
                  </a:moveTo>
                  <a:cubicBezTo>
                    <a:pt x="0" y="145796"/>
                    <a:pt x="148209" y="0"/>
                    <a:pt x="330200" y="0"/>
                  </a:cubicBezTo>
                  <a:lnTo>
                    <a:pt x="10466451" y="0"/>
                  </a:lnTo>
                  <a:lnTo>
                    <a:pt x="10466451" y="33909"/>
                  </a:lnTo>
                  <a:lnTo>
                    <a:pt x="10466451" y="0"/>
                  </a:lnTo>
                  <a:cubicBezTo>
                    <a:pt x="10648442" y="0"/>
                    <a:pt x="10796651" y="145796"/>
                    <a:pt x="10796651" y="326517"/>
                  </a:cubicBezTo>
                  <a:lnTo>
                    <a:pt x="10762742" y="326517"/>
                  </a:lnTo>
                  <a:lnTo>
                    <a:pt x="10796651" y="326517"/>
                  </a:lnTo>
                  <a:lnTo>
                    <a:pt x="10796651" y="3276981"/>
                  </a:lnTo>
                  <a:lnTo>
                    <a:pt x="10762742" y="3276981"/>
                  </a:lnTo>
                  <a:lnTo>
                    <a:pt x="10796651" y="3276981"/>
                  </a:lnTo>
                  <a:cubicBezTo>
                    <a:pt x="10796651" y="3457702"/>
                    <a:pt x="10648442" y="3603498"/>
                    <a:pt x="10466451" y="3603498"/>
                  </a:cubicBezTo>
                  <a:lnTo>
                    <a:pt x="10466451" y="3569589"/>
                  </a:lnTo>
                  <a:lnTo>
                    <a:pt x="10466451" y="3603498"/>
                  </a:lnTo>
                  <a:lnTo>
                    <a:pt x="330200" y="3603498"/>
                  </a:lnTo>
                  <a:lnTo>
                    <a:pt x="330200" y="3569589"/>
                  </a:lnTo>
                  <a:lnTo>
                    <a:pt x="330200" y="3603498"/>
                  </a:lnTo>
                  <a:cubicBezTo>
                    <a:pt x="148209" y="3603498"/>
                    <a:pt x="0" y="3457702"/>
                    <a:pt x="0" y="3276981"/>
                  </a:cubicBezTo>
                  <a:lnTo>
                    <a:pt x="0" y="326517"/>
                  </a:lnTo>
                  <a:lnTo>
                    <a:pt x="33909" y="326517"/>
                  </a:lnTo>
                  <a:lnTo>
                    <a:pt x="0" y="326517"/>
                  </a:lnTo>
                  <a:moveTo>
                    <a:pt x="67691" y="326517"/>
                  </a:moveTo>
                  <a:lnTo>
                    <a:pt x="67691" y="3276981"/>
                  </a:lnTo>
                  <a:lnTo>
                    <a:pt x="33909" y="3276981"/>
                  </a:lnTo>
                  <a:lnTo>
                    <a:pt x="67691" y="3276981"/>
                  </a:lnTo>
                  <a:cubicBezTo>
                    <a:pt x="67691" y="3419475"/>
                    <a:pt x="184785" y="3535680"/>
                    <a:pt x="330200" y="3535680"/>
                  </a:cubicBezTo>
                  <a:lnTo>
                    <a:pt x="10466451" y="3535680"/>
                  </a:lnTo>
                  <a:cubicBezTo>
                    <a:pt x="10611866" y="3535680"/>
                    <a:pt x="10728960" y="3419475"/>
                    <a:pt x="10728960" y="3276981"/>
                  </a:cubicBezTo>
                  <a:lnTo>
                    <a:pt x="10728960" y="326517"/>
                  </a:lnTo>
                  <a:cubicBezTo>
                    <a:pt x="10728960" y="184023"/>
                    <a:pt x="10611866" y="67818"/>
                    <a:pt x="10466451" y="67818"/>
                  </a:cubicBezTo>
                  <a:lnTo>
                    <a:pt x="330200" y="67818"/>
                  </a:lnTo>
                  <a:lnTo>
                    <a:pt x="330200" y="33909"/>
                  </a:lnTo>
                  <a:lnTo>
                    <a:pt x="330200" y="67691"/>
                  </a:lnTo>
                  <a:cubicBezTo>
                    <a:pt x="184785" y="67691"/>
                    <a:pt x="67691" y="183896"/>
                    <a:pt x="67691" y="326390"/>
                  </a:cubicBezTo>
                  <a:close/>
                </a:path>
              </a:pathLst>
            </a:custGeom>
            <a:solidFill>
              <a:srgbClr val="06B6C8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6830738" y="7580407"/>
            <a:ext cx="4626523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3"/>
              </a:lnSpc>
            </a:pPr>
            <a:r>
              <a:rPr lang="en-US" sz="2353" b="true">
                <a:solidFill>
                  <a:srgbClr val="FFFFFF"/>
                </a:solidFill>
                <a:latin typeface="Consolas Bold"/>
                <a:ea typeface="Consolas Bold"/>
                <a:cs typeface="Consolas Bold"/>
                <a:sym typeface="Consolas Bold"/>
              </a:rPr>
              <a:t>Malwar</a:t>
            </a:r>
            <a:r>
              <a:rPr lang="en-US" b="true" sz="2353">
                <a:solidFill>
                  <a:srgbClr val="FFFFFF"/>
                </a:solidFill>
                <a:latin typeface="Consolas Bold"/>
                <a:ea typeface="Consolas Bold"/>
                <a:cs typeface="Consolas Bold"/>
                <a:sym typeface="Consolas Bold"/>
              </a:rPr>
              <a:t>e propagation</a:t>
            </a:r>
          </a:p>
          <a:p>
            <a:pPr algn="ctr">
              <a:lnSpc>
                <a:spcPts val="2583"/>
              </a:lnSpc>
              <a:spcBef>
                <a:spcPct val="0"/>
              </a:spcBef>
            </a:pPr>
            <a:r>
              <a:rPr lang="en-US" sz="2153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Infected</a:t>
            </a:r>
            <a:r>
              <a:rPr lang="en-US" sz="2153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USB devicesspread across systemsAutorun, worms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2472370" y="7294474"/>
            <a:ext cx="4786930" cy="1644084"/>
            <a:chOff x="0" y="0"/>
            <a:chExt cx="10796689" cy="370815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33909" y="34895"/>
              <a:ext cx="10728833" cy="3638454"/>
            </a:xfrm>
            <a:custGeom>
              <a:avLst/>
              <a:gdLst/>
              <a:ahLst/>
              <a:cxnLst/>
              <a:rect r="r" b="b" t="t" l="l"/>
              <a:pathLst>
                <a:path h="3638454" w="10728833">
                  <a:moveTo>
                    <a:pt x="0" y="301113"/>
                  </a:moveTo>
                  <a:cubicBezTo>
                    <a:pt x="0" y="134743"/>
                    <a:pt x="132588" y="0"/>
                    <a:pt x="296291" y="0"/>
                  </a:cubicBezTo>
                  <a:lnTo>
                    <a:pt x="10432542" y="0"/>
                  </a:lnTo>
                  <a:cubicBezTo>
                    <a:pt x="10596245" y="0"/>
                    <a:pt x="10728833" y="134873"/>
                    <a:pt x="10728833" y="301113"/>
                  </a:cubicBezTo>
                  <a:lnTo>
                    <a:pt x="10728833" y="3337340"/>
                  </a:lnTo>
                  <a:cubicBezTo>
                    <a:pt x="10728833" y="3503580"/>
                    <a:pt x="10596118" y="3638454"/>
                    <a:pt x="10432542" y="3638454"/>
                  </a:cubicBezTo>
                  <a:lnTo>
                    <a:pt x="296291" y="3638454"/>
                  </a:lnTo>
                  <a:cubicBezTo>
                    <a:pt x="132588" y="3638454"/>
                    <a:pt x="0" y="3503580"/>
                    <a:pt x="0" y="3337340"/>
                  </a:cubicBezTo>
                  <a:close/>
                </a:path>
              </a:pathLst>
            </a:custGeom>
            <a:solidFill>
              <a:srgbClr val="FCD34D">
                <a:alpha val="784"/>
              </a:srgbClr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796651" cy="3708241"/>
            </a:xfrm>
            <a:custGeom>
              <a:avLst/>
              <a:gdLst/>
              <a:ahLst/>
              <a:cxnLst/>
              <a:rect r="r" b="b" t="t" l="l"/>
              <a:pathLst>
                <a:path h="3708241" w="10796651">
                  <a:moveTo>
                    <a:pt x="0" y="336008"/>
                  </a:moveTo>
                  <a:cubicBezTo>
                    <a:pt x="0" y="150034"/>
                    <a:pt x="148209" y="0"/>
                    <a:pt x="330200" y="0"/>
                  </a:cubicBezTo>
                  <a:lnTo>
                    <a:pt x="10466451" y="0"/>
                  </a:lnTo>
                  <a:lnTo>
                    <a:pt x="10466451" y="34895"/>
                  </a:lnTo>
                  <a:lnTo>
                    <a:pt x="10466451" y="0"/>
                  </a:lnTo>
                  <a:cubicBezTo>
                    <a:pt x="10648442" y="0"/>
                    <a:pt x="10796651" y="150034"/>
                    <a:pt x="10796651" y="336008"/>
                  </a:cubicBezTo>
                  <a:lnTo>
                    <a:pt x="10762742" y="336008"/>
                  </a:lnTo>
                  <a:lnTo>
                    <a:pt x="10796651" y="336008"/>
                  </a:lnTo>
                  <a:lnTo>
                    <a:pt x="10796651" y="3372235"/>
                  </a:lnTo>
                  <a:lnTo>
                    <a:pt x="10762742" y="3372235"/>
                  </a:lnTo>
                  <a:lnTo>
                    <a:pt x="10796651" y="3372235"/>
                  </a:lnTo>
                  <a:cubicBezTo>
                    <a:pt x="10796651" y="3558210"/>
                    <a:pt x="10648442" y="3708241"/>
                    <a:pt x="10466451" y="3708241"/>
                  </a:cubicBezTo>
                  <a:lnTo>
                    <a:pt x="10466451" y="3673349"/>
                  </a:lnTo>
                  <a:lnTo>
                    <a:pt x="10466451" y="3708241"/>
                  </a:lnTo>
                  <a:lnTo>
                    <a:pt x="330200" y="3708241"/>
                  </a:lnTo>
                  <a:lnTo>
                    <a:pt x="330200" y="3673349"/>
                  </a:lnTo>
                  <a:lnTo>
                    <a:pt x="330200" y="3708241"/>
                  </a:lnTo>
                  <a:cubicBezTo>
                    <a:pt x="148209" y="3708241"/>
                    <a:pt x="0" y="3558210"/>
                    <a:pt x="0" y="3372235"/>
                  </a:cubicBezTo>
                  <a:lnTo>
                    <a:pt x="0" y="336008"/>
                  </a:lnTo>
                  <a:lnTo>
                    <a:pt x="33909" y="336008"/>
                  </a:lnTo>
                  <a:lnTo>
                    <a:pt x="0" y="336008"/>
                  </a:lnTo>
                  <a:moveTo>
                    <a:pt x="67691" y="336008"/>
                  </a:moveTo>
                  <a:lnTo>
                    <a:pt x="67691" y="3372235"/>
                  </a:lnTo>
                  <a:lnTo>
                    <a:pt x="33909" y="3372235"/>
                  </a:lnTo>
                  <a:lnTo>
                    <a:pt x="67691" y="3372235"/>
                  </a:lnTo>
                  <a:cubicBezTo>
                    <a:pt x="67691" y="3518871"/>
                    <a:pt x="184785" y="3638454"/>
                    <a:pt x="330200" y="3638454"/>
                  </a:cubicBezTo>
                  <a:lnTo>
                    <a:pt x="10466451" y="3638454"/>
                  </a:lnTo>
                  <a:cubicBezTo>
                    <a:pt x="10611866" y="3638454"/>
                    <a:pt x="10728960" y="3518871"/>
                    <a:pt x="10728960" y="3372235"/>
                  </a:cubicBezTo>
                  <a:lnTo>
                    <a:pt x="10728960" y="336008"/>
                  </a:lnTo>
                  <a:cubicBezTo>
                    <a:pt x="10728960" y="189372"/>
                    <a:pt x="10611866" y="69789"/>
                    <a:pt x="10466451" y="69789"/>
                  </a:cubicBezTo>
                  <a:lnTo>
                    <a:pt x="330200" y="69789"/>
                  </a:lnTo>
                  <a:lnTo>
                    <a:pt x="330200" y="34895"/>
                  </a:lnTo>
                  <a:lnTo>
                    <a:pt x="330200" y="69659"/>
                  </a:lnTo>
                  <a:cubicBezTo>
                    <a:pt x="184785" y="69659"/>
                    <a:pt x="67691" y="189241"/>
                    <a:pt x="67691" y="335877"/>
                  </a:cubicBezTo>
                  <a:close/>
                </a:path>
              </a:pathLst>
            </a:custGeom>
            <a:solidFill>
              <a:srgbClr val="FCD34D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2552573" y="7557250"/>
            <a:ext cx="4626523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3"/>
              </a:lnSpc>
              <a:spcBef>
                <a:spcPct val="0"/>
              </a:spcBef>
            </a:pPr>
            <a:r>
              <a:rPr lang="en-US" b="true" sz="2453">
                <a:solidFill>
                  <a:srgbClr val="FFFFFF"/>
                </a:solidFill>
                <a:latin typeface="Consolas Bold"/>
                <a:ea typeface="Consolas Bold"/>
                <a:cs typeface="Consolas Bold"/>
                <a:sym typeface="Consolas Bold"/>
              </a:rPr>
              <a:t>No e</a:t>
            </a:r>
            <a:r>
              <a:rPr lang="en-US" b="true" sz="2453">
                <a:solidFill>
                  <a:srgbClr val="FFFFFF"/>
                </a:solidFill>
                <a:latin typeface="Consolas Bold"/>
                <a:ea typeface="Consolas Bold"/>
                <a:cs typeface="Consolas Bold"/>
                <a:sym typeface="Consolas Bold"/>
              </a:rPr>
              <a:t>nc</a:t>
            </a:r>
            <a:r>
              <a:rPr lang="en-US" b="true" sz="2453">
                <a:solidFill>
                  <a:srgbClr val="FFFFFF"/>
                </a:solidFill>
                <a:latin typeface="Consolas Bold"/>
                <a:ea typeface="Consolas Bold"/>
                <a:cs typeface="Consolas Bold"/>
                <a:sym typeface="Consolas Bold"/>
              </a:rPr>
              <a:t>ryption</a:t>
            </a:r>
          </a:p>
          <a:p>
            <a:pPr algn="ctr">
              <a:lnSpc>
                <a:spcPts val="2463"/>
              </a:lnSpc>
              <a:spcBef>
                <a:spcPct val="0"/>
              </a:spcBef>
            </a:pPr>
            <a:r>
              <a:rPr lang="en-US" sz="2053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Files transferredwithout protectionUSB, unencrypted links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4498" y="0"/>
            <a:ext cx="17373600" cy="914400"/>
            <a:chOff x="0" y="0"/>
            <a:chExt cx="23164800" cy="12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164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231648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399"/>
                </a:lnSpc>
              </a:pPr>
              <a:r>
                <a:rPr lang="en-US" b="true" sz="4499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BACK LOOK - ASS1</a:t>
              </a: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777240" y="8686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4600">
                <a:solidFill>
                  <a:srgbClr val="FFFFFF"/>
                </a:solidFill>
                <a:latin typeface="Times New Roman"/>
              </a:rPr>
              <a:t>Assignment 1: What We Delivered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276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B4E0FF"/>
                </a:solidFill>
                <a:latin typeface="Consolas"/>
              </a:rPr>
              <a:t>A secure temporary file-sharing workflow built for privacy by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240280"/>
            <a:ext cx="10881360" cy="960120"/>
          </a:xfrm>
          <a:prstGeom prst="roundRect">
            <a:avLst/>
          </a:prstGeom>
          <a:solidFill>
            <a:srgbClr val="115D7D"/>
          </a:solidFill>
          <a:ln w="25400">
            <a:solidFill>
              <a:srgbClr val="82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800">
                <a:solidFill>
                  <a:srgbClr val="FFFFFF"/>
                </a:solidFill>
                <a:latin typeface="Times New Roman"/>
              </a:rPr>
              <a:t>BlindDrop converted risky file transfer into controlled, expiring, token-based access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566160"/>
            <a:ext cx="5349240" cy="1691640"/>
          </a:xfrm>
          <a:prstGeom prst="roundRect">
            <a:avLst/>
          </a:prstGeom>
          <a:solidFill>
            <a:srgbClr val="132843"/>
          </a:solidFill>
          <a:ln w="17780">
            <a:solidFill>
              <a:srgbClr val="54B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400">
                <a:solidFill>
                  <a:srgbClr val="FFFFFF"/>
                </a:solidFill>
                <a:latin typeface="Times New Roman"/>
              </a:rPr>
              <a:t>Temporary by default</a:t>
            </a:r>
          </a:p>
          <a:p>
            <a:pPr>
              <a:defRPr sz="1400">
                <a:solidFill>
                  <a:srgbClr val="DDF1FF"/>
                </a:solidFill>
                <a:latin typeface="Consolas"/>
              </a:defRPr>
            </a:pPr>
            <a:r>
              <a:t>Vaults are expiry-aware and designed for time-bound access, not permanent hosting.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3566160"/>
            <a:ext cx="5349240" cy="1691640"/>
          </a:xfrm>
          <a:prstGeom prst="roundRect">
            <a:avLst/>
          </a:prstGeom>
          <a:solidFill>
            <a:srgbClr val="132843"/>
          </a:solidFill>
          <a:ln w="17780">
            <a:solidFill>
              <a:srgbClr val="54B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400">
                <a:solidFill>
                  <a:srgbClr val="FFFFFF"/>
                </a:solidFill>
                <a:latin typeface="Times New Roman"/>
              </a:rPr>
              <a:t>Dual-token security model</a:t>
            </a:r>
          </a:p>
          <a:p>
            <a:pPr>
              <a:defRPr sz="1400">
                <a:solidFill>
                  <a:srgbClr val="DDF1FF"/>
                </a:solidFill>
                <a:latin typeface="Consolas"/>
              </a:defRPr>
            </a:pPr>
            <a:r>
              <a:t>Public outerToken identifies vault access point; private innerToken authorizes entry.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486400"/>
            <a:ext cx="5349240" cy="1691640"/>
          </a:xfrm>
          <a:prstGeom prst="roundRect">
            <a:avLst/>
          </a:prstGeom>
          <a:solidFill>
            <a:srgbClr val="132843"/>
          </a:solidFill>
          <a:ln w="17780">
            <a:solidFill>
              <a:srgbClr val="54B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400">
                <a:solidFill>
                  <a:srgbClr val="FFFFFF"/>
                </a:solidFill>
                <a:latin typeface="Times New Roman"/>
              </a:rPr>
              <a:t>Least-privilege sharing</a:t>
            </a:r>
          </a:p>
          <a:p>
            <a:pPr>
              <a:defRPr sz="1400">
                <a:solidFill>
                  <a:srgbClr val="DDF1FF"/>
                </a:solidFill>
                <a:latin typeface="Consolas"/>
              </a:defRPr>
            </a:pPr>
            <a:r>
              <a:t>MAIN token gives full control, while SUB token can be limited to selected files only.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5486400"/>
            <a:ext cx="5349240" cy="1691640"/>
          </a:xfrm>
          <a:prstGeom prst="roundRect">
            <a:avLst/>
          </a:prstGeom>
          <a:solidFill>
            <a:srgbClr val="132843"/>
          </a:solidFill>
          <a:ln w="17780">
            <a:solidFill>
              <a:srgbClr val="54B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400">
                <a:solidFill>
                  <a:srgbClr val="FFFFFF"/>
                </a:solidFill>
                <a:latin typeface="Times New Roman"/>
              </a:rPr>
              <a:t>Privacy-preserving delivery</a:t>
            </a:r>
          </a:p>
          <a:p>
            <a:pPr>
              <a:defRPr sz="1400">
                <a:solidFill>
                  <a:srgbClr val="DDF1FF"/>
                </a:solidFill>
                <a:latin typeface="Consolas"/>
              </a:defRPr>
            </a:pPr>
            <a:r>
              <a:t>Files are shared with strict token gating and automatic lifecycle control for safer exchange.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740664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600">
                <a:solidFill>
                  <a:srgbClr val="B8E9FF"/>
                </a:solidFill>
                <a:latin typeface="Consolas"/>
              </a:rPr>
              <a:t>Outcome: Assignment 1 established the secure core that BlindDrop is built on.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7200" y="473964"/>
            <a:ext cx="17373600" cy="914400"/>
            <a:chOff x="0" y="0"/>
            <a:chExt cx="23164800" cy="12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164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231648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399"/>
                </a:lnSpc>
              </a:pPr>
              <a:r>
                <a:rPr lang="en-US" b="true" sz="4499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PROBLEM STATEMENT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48640" y="1426464"/>
            <a:ext cx="17190720" cy="694944"/>
            <a:chOff x="0" y="0"/>
            <a:chExt cx="22920960" cy="9265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920961" cy="926592"/>
            </a:xfrm>
            <a:custGeom>
              <a:avLst/>
              <a:gdLst/>
              <a:ahLst/>
              <a:cxnLst/>
              <a:rect r="r" b="b" t="t" l="l"/>
              <a:pathLst>
                <a:path h="926592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1998" r="0" b="-43199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22920960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i="true">
                  <a:solidFill>
                    <a:srgbClr val="CAE8F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What real engineering problems does BlindDrop solve?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93014" y="2358390"/>
            <a:ext cx="8359140" cy="3512820"/>
            <a:chOff x="0" y="0"/>
            <a:chExt cx="11145520" cy="46837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00" y="25400"/>
              <a:ext cx="11094720" cy="4632960"/>
            </a:xfrm>
            <a:custGeom>
              <a:avLst/>
              <a:gdLst/>
              <a:ahLst/>
              <a:cxnLst/>
              <a:rect r="r" b="b" t="t" l="l"/>
              <a:pathLst>
                <a:path h="463296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145520" cy="4683760"/>
            </a:xfrm>
            <a:custGeom>
              <a:avLst/>
              <a:gdLst/>
              <a:ahLst/>
              <a:cxnLst/>
              <a:rect r="r" b="b" t="t" l="l"/>
              <a:pathLst>
                <a:path h="4683760" w="11145520">
                  <a:moveTo>
                    <a:pt x="25400" y="0"/>
                  </a:moveTo>
                  <a:lnTo>
                    <a:pt x="11120120" y="0"/>
                  </a:lnTo>
                  <a:cubicBezTo>
                    <a:pt x="11134089" y="0"/>
                    <a:pt x="11145520" y="11430"/>
                    <a:pt x="11145520" y="25400"/>
                  </a:cubicBezTo>
                  <a:lnTo>
                    <a:pt x="11145520" y="4658360"/>
                  </a:lnTo>
                  <a:cubicBezTo>
                    <a:pt x="11145520" y="4672330"/>
                    <a:pt x="11134089" y="4683760"/>
                    <a:pt x="11120120" y="4683760"/>
                  </a:cubicBezTo>
                  <a:lnTo>
                    <a:pt x="25400" y="4683760"/>
                  </a:lnTo>
                  <a:cubicBezTo>
                    <a:pt x="11430" y="4683760"/>
                    <a:pt x="0" y="4672330"/>
                    <a:pt x="0" y="46583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658360"/>
                  </a:lnTo>
                  <a:lnTo>
                    <a:pt x="25400" y="4658360"/>
                  </a:lnTo>
                  <a:lnTo>
                    <a:pt x="25400" y="4632960"/>
                  </a:lnTo>
                  <a:lnTo>
                    <a:pt x="11120120" y="4632960"/>
                  </a:lnTo>
                  <a:lnTo>
                    <a:pt x="11120120" y="4658360"/>
                  </a:lnTo>
                  <a:lnTo>
                    <a:pt x="11094720" y="4658360"/>
                  </a:lnTo>
                  <a:lnTo>
                    <a:pt x="11094720" y="25400"/>
                  </a:lnTo>
                  <a:lnTo>
                    <a:pt x="11120120" y="25400"/>
                  </a:lnTo>
                  <a:lnTo>
                    <a:pt x="111201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99367" y="2364743"/>
            <a:ext cx="8346443" cy="208283"/>
            <a:chOff x="0" y="0"/>
            <a:chExt cx="11128591" cy="2777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1094720" cy="243840"/>
            </a:xfrm>
            <a:custGeom>
              <a:avLst/>
              <a:gdLst/>
              <a:ahLst/>
              <a:cxnLst/>
              <a:rect r="r" b="b" t="t" l="l"/>
              <a:pathLst>
                <a:path h="24384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128501" cy="277624"/>
            </a:xfrm>
            <a:custGeom>
              <a:avLst/>
              <a:gdLst/>
              <a:ahLst/>
              <a:cxnLst/>
              <a:rect r="r" b="b" t="t" l="l"/>
              <a:pathLst>
                <a:path h="277624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260731"/>
                  </a:lnTo>
                  <a:cubicBezTo>
                    <a:pt x="11128501" y="270129"/>
                    <a:pt x="11120882" y="277622"/>
                    <a:pt x="11111611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11111611" y="243840"/>
                  </a:lnTo>
                  <a:lnTo>
                    <a:pt x="11111611" y="260731"/>
                  </a:lnTo>
                  <a:lnTo>
                    <a:pt x="11094720" y="26073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86384" y="2670048"/>
            <a:ext cx="7680960" cy="585216"/>
            <a:chOff x="0" y="0"/>
            <a:chExt cx="10241280" cy="7802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41280" cy="780288"/>
            </a:xfrm>
            <a:custGeom>
              <a:avLst/>
              <a:gdLst/>
              <a:ahLst/>
              <a:cxnLst/>
              <a:rect r="r" b="b" t="t" l="l"/>
              <a:pathLst>
                <a:path h="78028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741" r="0" b="-20574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024128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🔒 Secure Temporary Sharing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86384" y="3291840"/>
            <a:ext cx="7680960" cy="1133856"/>
            <a:chOff x="0" y="0"/>
            <a:chExt cx="10241280" cy="151180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2412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995" r="0" b="-8199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0241280" cy="1559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Sending files via email or permanent cloud links lacks expiry, access control, and audit trails. A vault-based model with time-limited tokens addresses all three.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73687" y="4504439"/>
            <a:ext cx="7742939" cy="1159259"/>
            <a:chOff x="0" y="0"/>
            <a:chExt cx="10323919" cy="154567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029004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0290048">
                  <a:moveTo>
                    <a:pt x="0" y="0"/>
                  </a:moveTo>
                  <a:lnTo>
                    <a:pt x="10290048" y="0"/>
                  </a:lnTo>
                  <a:lnTo>
                    <a:pt x="10290048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080F1E">
                <a:alpha val="48627"/>
              </a:srgbClr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323830" cy="1545590"/>
            </a:xfrm>
            <a:custGeom>
              <a:avLst/>
              <a:gdLst/>
              <a:ahLst/>
              <a:cxnLst/>
              <a:rect r="r" b="b" t="t" l="l"/>
              <a:pathLst>
                <a:path h="1545590" w="10323830">
                  <a:moveTo>
                    <a:pt x="16891" y="0"/>
                  </a:moveTo>
                  <a:lnTo>
                    <a:pt x="10306939" y="0"/>
                  </a:lnTo>
                  <a:cubicBezTo>
                    <a:pt x="10316337" y="0"/>
                    <a:pt x="10323830" y="7620"/>
                    <a:pt x="10323830" y="16891"/>
                  </a:cubicBezTo>
                  <a:lnTo>
                    <a:pt x="10323830" y="1528699"/>
                  </a:lnTo>
                  <a:cubicBezTo>
                    <a:pt x="10323830" y="1538097"/>
                    <a:pt x="10316210" y="1545590"/>
                    <a:pt x="10306939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10306939" y="1511808"/>
                  </a:lnTo>
                  <a:lnTo>
                    <a:pt x="10306939" y="1528699"/>
                  </a:lnTo>
                  <a:lnTo>
                    <a:pt x="10290048" y="1528699"/>
                  </a:lnTo>
                  <a:lnTo>
                    <a:pt x="10290048" y="16891"/>
                  </a:lnTo>
                  <a:lnTo>
                    <a:pt x="10306939" y="16891"/>
                  </a:lnTo>
                  <a:lnTo>
                    <a:pt x="103069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0F1E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77824" y="4572000"/>
            <a:ext cx="7498080" cy="493776"/>
            <a:chOff x="0" y="0"/>
            <a:chExt cx="9997440" cy="65836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997440" cy="658368"/>
            </a:xfrm>
            <a:custGeom>
              <a:avLst/>
              <a:gdLst/>
              <a:ahLst/>
              <a:cxnLst/>
              <a:rect r="r" b="b" t="t" l="l"/>
              <a:pathLst>
                <a:path h="65836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883" r="0" b="-24588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99744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EF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✗  No expiry + no access control + no audit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77824" y="5065776"/>
            <a:ext cx="7498080" cy="493776"/>
            <a:chOff x="0" y="0"/>
            <a:chExt cx="9997440" cy="65836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997440" cy="658368"/>
            </a:xfrm>
            <a:custGeom>
              <a:avLst/>
              <a:gdLst/>
              <a:ahLst/>
              <a:cxnLst/>
              <a:rect r="r" b="b" t="t" l="l"/>
              <a:pathLst>
                <a:path h="65836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883" r="0" b="-24588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999744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2C55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Expiring vaults + scoped tokens + log chain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399270" y="2358390"/>
            <a:ext cx="8359140" cy="3512820"/>
            <a:chOff x="0" y="0"/>
            <a:chExt cx="11145520" cy="46837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25400" y="25400"/>
              <a:ext cx="11094720" cy="4632960"/>
            </a:xfrm>
            <a:custGeom>
              <a:avLst/>
              <a:gdLst/>
              <a:ahLst/>
              <a:cxnLst/>
              <a:rect r="r" b="b" t="t" l="l"/>
              <a:pathLst>
                <a:path h="463296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145520" cy="4683760"/>
            </a:xfrm>
            <a:custGeom>
              <a:avLst/>
              <a:gdLst/>
              <a:ahLst/>
              <a:cxnLst/>
              <a:rect r="r" b="b" t="t" l="l"/>
              <a:pathLst>
                <a:path h="4683760" w="11145520">
                  <a:moveTo>
                    <a:pt x="25400" y="0"/>
                  </a:moveTo>
                  <a:lnTo>
                    <a:pt x="11120120" y="0"/>
                  </a:lnTo>
                  <a:cubicBezTo>
                    <a:pt x="11134089" y="0"/>
                    <a:pt x="11145520" y="11430"/>
                    <a:pt x="11145520" y="25400"/>
                  </a:cubicBezTo>
                  <a:lnTo>
                    <a:pt x="11145520" y="4658360"/>
                  </a:lnTo>
                  <a:cubicBezTo>
                    <a:pt x="11145520" y="4672330"/>
                    <a:pt x="11134089" y="4683760"/>
                    <a:pt x="11120120" y="4683760"/>
                  </a:cubicBezTo>
                  <a:lnTo>
                    <a:pt x="25400" y="4683760"/>
                  </a:lnTo>
                  <a:cubicBezTo>
                    <a:pt x="11430" y="4683760"/>
                    <a:pt x="0" y="4672330"/>
                    <a:pt x="0" y="46583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658360"/>
                  </a:lnTo>
                  <a:lnTo>
                    <a:pt x="25400" y="4658360"/>
                  </a:lnTo>
                  <a:lnTo>
                    <a:pt x="25400" y="4632960"/>
                  </a:lnTo>
                  <a:lnTo>
                    <a:pt x="11120120" y="4632960"/>
                  </a:lnTo>
                  <a:lnTo>
                    <a:pt x="11120120" y="4658360"/>
                  </a:lnTo>
                  <a:lnTo>
                    <a:pt x="11094720" y="4658360"/>
                  </a:lnTo>
                  <a:lnTo>
                    <a:pt x="11094720" y="25400"/>
                  </a:lnTo>
                  <a:lnTo>
                    <a:pt x="11120120" y="25400"/>
                  </a:lnTo>
                  <a:lnTo>
                    <a:pt x="111201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405623" y="2364743"/>
            <a:ext cx="8346443" cy="208283"/>
            <a:chOff x="0" y="0"/>
            <a:chExt cx="11128591" cy="27771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11094720" cy="243840"/>
            </a:xfrm>
            <a:custGeom>
              <a:avLst/>
              <a:gdLst/>
              <a:ahLst/>
              <a:cxnLst/>
              <a:rect r="r" b="b" t="t" l="l"/>
              <a:pathLst>
                <a:path h="24384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128501" cy="277624"/>
            </a:xfrm>
            <a:custGeom>
              <a:avLst/>
              <a:gdLst/>
              <a:ahLst/>
              <a:cxnLst/>
              <a:rect r="r" b="b" t="t" l="l"/>
              <a:pathLst>
                <a:path h="277624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260731"/>
                  </a:lnTo>
                  <a:cubicBezTo>
                    <a:pt x="11128501" y="270129"/>
                    <a:pt x="11120882" y="277622"/>
                    <a:pt x="11111611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11111611" y="243840"/>
                  </a:lnTo>
                  <a:lnTo>
                    <a:pt x="11111611" y="260731"/>
                  </a:lnTo>
                  <a:lnTo>
                    <a:pt x="11094720" y="26073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692640" y="2670048"/>
            <a:ext cx="7680960" cy="585216"/>
            <a:chOff x="0" y="0"/>
            <a:chExt cx="10241280" cy="78028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241280" cy="780288"/>
            </a:xfrm>
            <a:custGeom>
              <a:avLst/>
              <a:gdLst/>
              <a:ahLst/>
              <a:cxnLst/>
              <a:rect r="r" b="b" t="t" l="l"/>
              <a:pathLst>
                <a:path h="78028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741" r="0" b="-20574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1024128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⚡ Scalable Index Lookups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692640" y="3291840"/>
            <a:ext cx="7680960" cy="1133856"/>
            <a:chOff x="0" y="0"/>
            <a:chExt cx="10241280" cy="151180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2412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995" r="0" b="-8199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0241280" cy="1559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At scale, linear scans over vault/file/auth tables are too slow. Range queries for expiry windows and session auth checks require sub-linear index structures.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679943" y="4504439"/>
            <a:ext cx="7742939" cy="1159259"/>
            <a:chOff x="0" y="0"/>
            <a:chExt cx="10323919" cy="154567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029004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0290048">
                  <a:moveTo>
                    <a:pt x="0" y="0"/>
                  </a:moveTo>
                  <a:lnTo>
                    <a:pt x="10290048" y="0"/>
                  </a:lnTo>
                  <a:lnTo>
                    <a:pt x="10290048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080F1E">
                <a:alpha val="48627"/>
              </a:srgbClr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323830" cy="1545590"/>
            </a:xfrm>
            <a:custGeom>
              <a:avLst/>
              <a:gdLst/>
              <a:ahLst/>
              <a:cxnLst/>
              <a:rect r="r" b="b" t="t" l="l"/>
              <a:pathLst>
                <a:path h="1545590" w="10323830">
                  <a:moveTo>
                    <a:pt x="16891" y="0"/>
                  </a:moveTo>
                  <a:lnTo>
                    <a:pt x="10306939" y="0"/>
                  </a:lnTo>
                  <a:cubicBezTo>
                    <a:pt x="10316337" y="0"/>
                    <a:pt x="10323830" y="7620"/>
                    <a:pt x="10323830" y="16891"/>
                  </a:cubicBezTo>
                  <a:lnTo>
                    <a:pt x="10323830" y="1528699"/>
                  </a:lnTo>
                  <a:cubicBezTo>
                    <a:pt x="10323830" y="1538097"/>
                    <a:pt x="10316210" y="1545590"/>
                    <a:pt x="10306939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10306939" y="1511808"/>
                  </a:lnTo>
                  <a:lnTo>
                    <a:pt x="10306939" y="1528699"/>
                  </a:lnTo>
                  <a:lnTo>
                    <a:pt x="10290048" y="1528699"/>
                  </a:lnTo>
                  <a:lnTo>
                    <a:pt x="10290048" y="16891"/>
                  </a:lnTo>
                  <a:lnTo>
                    <a:pt x="10306939" y="16891"/>
                  </a:lnTo>
                  <a:lnTo>
                    <a:pt x="103069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0F1E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784080" y="4572000"/>
            <a:ext cx="7498080" cy="493776"/>
            <a:chOff x="0" y="0"/>
            <a:chExt cx="9997440" cy="65836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997440" cy="658368"/>
            </a:xfrm>
            <a:custGeom>
              <a:avLst/>
              <a:gdLst/>
              <a:ahLst/>
              <a:cxnLst/>
              <a:rect r="r" b="b" t="t" l="l"/>
              <a:pathLst>
                <a:path h="65836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883" r="0" b="-24588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999744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EF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✗  Full table scans: O(n) per query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784080" y="5065776"/>
            <a:ext cx="7498080" cy="493776"/>
            <a:chOff x="0" y="0"/>
            <a:chExt cx="9997440" cy="65836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997440" cy="658368"/>
            </a:xfrm>
            <a:custGeom>
              <a:avLst/>
              <a:gdLst/>
              <a:ahLst/>
              <a:cxnLst/>
              <a:rect r="r" b="b" t="t" l="l"/>
              <a:pathLst>
                <a:path h="65836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883" r="0" b="-24588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999744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2C55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B+ Tree: O(log n) exact, O(log n+k) range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493014" y="6107430"/>
            <a:ext cx="8359140" cy="3512820"/>
            <a:chOff x="0" y="0"/>
            <a:chExt cx="11145520" cy="46837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25400" y="25400"/>
              <a:ext cx="11094720" cy="4632960"/>
            </a:xfrm>
            <a:custGeom>
              <a:avLst/>
              <a:gdLst/>
              <a:ahLst/>
              <a:cxnLst/>
              <a:rect r="r" b="b" t="t" l="l"/>
              <a:pathLst>
                <a:path h="463296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1145520" cy="4683760"/>
            </a:xfrm>
            <a:custGeom>
              <a:avLst/>
              <a:gdLst/>
              <a:ahLst/>
              <a:cxnLst/>
              <a:rect r="r" b="b" t="t" l="l"/>
              <a:pathLst>
                <a:path h="4683760" w="11145520">
                  <a:moveTo>
                    <a:pt x="25400" y="0"/>
                  </a:moveTo>
                  <a:lnTo>
                    <a:pt x="11120120" y="0"/>
                  </a:lnTo>
                  <a:cubicBezTo>
                    <a:pt x="11134089" y="0"/>
                    <a:pt x="11145520" y="11430"/>
                    <a:pt x="11145520" y="25400"/>
                  </a:cubicBezTo>
                  <a:lnTo>
                    <a:pt x="11145520" y="4658360"/>
                  </a:lnTo>
                  <a:cubicBezTo>
                    <a:pt x="11145520" y="4672330"/>
                    <a:pt x="11134089" y="4683760"/>
                    <a:pt x="11120120" y="4683760"/>
                  </a:cubicBezTo>
                  <a:lnTo>
                    <a:pt x="25400" y="4683760"/>
                  </a:lnTo>
                  <a:cubicBezTo>
                    <a:pt x="11430" y="4683760"/>
                    <a:pt x="0" y="4672330"/>
                    <a:pt x="0" y="46583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658360"/>
                  </a:lnTo>
                  <a:lnTo>
                    <a:pt x="25400" y="4658360"/>
                  </a:lnTo>
                  <a:lnTo>
                    <a:pt x="25400" y="4632960"/>
                  </a:lnTo>
                  <a:lnTo>
                    <a:pt x="11120120" y="4632960"/>
                  </a:lnTo>
                  <a:lnTo>
                    <a:pt x="11120120" y="4658360"/>
                  </a:lnTo>
                  <a:lnTo>
                    <a:pt x="11094720" y="4658360"/>
                  </a:lnTo>
                  <a:lnTo>
                    <a:pt x="11094720" y="25400"/>
                  </a:lnTo>
                  <a:lnTo>
                    <a:pt x="11120120" y="25400"/>
                  </a:lnTo>
                  <a:lnTo>
                    <a:pt x="111201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499367" y="6113783"/>
            <a:ext cx="8346443" cy="208283"/>
            <a:chOff x="0" y="0"/>
            <a:chExt cx="11128591" cy="27771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1094720" cy="243840"/>
            </a:xfrm>
            <a:custGeom>
              <a:avLst/>
              <a:gdLst/>
              <a:ahLst/>
              <a:cxnLst/>
              <a:rect r="r" b="b" t="t" l="l"/>
              <a:pathLst>
                <a:path h="24384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128501" cy="277624"/>
            </a:xfrm>
            <a:custGeom>
              <a:avLst/>
              <a:gdLst/>
              <a:ahLst/>
              <a:cxnLst/>
              <a:rect r="r" b="b" t="t" l="l"/>
              <a:pathLst>
                <a:path h="277624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260731"/>
                  </a:lnTo>
                  <a:cubicBezTo>
                    <a:pt x="11128501" y="270129"/>
                    <a:pt x="11120882" y="277622"/>
                    <a:pt x="11111611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11111611" y="243840"/>
                  </a:lnTo>
                  <a:lnTo>
                    <a:pt x="11111611" y="260731"/>
                  </a:lnTo>
                  <a:lnTo>
                    <a:pt x="11094720" y="26073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786384" y="6419088"/>
            <a:ext cx="7680960" cy="585216"/>
            <a:chOff x="0" y="0"/>
            <a:chExt cx="10241280" cy="78028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241280" cy="780288"/>
            </a:xfrm>
            <a:custGeom>
              <a:avLst/>
              <a:gdLst/>
              <a:ahLst/>
              <a:cxnLst/>
              <a:rect r="r" b="b" t="t" l="l"/>
              <a:pathLst>
                <a:path h="78028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741" r="0" b="-20574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57150"/>
              <a:ext cx="1024128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🛡️ Auditable RBAC CRUD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786384" y="7040880"/>
            <a:ext cx="7680960" cy="1133856"/>
            <a:chOff x="0" y="0"/>
            <a:chExt cx="10241280" cy="151180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2412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995" r="0" b="-8199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10241280" cy="1559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Role confusion (admin vs user), missing audit trails, and undetected direct-DB tampering are real risks in multi-user data applications.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773687" y="8253479"/>
            <a:ext cx="7742939" cy="1159259"/>
            <a:chOff x="0" y="0"/>
            <a:chExt cx="10323919" cy="154567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1029004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0290048">
                  <a:moveTo>
                    <a:pt x="0" y="0"/>
                  </a:moveTo>
                  <a:lnTo>
                    <a:pt x="10290048" y="0"/>
                  </a:lnTo>
                  <a:lnTo>
                    <a:pt x="10290048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080F1E">
                <a:alpha val="48627"/>
              </a:srgbClr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323830" cy="1545590"/>
            </a:xfrm>
            <a:custGeom>
              <a:avLst/>
              <a:gdLst/>
              <a:ahLst/>
              <a:cxnLst/>
              <a:rect r="r" b="b" t="t" l="l"/>
              <a:pathLst>
                <a:path h="1545590" w="10323830">
                  <a:moveTo>
                    <a:pt x="16891" y="0"/>
                  </a:moveTo>
                  <a:lnTo>
                    <a:pt x="10306939" y="0"/>
                  </a:lnTo>
                  <a:cubicBezTo>
                    <a:pt x="10316337" y="0"/>
                    <a:pt x="10323830" y="7620"/>
                    <a:pt x="10323830" y="16891"/>
                  </a:cubicBezTo>
                  <a:lnTo>
                    <a:pt x="10323830" y="1528699"/>
                  </a:lnTo>
                  <a:cubicBezTo>
                    <a:pt x="10323830" y="1538097"/>
                    <a:pt x="10316210" y="1545590"/>
                    <a:pt x="10306939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10306939" y="1511808"/>
                  </a:lnTo>
                  <a:lnTo>
                    <a:pt x="10306939" y="1528699"/>
                  </a:lnTo>
                  <a:lnTo>
                    <a:pt x="10290048" y="1528699"/>
                  </a:lnTo>
                  <a:lnTo>
                    <a:pt x="10290048" y="16891"/>
                  </a:lnTo>
                  <a:lnTo>
                    <a:pt x="10306939" y="16891"/>
                  </a:lnTo>
                  <a:lnTo>
                    <a:pt x="103069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0F1E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877824" y="8321040"/>
            <a:ext cx="7498080" cy="493776"/>
            <a:chOff x="0" y="0"/>
            <a:chExt cx="9997440" cy="65836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997440" cy="658368"/>
            </a:xfrm>
            <a:custGeom>
              <a:avLst/>
              <a:gdLst/>
              <a:ahLst/>
              <a:cxnLst/>
              <a:rect r="r" b="b" t="t" l="l"/>
              <a:pathLst>
                <a:path h="65836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883" r="0" b="-245883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999744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EF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✗  No role separation + no tamper detection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877824" y="8814816"/>
            <a:ext cx="7498080" cy="493776"/>
            <a:chOff x="0" y="0"/>
            <a:chExt cx="9997440" cy="65836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997440" cy="658368"/>
            </a:xfrm>
            <a:custGeom>
              <a:avLst/>
              <a:gdLst/>
              <a:ahLst/>
              <a:cxnLst/>
              <a:rect r="r" b="b" t="t" l="l"/>
              <a:pathLst>
                <a:path h="65836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883" r="0" b="-245883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999744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2C55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RBAC middleware + integrity_hash + chained log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399270" y="6107430"/>
            <a:ext cx="8359140" cy="3512820"/>
            <a:chOff x="0" y="0"/>
            <a:chExt cx="11145520" cy="468376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25400" y="25400"/>
              <a:ext cx="11094720" cy="4632960"/>
            </a:xfrm>
            <a:custGeom>
              <a:avLst/>
              <a:gdLst/>
              <a:ahLst/>
              <a:cxnLst/>
              <a:rect r="r" b="b" t="t" l="l"/>
              <a:pathLst>
                <a:path h="463296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1145520" cy="4683760"/>
            </a:xfrm>
            <a:custGeom>
              <a:avLst/>
              <a:gdLst/>
              <a:ahLst/>
              <a:cxnLst/>
              <a:rect r="r" b="b" t="t" l="l"/>
              <a:pathLst>
                <a:path h="4683760" w="11145520">
                  <a:moveTo>
                    <a:pt x="25400" y="0"/>
                  </a:moveTo>
                  <a:lnTo>
                    <a:pt x="11120120" y="0"/>
                  </a:lnTo>
                  <a:cubicBezTo>
                    <a:pt x="11134089" y="0"/>
                    <a:pt x="11145520" y="11430"/>
                    <a:pt x="11145520" y="25400"/>
                  </a:cubicBezTo>
                  <a:lnTo>
                    <a:pt x="11145520" y="4658360"/>
                  </a:lnTo>
                  <a:cubicBezTo>
                    <a:pt x="11145520" y="4672330"/>
                    <a:pt x="11134089" y="4683760"/>
                    <a:pt x="11120120" y="4683760"/>
                  </a:cubicBezTo>
                  <a:lnTo>
                    <a:pt x="25400" y="4683760"/>
                  </a:lnTo>
                  <a:cubicBezTo>
                    <a:pt x="11430" y="4683760"/>
                    <a:pt x="0" y="4672330"/>
                    <a:pt x="0" y="46583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658360"/>
                  </a:lnTo>
                  <a:lnTo>
                    <a:pt x="25400" y="4658360"/>
                  </a:lnTo>
                  <a:lnTo>
                    <a:pt x="25400" y="4632960"/>
                  </a:lnTo>
                  <a:lnTo>
                    <a:pt x="11120120" y="4632960"/>
                  </a:lnTo>
                  <a:lnTo>
                    <a:pt x="11120120" y="4658360"/>
                  </a:lnTo>
                  <a:lnTo>
                    <a:pt x="11094720" y="4658360"/>
                  </a:lnTo>
                  <a:lnTo>
                    <a:pt x="11094720" y="25400"/>
                  </a:lnTo>
                  <a:lnTo>
                    <a:pt x="11120120" y="25400"/>
                  </a:lnTo>
                  <a:lnTo>
                    <a:pt x="111201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405623" y="6113783"/>
            <a:ext cx="8346443" cy="208283"/>
            <a:chOff x="0" y="0"/>
            <a:chExt cx="11128591" cy="27771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11094720" cy="243840"/>
            </a:xfrm>
            <a:custGeom>
              <a:avLst/>
              <a:gdLst/>
              <a:ahLst/>
              <a:cxnLst/>
              <a:rect r="r" b="b" t="t" l="l"/>
              <a:pathLst>
                <a:path h="24384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1128501" cy="277624"/>
            </a:xfrm>
            <a:custGeom>
              <a:avLst/>
              <a:gdLst/>
              <a:ahLst/>
              <a:cxnLst/>
              <a:rect r="r" b="b" t="t" l="l"/>
              <a:pathLst>
                <a:path h="277624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260731"/>
                  </a:lnTo>
                  <a:cubicBezTo>
                    <a:pt x="11128501" y="270129"/>
                    <a:pt x="11120882" y="277622"/>
                    <a:pt x="11111611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11111611" y="243840"/>
                  </a:lnTo>
                  <a:lnTo>
                    <a:pt x="11111611" y="260731"/>
                  </a:lnTo>
                  <a:lnTo>
                    <a:pt x="11094720" y="26073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692640" y="6419088"/>
            <a:ext cx="7680960" cy="585216"/>
            <a:chOff x="0" y="0"/>
            <a:chExt cx="10241280" cy="78028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241280" cy="780288"/>
            </a:xfrm>
            <a:custGeom>
              <a:avLst/>
              <a:gdLst/>
              <a:ahLst/>
              <a:cxnLst/>
              <a:rect r="r" b="b" t="t" l="l"/>
              <a:pathLst>
                <a:path h="78028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741" r="0" b="-205741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57150"/>
              <a:ext cx="1024128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📊 Measurable SQL Optimization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692640" y="7040880"/>
            <a:ext cx="7680960" cy="1133856"/>
            <a:chOff x="0" y="0"/>
            <a:chExt cx="10241280" cy="151180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2412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995" r="0" b="-81995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10241280" cy="1559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Adding indexes without evidence is engineering folklore. A before/after EXPLAIN benchmark with real query patterns is required to prove optimizer impact.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679943" y="8253479"/>
            <a:ext cx="7742939" cy="1159259"/>
            <a:chOff x="0" y="0"/>
            <a:chExt cx="10323919" cy="1545679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1029004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0290048">
                  <a:moveTo>
                    <a:pt x="0" y="0"/>
                  </a:moveTo>
                  <a:lnTo>
                    <a:pt x="10290048" y="0"/>
                  </a:lnTo>
                  <a:lnTo>
                    <a:pt x="10290048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080F1E">
                <a:alpha val="48627"/>
              </a:srgbClr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0323830" cy="1545590"/>
            </a:xfrm>
            <a:custGeom>
              <a:avLst/>
              <a:gdLst/>
              <a:ahLst/>
              <a:cxnLst/>
              <a:rect r="r" b="b" t="t" l="l"/>
              <a:pathLst>
                <a:path h="1545590" w="10323830">
                  <a:moveTo>
                    <a:pt x="16891" y="0"/>
                  </a:moveTo>
                  <a:lnTo>
                    <a:pt x="10306939" y="0"/>
                  </a:lnTo>
                  <a:cubicBezTo>
                    <a:pt x="10316337" y="0"/>
                    <a:pt x="10323830" y="7620"/>
                    <a:pt x="10323830" y="16891"/>
                  </a:cubicBezTo>
                  <a:lnTo>
                    <a:pt x="10323830" y="1528699"/>
                  </a:lnTo>
                  <a:cubicBezTo>
                    <a:pt x="10323830" y="1538097"/>
                    <a:pt x="10316210" y="1545590"/>
                    <a:pt x="10306939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10306939" y="1511808"/>
                  </a:lnTo>
                  <a:lnTo>
                    <a:pt x="10306939" y="1528699"/>
                  </a:lnTo>
                  <a:lnTo>
                    <a:pt x="10290048" y="1528699"/>
                  </a:lnTo>
                  <a:lnTo>
                    <a:pt x="10290048" y="16891"/>
                  </a:lnTo>
                  <a:lnTo>
                    <a:pt x="10306939" y="16891"/>
                  </a:lnTo>
                  <a:lnTo>
                    <a:pt x="103069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0F1E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784080" y="8321040"/>
            <a:ext cx="7498080" cy="493776"/>
            <a:chOff x="0" y="0"/>
            <a:chExt cx="9997440" cy="65836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9997440" cy="658368"/>
            </a:xfrm>
            <a:custGeom>
              <a:avLst/>
              <a:gdLst/>
              <a:ahLst/>
              <a:cxnLst/>
              <a:rect r="r" b="b" t="t" l="l"/>
              <a:pathLst>
                <a:path h="65836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883" r="0" b="-245883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999744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EF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✗  Blind indexing — no query plan evidence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784080" y="8814816"/>
            <a:ext cx="7498080" cy="493776"/>
            <a:chOff x="0" y="0"/>
            <a:chExt cx="9997440" cy="65836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9997440" cy="658368"/>
            </a:xfrm>
            <a:custGeom>
              <a:avLst/>
              <a:gdLst/>
              <a:ahLst/>
              <a:cxnLst/>
              <a:rect r="r" b="b" t="t" l="l"/>
              <a:pathLst>
                <a:path h="65836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883" r="0" b="-245883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999744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2C55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EXPLAIN + timed benchmark: 452ms → 40ms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8283"/>
            <a:chOff x="0" y="0"/>
            <a:chExt cx="24417871" cy="2777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7624"/>
            </a:xfrm>
            <a:custGeom>
              <a:avLst/>
              <a:gdLst/>
              <a:ahLst/>
              <a:cxnLst/>
              <a:rect r="r" b="b" t="t" l="l"/>
              <a:pathLst>
                <a:path h="27762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0731"/>
                  </a:lnTo>
                  <a:cubicBezTo>
                    <a:pt x="24417782" y="270129"/>
                    <a:pt x="24410163" y="277622"/>
                    <a:pt x="2440089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4400890" y="243840"/>
                  </a:lnTo>
                  <a:lnTo>
                    <a:pt x="24400890" y="260731"/>
                  </a:lnTo>
                  <a:lnTo>
                    <a:pt x="24384000" y="2607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2064" y="274320"/>
            <a:ext cx="17373600" cy="914400"/>
            <a:chOff x="0" y="0"/>
            <a:chExt cx="2316480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64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31648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Motivation — Why Build It This Way?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48640" y="1426464"/>
            <a:ext cx="17190720" cy="768096"/>
            <a:chOff x="0" y="0"/>
            <a:chExt cx="22920960" cy="10241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920961" cy="1024128"/>
            </a:xfrm>
            <a:custGeom>
              <a:avLst/>
              <a:gdLst/>
              <a:ahLst/>
              <a:cxnLst/>
              <a:rect r="r" b="b" t="t" l="l"/>
              <a:pathLst>
                <a:path h="1024128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6093" r="0" b="-38609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2920960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i="true">
                  <a:solidFill>
                    <a:srgbClr val="FCD34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"One product domain, two technically distinct modules, one coherent engineering story."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99367" y="2364743"/>
            <a:ext cx="4048763" cy="7523483"/>
            <a:chOff x="0" y="0"/>
            <a:chExt cx="5398351" cy="100313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5364480" cy="9997440"/>
            </a:xfrm>
            <a:custGeom>
              <a:avLst/>
              <a:gdLst/>
              <a:ahLst/>
              <a:cxnLst/>
              <a:rect r="r" b="b" t="t" l="l"/>
              <a:pathLst>
                <a:path h="9997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398262" cy="10031222"/>
            </a:xfrm>
            <a:custGeom>
              <a:avLst/>
              <a:gdLst/>
              <a:ahLst/>
              <a:cxnLst/>
              <a:rect r="r" b="b" t="t" l="l"/>
              <a:pathLst>
                <a:path h="1003122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10014331"/>
                  </a:lnTo>
                  <a:cubicBezTo>
                    <a:pt x="5398262" y="10023729"/>
                    <a:pt x="5390642" y="10031222"/>
                    <a:pt x="5381371" y="10031222"/>
                  </a:cubicBezTo>
                  <a:lnTo>
                    <a:pt x="16891" y="10031222"/>
                  </a:lnTo>
                  <a:cubicBezTo>
                    <a:pt x="7493" y="10031222"/>
                    <a:pt x="0" y="10023602"/>
                    <a:pt x="0" y="10014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014331"/>
                  </a:lnTo>
                  <a:lnTo>
                    <a:pt x="16891" y="10014331"/>
                  </a:lnTo>
                  <a:lnTo>
                    <a:pt x="16891" y="9997440"/>
                  </a:lnTo>
                  <a:lnTo>
                    <a:pt x="5381371" y="9997440"/>
                  </a:lnTo>
                  <a:lnTo>
                    <a:pt x="5381371" y="10014331"/>
                  </a:lnTo>
                  <a:lnTo>
                    <a:pt x="5364480" y="1001433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99367" y="2364743"/>
            <a:ext cx="4048763" cy="244859"/>
            <a:chOff x="0" y="0"/>
            <a:chExt cx="5398351" cy="32647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5364480" cy="292608"/>
            </a:xfrm>
            <a:custGeom>
              <a:avLst/>
              <a:gdLst/>
              <a:ahLst/>
              <a:cxnLst/>
              <a:rect r="r" b="b" t="t" l="l"/>
              <a:pathLst>
                <a:path h="29260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398262" cy="326392"/>
            </a:xfrm>
            <a:custGeom>
              <a:avLst/>
              <a:gdLst/>
              <a:ahLst/>
              <a:cxnLst/>
              <a:rect r="r" b="b" t="t" l="l"/>
              <a:pathLst>
                <a:path h="32639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309499"/>
                  </a:lnTo>
                  <a:cubicBezTo>
                    <a:pt x="5398262" y="318897"/>
                    <a:pt x="5390642" y="326390"/>
                    <a:pt x="5381371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5381371" y="292608"/>
                  </a:lnTo>
                  <a:lnTo>
                    <a:pt x="5381371" y="309499"/>
                  </a:lnTo>
                  <a:lnTo>
                    <a:pt x="5364480" y="309499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864614" y="2632710"/>
            <a:ext cx="1318260" cy="1318260"/>
            <a:chOff x="0" y="0"/>
            <a:chExt cx="1757680" cy="17576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25400" y="2540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06B6C8">
                <a:alpha val="3922"/>
              </a:srgbClr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57680" cy="1757680"/>
            </a:xfrm>
            <a:custGeom>
              <a:avLst/>
              <a:gdLst/>
              <a:ahLst/>
              <a:cxnLst/>
              <a:rect r="r" b="b" t="t" l="l"/>
              <a:pathLst>
                <a:path h="1757680" w="1757680">
                  <a:moveTo>
                    <a:pt x="0" y="878840"/>
                  </a:moveTo>
                  <a:cubicBezTo>
                    <a:pt x="0" y="393446"/>
                    <a:pt x="393446" y="0"/>
                    <a:pt x="878840" y="0"/>
                  </a:cubicBezTo>
                  <a:lnTo>
                    <a:pt x="878840" y="25400"/>
                  </a:lnTo>
                  <a:lnTo>
                    <a:pt x="878840" y="0"/>
                  </a:lnTo>
                  <a:cubicBezTo>
                    <a:pt x="1364234" y="0"/>
                    <a:pt x="1757680" y="393446"/>
                    <a:pt x="1757680" y="878840"/>
                  </a:cubicBezTo>
                  <a:cubicBezTo>
                    <a:pt x="1757680" y="1364234"/>
                    <a:pt x="1364234" y="1757680"/>
                    <a:pt x="878840" y="1757680"/>
                  </a:cubicBezTo>
                  <a:lnTo>
                    <a:pt x="878840" y="1732280"/>
                  </a:lnTo>
                  <a:lnTo>
                    <a:pt x="878840" y="1757680"/>
                  </a:lnTo>
                  <a:cubicBezTo>
                    <a:pt x="393446" y="1757680"/>
                    <a:pt x="0" y="1364234"/>
                    <a:pt x="0" y="878840"/>
                  </a:cubicBezTo>
                  <a:lnTo>
                    <a:pt x="25400" y="878840"/>
                  </a:lnTo>
                  <a:lnTo>
                    <a:pt x="46990" y="892302"/>
                  </a:lnTo>
                  <a:cubicBezTo>
                    <a:pt x="41021" y="901954"/>
                    <a:pt x="29337" y="906399"/>
                    <a:pt x="18415" y="903224"/>
                  </a:cubicBezTo>
                  <a:cubicBezTo>
                    <a:pt x="7493" y="900049"/>
                    <a:pt x="0" y="890143"/>
                    <a:pt x="0" y="878840"/>
                  </a:cubicBezTo>
                  <a:moveTo>
                    <a:pt x="50800" y="878840"/>
                  </a:moveTo>
                  <a:lnTo>
                    <a:pt x="25400" y="878840"/>
                  </a:lnTo>
                  <a:lnTo>
                    <a:pt x="3810" y="865378"/>
                  </a:lnTo>
                  <a:cubicBezTo>
                    <a:pt x="9779" y="855726"/>
                    <a:pt x="21463" y="851281"/>
                    <a:pt x="32385" y="854456"/>
                  </a:cubicBezTo>
                  <a:cubicBezTo>
                    <a:pt x="43307" y="857631"/>
                    <a:pt x="50800" y="867537"/>
                    <a:pt x="50800" y="878840"/>
                  </a:cubicBezTo>
                  <a:cubicBezTo>
                    <a:pt x="50800" y="1336167"/>
                    <a:pt x="421513" y="1706880"/>
                    <a:pt x="878840" y="1706880"/>
                  </a:cubicBezTo>
                  <a:cubicBezTo>
                    <a:pt x="1336167" y="1706880"/>
                    <a:pt x="1706880" y="1336167"/>
                    <a:pt x="1706880" y="878840"/>
                  </a:cubicBezTo>
                  <a:lnTo>
                    <a:pt x="1732280" y="878840"/>
                  </a:lnTo>
                  <a:lnTo>
                    <a:pt x="1706880" y="878840"/>
                  </a:lnTo>
                  <a:cubicBezTo>
                    <a:pt x="1706880" y="421513"/>
                    <a:pt x="1336167" y="50800"/>
                    <a:pt x="878840" y="50800"/>
                  </a:cubicBezTo>
                  <a:lnTo>
                    <a:pt x="878840" y="25400"/>
                  </a:lnTo>
                  <a:lnTo>
                    <a:pt x="878840" y="50800"/>
                  </a:lnTo>
                  <a:cubicBezTo>
                    <a:pt x="421513" y="50800"/>
                    <a:pt x="50800" y="421513"/>
                    <a:pt x="50800" y="878840"/>
                  </a:cubicBez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883664" y="2651760"/>
            <a:ext cx="1280160" cy="1280160"/>
            <a:chOff x="0" y="0"/>
            <a:chExt cx="1706880" cy="17068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1706880" cy="1773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31520" y="4114800"/>
            <a:ext cx="3621024" cy="877824"/>
            <a:chOff x="0" y="0"/>
            <a:chExt cx="4828032" cy="117043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8280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375" r="0" b="-3037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4828032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 Domain, Not a Toy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31520" y="5157216"/>
            <a:ext cx="3621024" cy="1371600"/>
            <a:chOff x="0" y="0"/>
            <a:chExt cx="4828032" cy="1828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0" r="0" b="-144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4828032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·  Uses actual BlindDrop database_export.json as seed data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31520" y="6656832"/>
            <a:ext cx="3621024" cy="1371600"/>
            <a:chOff x="0" y="0"/>
            <a:chExt cx="4828032" cy="1828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0" r="0" b="-144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4828032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·  B+ Tree indexes real vault/file/auth paths — not synthetic integers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31520" y="8156448"/>
            <a:ext cx="3621024" cy="1371600"/>
            <a:chOff x="0" y="0"/>
            <a:chExt cx="4828032" cy="1828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0" r="0" b="-144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4828032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·  RBAC maps to real credential model: MAIN token = admin, SUB token = user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851911" y="2364743"/>
            <a:ext cx="4048763" cy="7523483"/>
            <a:chOff x="0" y="0"/>
            <a:chExt cx="5398351" cy="1003131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5364480" cy="9997440"/>
            </a:xfrm>
            <a:custGeom>
              <a:avLst/>
              <a:gdLst/>
              <a:ahLst/>
              <a:cxnLst/>
              <a:rect r="r" b="b" t="t" l="l"/>
              <a:pathLst>
                <a:path h="9997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398262" cy="10031222"/>
            </a:xfrm>
            <a:custGeom>
              <a:avLst/>
              <a:gdLst/>
              <a:ahLst/>
              <a:cxnLst/>
              <a:rect r="r" b="b" t="t" l="l"/>
              <a:pathLst>
                <a:path h="1003122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10014331"/>
                  </a:lnTo>
                  <a:cubicBezTo>
                    <a:pt x="5398262" y="10023729"/>
                    <a:pt x="5390642" y="10031222"/>
                    <a:pt x="5381371" y="10031222"/>
                  </a:cubicBezTo>
                  <a:lnTo>
                    <a:pt x="16891" y="10031222"/>
                  </a:lnTo>
                  <a:cubicBezTo>
                    <a:pt x="7493" y="10031222"/>
                    <a:pt x="0" y="10023602"/>
                    <a:pt x="0" y="10014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014331"/>
                  </a:lnTo>
                  <a:lnTo>
                    <a:pt x="16891" y="10014331"/>
                  </a:lnTo>
                  <a:lnTo>
                    <a:pt x="16891" y="9997440"/>
                  </a:lnTo>
                  <a:lnTo>
                    <a:pt x="5381371" y="9997440"/>
                  </a:lnTo>
                  <a:lnTo>
                    <a:pt x="5381371" y="10014331"/>
                  </a:lnTo>
                  <a:lnTo>
                    <a:pt x="5364480" y="1001433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4851911" y="2364743"/>
            <a:ext cx="4048763" cy="244859"/>
            <a:chOff x="0" y="0"/>
            <a:chExt cx="5398351" cy="32647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5364480" cy="292608"/>
            </a:xfrm>
            <a:custGeom>
              <a:avLst/>
              <a:gdLst/>
              <a:ahLst/>
              <a:cxnLst/>
              <a:rect r="r" b="b" t="t" l="l"/>
              <a:pathLst>
                <a:path h="29260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398262" cy="326392"/>
            </a:xfrm>
            <a:custGeom>
              <a:avLst/>
              <a:gdLst/>
              <a:ahLst/>
              <a:cxnLst/>
              <a:rect r="r" b="b" t="t" l="l"/>
              <a:pathLst>
                <a:path h="32639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309499"/>
                  </a:lnTo>
                  <a:cubicBezTo>
                    <a:pt x="5398262" y="318897"/>
                    <a:pt x="5390642" y="326390"/>
                    <a:pt x="5381371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5381371" y="292608"/>
                  </a:lnTo>
                  <a:lnTo>
                    <a:pt x="5381371" y="309499"/>
                  </a:lnTo>
                  <a:lnTo>
                    <a:pt x="5364480" y="309499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217158" y="2632710"/>
            <a:ext cx="1318260" cy="1318260"/>
            <a:chOff x="0" y="0"/>
            <a:chExt cx="1757680" cy="17576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25400" y="2540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F59E0B">
                <a:alpha val="3922"/>
              </a:srgbClr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757680" cy="1757680"/>
            </a:xfrm>
            <a:custGeom>
              <a:avLst/>
              <a:gdLst/>
              <a:ahLst/>
              <a:cxnLst/>
              <a:rect r="r" b="b" t="t" l="l"/>
              <a:pathLst>
                <a:path h="1757680" w="1757680">
                  <a:moveTo>
                    <a:pt x="0" y="878840"/>
                  </a:moveTo>
                  <a:cubicBezTo>
                    <a:pt x="0" y="393446"/>
                    <a:pt x="393446" y="0"/>
                    <a:pt x="878840" y="0"/>
                  </a:cubicBezTo>
                  <a:lnTo>
                    <a:pt x="878840" y="25400"/>
                  </a:lnTo>
                  <a:lnTo>
                    <a:pt x="878840" y="0"/>
                  </a:lnTo>
                  <a:cubicBezTo>
                    <a:pt x="1364234" y="0"/>
                    <a:pt x="1757680" y="393446"/>
                    <a:pt x="1757680" y="878840"/>
                  </a:cubicBezTo>
                  <a:cubicBezTo>
                    <a:pt x="1757680" y="1364234"/>
                    <a:pt x="1364234" y="1757680"/>
                    <a:pt x="878840" y="1757680"/>
                  </a:cubicBezTo>
                  <a:lnTo>
                    <a:pt x="878840" y="1732280"/>
                  </a:lnTo>
                  <a:lnTo>
                    <a:pt x="878840" y="1757680"/>
                  </a:lnTo>
                  <a:cubicBezTo>
                    <a:pt x="393446" y="1757680"/>
                    <a:pt x="0" y="1364234"/>
                    <a:pt x="0" y="878840"/>
                  </a:cubicBezTo>
                  <a:lnTo>
                    <a:pt x="25400" y="878840"/>
                  </a:lnTo>
                  <a:lnTo>
                    <a:pt x="46990" y="892302"/>
                  </a:lnTo>
                  <a:cubicBezTo>
                    <a:pt x="41021" y="901954"/>
                    <a:pt x="29337" y="906399"/>
                    <a:pt x="18415" y="903224"/>
                  </a:cubicBezTo>
                  <a:cubicBezTo>
                    <a:pt x="7493" y="900049"/>
                    <a:pt x="0" y="890143"/>
                    <a:pt x="0" y="878840"/>
                  </a:cubicBezTo>
                  <a:moveTo>
                    <a:pt x="50800" y="878840"/>
                  </a:moveTo>
                  <a:lnTo>
                    <a:pt x="25400" y="878840"/>
                  </a:lnTo>
                  <a:lnTo>
                    <a:pt x="3810" y="865378"/>
                  </a:lnTo>
                  <a:cubicBezTo>
                    <a:pt x="9779" y="855726"/>
                    <a:pt x="21463" y="851281"/>
                    <a:pt x="32385" y="854456"/>
                  </a:cubicBezTo>
                  <a:cubicBezTo>
                    <a:pt x="43307" y="857631"/>
                    <a:pt x="50800" y="867537"/>
                    <a:pt x="50800" y="878840"/>
                  </a:cubicBezTo>
                  <a:cubicBezTo>
                    <a:pt x="50800" y="1336167"/>
                    <a:pt x="421513" y="1706880"/>
                    <a:pt x="878840" y="1706880"/>
                  </a:cubicBezTo>
                  <a:cubicBezTo>
                    <a:pt x="1336167" y="1706880"/>
                    <a:pt x="1706880" y="1336167"/>
                    <a:pt x="1706880" y="878840"/>
                  </a:cubicBezTo>
                  <a:lnTo>
                    <a:pt x="1732280" y="878840"/>
                  </a:lnTo>
                  <a:lnTo>
                    <a:pt x="1706880" y="878840"/>
                  </a:lnTo>
                  <a:cubicBezTo>
                    <a:pt x="1706880" y="421513"/>
                    <a:pt x="1336167" y="50800"/>
                    <a:pt x="878840" y="50800"/>
                  </a:cubicBezTo>
                  <a:lnTo>
                    <a:pt x="878840" y="25400"/>
                  </a:lnTo>
                  <a:lnTo>
                    <a:pt x="878840" y="50800"/>
                  </a:lnTo>
                  <a:cubicBezTo>
                    <a:pt x="421513" y="50800"/>
                    <a:pt x="50800" y="421513"/>
                    <a:pt x="50800" y="878840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236208" y="2651760"/>
            <a:ext cx="1280160" cy="1280160"/>
            <a:chOff x="0" y="0"/>
            <a:chExt cx="1706880" cy="17068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66675"/>
              <a:ext cx="1706880" cy="1773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084064" y="4114800"/>
            <a:ext cx="3621024" cy="877824"/>
            <a:chOff x="0" y="0"/>
            <a:chExt cx="4828032" cy="117043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8280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375" r="0" b="-3037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4828032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Defensible Engineering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084064" y="5157216"/>
            <a:ext cx="3621024" cy="1371600"/>
            <a:chOff x="0" y="0"/>
            <a:chExt cx="4828032" cy="1828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0" r="0" b="-144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4828032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·  Parity proof verifies B+ Tree == DB-authoritative at every commit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5084064" y="6656832"/>
            <a:ext cx="3621024" cy="1371600"/>
            <a:chOff x="0" y="0"/>
            <a:chExt cx="4828032" cy="1828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0" r="0" b="-144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4828032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·  Rollback prevents partial visibility on index mutation failure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5084064" y="8156448"/>
            <a:ext cx="3621024" cy="1371600"/>
            <a:chOff x="0" y="0"/>
            <a:chExt cx="4828032" cy="1828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0" r="0" b="-144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4828032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·  All benchmark claims backed by reproducible JSON + PNG evidence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204455" y="2364743"/>
            <a:ext cx="4048763" cy="7523483"/>
            <a:chOff x="0" y="0"/>
            <a:chExt cx="5398351" cy="1003131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5364480" cy="9997440"/>
            </a:xfrm>
            <a:custGeom>
              <a:avLst/>
              <a:gdLst/>
              <a:ahLst/>
              <a:cxnLst/>
              <a:rect r="r" b="b" t="t" l="l"/>
              <a:pathLst>
                <a:path h="9997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398262" cy="10031222"/>
            </a:xfrm>
            <a:custGeom>
              <a:avLst/>
              <a:gdLst/>
              <a:ahLst/>
              <a:cxnLst/>
              <a:rect r="r" b="b" t="t" l="l"/>
              <a:pathLst>
                <a:path h="1003122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10014331"/>
                  </a:lnTo>
                  <a:cubicBezTo>
                    <a:pt x="5398262" y="10023729"/>
                    <a:pt x="5390642" y="10031222"/>
                    <a:pt x="5381371" y="10031222"/>
                  </a:cubicBezTo>
                  <a:lnTo>
                    <a:pt x="16891" y="10031222"/>
                  </a:lnTo>
                  <a:cubicBezTo>
                    <a:pt x="7493" y="10031222"/>
                    <a:pt x="0" y="10023602"/>
                    <a:pt x="0" y="10014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014331"/>
                  </a:lnTo>
                  <a:lnTo>
                    <a:pt x="16891" y="10014331"/>
                  </a:lnTo>
                  <a:lnTo>
                    <a:pt x="16891" y="9997440"/>
                  </a:lnTo>
                  <a:lnTo>
                    <a:pt x="5381371" y="9997440"/>
                  </a:lnTo>
                  <a:lnTo>
                    <a:pt x="5381371" y="10014331"/>
                  </a:lnTo>
                  <a:lnTo>
                    <a:pt x="5364480" y="1001433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204455" y="2364743"/>
            <a:ext cx="4048763" cy="244859"/>
            <a:chOff x="0" y="0"/>
            <a:chExt cx="5398351" cy="32647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5364480" cy="292608"/>
            </a:xfrm>
            <a:custGeom>
              <a:avLst/>
              <a:gdLst/>
              <a:ahLst/>
              <a:cxnLst/>
              <a:rect r="r" b="b" t="t" l="l"/>
              <a:pathLst>
                <a:path h="29260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398262" cy="326392"/>
            </a:xfrm>
            <a:custGeom>
              <a:avLst/>
              <a:gdLst/>
              <a:ahLst/>
              <a:cxnLst/>
              <a:rect r="r" b="b" t="t" l="l"/>
              <a:pathLst>
                <a:path h="32639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309499"/>
                  </a:lnTo>
                  <a:cubicBezTo>
                    <a:pt x="5398262" y="318897"/>
                    <a:pt x="5390642" y="326390"/>
                    <a:pt x="5381371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5381371" y="292608"/>
                  </a:lnTo>
                  <a:lnTo>
                    <a:pt x="5381371" y="309499"/>
                  </a:lnTo>
                  <a:lnTo>
                    <a:pt x="5364480" y="309499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0569702" y="2632710"/>
            <a:ext cx="1318260" cy="1318260"/>
            <a:chOff x="0" y="0"/>
            <a:chExt cx="1757680" cy="175768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25400" y="2540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F97316">
                <a:alpha val="3922"/>
              </a:srgbClr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757680" cy="1757680"/>
            </a:xfrm>
            <a:custGeom>
              <a:avLst/>
              <a:gdLst/>
              <a:ahLst/>
              <a:cxnLst/>
              <a:rect r="r" b="b" t="t" l="l"/>
              <a:pathLst>
                <a:path h="1757680" w="1757680">
                  <a:moveTo>
                    <a:pt x="0" y="878840"/>
                  </a:moveTo>
                  <a:cubicBezTo>
                    <a:pt x="0" y="393446"/>
                    <a:pt x="393446" y="0"/>
                    <a:pt x="878840" y="0"/>
                  </a:cubicBezTo>
                  <a:lnTo>
                    <a:pt x="878840" y="25400"/>
                  </a:lnTo>
                  <a:lnTo>
                    <a:pt x="878840" y="0"/>
                  </a:lnTo>
                  <a:cubicBezTo>
                    <a:pt x="1364234" y="0"/>
                    <a:pt x="1757680" y="393446"/>
                    <a:pt x="1757680" y="878840"/>
                  </a:cubicBezTo>
                  <a:cubicBezTo>
                    <a:pt x="1757680" y="1364234"/>
                    <a:pt x="1364234" y="1757680"/>
                    <a:pt x="878840" y="1757680"/>
                  </a:cubicBezTo>
                  <a:lnTo>
                    <a:pt x="878840" y="1732280"/>
                  </a:lnTo>
                  <a:lnTo>
                    <a:pt x="878840" y="1757680"/>
                  </a:lnTo>
                  <a:cubicBezTo>
                    <a:pt x="393446" y="1757680"/>
                    <a:pt x="0" y="1364234"/>
                    <a:pt x="0" y="878840"/>
                  </a:cubicBezTo>
                  <a:lnTo>
                    <a:pt x="25400" y="878840"/>
                  </a:lnTo>
                  <a:lnTo>
                    <a:pt x="46990" y="892302"/>
                  </a:lnTo>
                  <a:cubicBezTo>
                    <a:pt x="41021" y="901954"/>
                    <a:pt x="29337" y="906399"/>
                    <a:pt x="18415" y="903224"/>
                  </a:cubicBezTo>
                  <a:cubicBezTo>
                    <a:pt x="7493" y="900049"/>
                    <a:pt x="0" y="890143"/>
                    <a:pt x="0" y="878840"/>
                  </a:cubicBezTo>
                  <a:moveTo>
                    <a:pt x="50800" y="878840"/>
                  </a:moveTo>
                  <a:lnTo>
                    <a:pt x="25400" y="878840"/>
                  </a:lnTo>
                  <a:lnTo>
                    <a:pt x="3810" y="865378"/>
                  </a:lnTo>
                  <a:cubicBezTo>
                    <a:pt x="9779" y="855726"/>
                    <a:pt x="21463" y="851281"/>
                    <a:pt x="32385" y="854456"/>
                  </a:cubicBezTo>
                  <a:cubicBezTo>
                    <a:pt x="43307" y="857631"/>
                    <a:pt x="50800" y="867537"/>
                    <a:pt x="50800" y="878840"/>
                  </a:cubicBezTo>
                  <a:cubicBezTo>
                    <a:pt x="50800" y="1336167"/>
                    <a:pt x="421513" y="1706880"/>
                    <a:pt x="878840" y="1706880"/>
                  </a:cubicBezTo>
                  <a:cubicBezTo>
                    <a:pt x="1336167" y="1706880"/>
                    <a:pt x="1706880" y="1336167"/>
                    <a:pt x="1706880" y="878840"/>
                  </a:cubicBezTo>
                  <a:lnTo>
                    <a:pt x="1732280" y="878840"/>
                  </a:lnTo>
                  <a:lnTo>
                    <a:pt x="1706880" y="878840"/>
                  </a:lnTo>
                  <a:cubicBezTo>
                    <a:pt x="1706880" y="421513"/>
                    <a:pt x="1336167" y="50800"/>
                    <a:pt x="878840" y="50800"/>
                  </a:cubicBezTo>
                  <a:lnTo>
                    <a:pt x="878840" y="25400"/>
                  </a:lnTo>
                  <a:lnTo>
                    <a:pt x="878840" y="50800"/>
                  </a:lnTo>
                  <a:cubicBezTo>
                    <a:pt x="421513" y="50800"/>
                    <a:pt x="50800" y="421513"/>
                    <a:pt x="50800" y="878840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0588752" y="2651760"/>
            <a:ext cx="1280160" cy="1280160"/>
            <a:chOff x="0" y="0"/>
            <a:chExt cx="1706880" cy="170688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66675"/>
              <a:ext cx="1706880" cy="1773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436608" y="4114800"/>
            <a:ext cx="3621024" cy="877824"/>
            <a:chOff x="0" y="0"/>
            <a:chExt cx="4828032" cy="117043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8280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375" r="0" b="-30375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4828032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Evaluator-Ready Evidence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436608" y="5157216"/>
            <a:ext cx="3621024" cy="1371600"/>
            <a:chOff x="0" y="0"/>
            <a:chExt cx="4828032" cy="18288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0" r="0" b="-144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4828032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·  13 API capture files, tamper before/after proof, audit log snapshot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436608" y="6656832"/>
            <a:ext cx="3621024" cy="1371600"/>
            <a:chOff x="0" y="0"/>
            <a:chExt cx="4828032" cy="18288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0" r="0" b="-144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4828032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·  19 rendered B+ Tree PNGs + render_manifest.json for every index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436608" y="8156448"/>
            <a:ext cx="3621024" cy="1371600"/>
            <a:chOff x="0" y="0"/>
            <a:chExt cx="4828032" cy="18288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0" r="0" b="-144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4828032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·  Notebook reports (report.ipynb) for both modules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3556999" y="2364743"/>
            <a:ext cx="4048763" cy="7523483"/>
            <a:chOff x="0" y="0"/>
            <a:chExt cx="5398351" cy="10031311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5364480" cy="9997440"/>
            </a:xfrm>
            <a:custGeom>
              <a:avLst/>
              <a:gdLst/>
              <a:ahLst/>
              <a:cxnLst/>
              <a:rect r="r" b="b" t="t" l="l"/>
              <a:pathLst>
                <a:path h="9997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5398262" cy="10031222"/>
            </a:xfrm>
            <a:custGeom>
              <a:avLst/>
              <a:gdLst/>
              <a:ahLst/>
              <a:cxnLst/>
              <a:rect r="r" b="b" t="t" l="l"/>
              <a:pathLst>
                <a:path h="1003122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10014331"/>
                  </a:lnTo>
                  <a:cubicBezTo>
                    <a:pt x="5398262" y="10023729"/>
                    <a:pt x="5390642" y="10031222"/>
                    <a:pt x="5381371" y="10031222"/>
                  </a:cubicBezTo>
                  <a:lnTo>
                    <a:pt x="16891" y="10031222"/>
                  </a:lnTo>
                  <a:cubicBezTo>
                    <a:pt x="7493" y="10031222"/>
                    <a:pt x="0" y="10023602"/>
                    <a:pt x="0" y="10014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014331"/>
                  </a:lnTo>
                  <a:lnTo>
                    <a:pt x="16891" y="10014331"/>
                  </a:lnTo>
                  <a:lnTo>
                    <a:pt x="16891" y="9997440"/>
                  </a:lnTo>
                  <a:lnTo>
                    <a:pt x="5381371" y="9997440"/>
                  </a:lnTo>
                  <a:lnTo>
                    <a:pt x="5381371" y="10014331"/>
                  </a:lnTo>
                  <a:lnTo>
                    <a:pt x="5364480" y="1001433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3556999" y="2364743"/>
            <a:ext cx="4048763" cy="244859"/>
            <a:chOff x="0" y="0"/>
            <a:chExt cx="5398351" cy="326479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5364480" cy="292608"/>
            </a:xfrm>
            <a:custGeom>
              <a:avLst/>
              <a:gdLst/>
              <a:ahLst/>
              <a:cxnLst/>
              <a:rect r="r" b="b" t="t" l="l"/>
              <a:pathLst>
                <a:path h="29260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398262" cy="326392"/>
            </a:xfrm>
            <a:custGeom>
              <a:avLst/>
              <a:gdLst/>
              <a:ahLst/>
              <a:cxnLst/>
              <a:rect r="r" b="b" t="t" l="l"/>
              <a:pathLst>
                <a:path h="32639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309499"/>
                  </a:lnTo>
                  <a:cubicBezTo>
                    <a:pt x="5398262" y="318897"/>
                    <a:pt x="5390642" y="326390"/>
                    <a:pt x="5381371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5381371" y="292608"/>
                  </a:lnTo>
                  <a:lnTo>
                    <a:pt x="5381371" y="309499"/>
                  </a:lnTo>
                  <a:lnTo>
                    <a:pt x="5364480" y="309499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4922246" y="2632710"/>
            <a:ext cx="1318260" cy="1318260"/>
            <a:chOff x="0" y="0"/>
            <a:chExt cx="1757680" cy="175768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25400" y="2540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22C55E">
                <a:alpha val="3922"/>
              </a:srgbClr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757680" cy="1757680"/>
            </a:xfrm>
            <a:custGeom>
              <a:avLst/>
              <a:gdLst/>
              <a:ahLst/>
              <a:cxnLst/>
              <a:rect r="r" b="b" t="t" l="l"/>
              <a:pathLst>
                <a:path h="1757680" w="1757680">
                  <a:moveTo>
                    <a:pt x="0" y="878840"/>
                  </a:moveTo>
                  <a:cubicBezTo>
                    <a:pt x="0" y="393446"/>
                    <a:pt x="393446" y="0"/>
                    <a:pt x="878840" y="0"/>
                  </a:cubicBezTo>
                  <a:lnTo>
                    <a:pt x="878840" y="25400"/>
                  </a:lnTo>
                  <a:lnTo>
                    <a:pt x="878840" y="0"/>
                  </a:lnTo>
                  <a:cubicBezTo>
                    <a:pt x="1364234" y="0"/>
                    <a:pt x="1757680" y="393446"/>
                    <a:pt x="1757680" y="878840"/>
                  </a:cubicBezTo>
                  <a:cubicBezTo>
                    <a:pt x="1757680" y="1364234"/>
                    <a:pt x="1364234" y="1757680"/>
                    <a:pt x="878840" y="1757680"/>
                  </a:cubicBezTo>
                  <a:lnTo>
                    <a:pt x="878840" y="1732280"/>
                  </a:lnTo>
                  <a:lnTo>
                    <a:pt x="878840" y="1757680"/>
                  </a:lnTo>
                  <a:cubicBezTo>
                    <a:pt x="393446" y="1757680"/>
                    <a:pt x="0" y="1364234"/>
                    <a:pt x="0" y="878840"/>
                  </a:cubicBezTo>
                  <a:lnTo>
                    <a:pt x="25400" y="878840"/>
                  </a:lnTo>
                  <a:lnTo>
                    <a:pt x="46990" y="892302"/>
                  </a:lnTo>
                  <a:cubicBezTo>
                    <a:pt x="41021" y="901954"/>
                    <a:pt x="29337" y="906399"/>
                    <a:pt x="18415" y="903224"/>
                  </a:cubicBezTo>
                  <a:cubicBezTo>
                    <a:pt x="7493" y="900049"/>
                    <a:pt x="0" y="890143"/>
                    <a:pt x="0" y="878840"/>
                  </a:cubicBezTo>
                  <a:moveTo>
                    <a:pt x="50800" y="878840"/>
                  </a:moveTo>
                  <a:lnTo>
                    <a:pt x="25400" y="878840"/>
                  </a:lnTo>
                  <a:lnTo>
                    <a:pt x="3810" y="865378"/>
                  </a:lnTo>
                  <a:cubicBezTo>
                    <a:pt x="9779" y="855726"/>
                    <a:pt x="21463" y="851281"/>
                    <a:pt x="32385" y="854456"/>
                  </a:cubicBezTo>
                  <a:cubicBezTo>
                    <a:pt x="43307" y="857631"/>
                    <a:pt x="50800" y="867537"/>
                    <a:pt x="50800" y="878840"/>
                  </a:cubicBezTo>
                  <a:cubicBezTo>
                    <a:pt x="50800" y="1336167"/>
                    <a:pt x="421513" y="1706880"/>
                    <a:pt x="878840" y="1706880"/>
                  </a:cubicBezTo>
                  <a:cubicBezTo>
                    <a:pt x="1336167" y="1706880"/>
                    <a:pt x="1706880" y="1336167"/>
                    <a:pt x="1706880" y="878840"/>
                  </a:cubicBezTo>
                  <a:lnTo>
                    <a:pt x="1732280" y="878840"/>
                  </a:lnTo>
                  <a:lnTo>
                    <a:pt x="1706880" y="878840"/>
                  </a:lnTo>
                  <a:cubicBezTo>
                    <a:pt x="1706880" y="421513"/>
                    <a:pt x="1336167" y="50800"/>
                    <a:pt x="878840" y="50800"/>
                  </a:cubicBezTo>
                  <a:lnTo>
                    <a:pt x="878840" y="25400"/>
                  </a:lnTo>
                  <a:lnTo>
                    <a:pt x="878840" y="50800"/>
                  </a:lnTo>
                  <a:cubicBezTo>
                    <a:pt x="421513" y="50800"/>
                    <a:pt x="50800" y="421513"/>
                    <a:pt x="50800" y="878840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4941296" y="2651760"/>
            <a:ext cx="1280160" cy="1280160"/>
            <a:chOff x="0" y="0"/>
            <a:chExt cx="1706880" cy="170688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66675"/>
              <a:ext cx="1706880" cy="1773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3789152" y="4114800"/>
            <a:ext cx="3621024" cy="877824"/>
            <a:chOff x="0" y="0"/>
            <a:chExt cx="4828032" cy="117043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8280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375" r="0" b="-30375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47625"/>
              <a:ext cx="4828032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Security-First Design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3789152" y="5157216"/>
            <a:ext cx="3621024" cy="1371600"/>
            <a:chOff x="0" y="0"/>
            <a:chExt cx="4828032" cy="182880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0" r="0" b="-144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47625"/>
              <a:ext cx="4828032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·  PBKDF2-SHA256 + salt for token hashing — not plaintext comparison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3789152" y="6656832"/>
            <a:ext cx="3621024" cy="1371600"/>
            <a:chOff x="0" y="0"/>
            <a:chExt cx="4828032" cy="182880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0" r="0" b="-144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47625"/>
              <a:ext cx="4828032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·  Separate token_lookup_hash enables indexed pre-filter safely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3789152" y="8156448"/>
            <a:ext cx="3621024" cy="1371600"/>
            <a:chOff x="0" y="0"/>
            <a:chExt cx="4828032" cy="182880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0" r="0" b="-144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47625"/>
              <a:ext cx="4828032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·  Chained audit log — each entry hashes previous, forming tamper-evident chain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8283"/>
            <a:chOff x="0" y="0"/>
            <a:chExt cx="24417871" cy="2777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2DD4B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7624"/>
            </a:xfrm>
            <a:custGeom>
              <a:avLst/>
              <a:gdLst/>
              <a:ahLst/>
              <a:cxnLst/>
              <a:rect r="r" b="b" t="t" l="l"/>
              <a:pathLst>
                <a:path h="27762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0731"/>
                  </a:lnTo>
                  <a:cubicBezTo>
                    <a:pt x="24417782" y="270129"/>
                    <a:pt x="24410163" y="277622"/>
                    <a:pt x="2440089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4400890" y="243840"/>
                  </a:lnTo>
                  <a:lnTo>
                    <a:pt x="24400890" y="260731"/>
                  </a:lnTo>
                  <a:lnTo>
                    <a:pt x="24384000" y="2607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2064" y="274320"/>
            <a:ext cx="17373600" cy="914400"/>
            <a:chOff x="0" y="0"/>
            <a:chExt cx="2316480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64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31648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Core &amp; Advanced Features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99367" y="1413767"/>
            <a:ext cx="4085339" cy="8675627"/>
            <a:chOff x="0" y="0"/>
            <a:chExt cx="5447119" cy="115675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5413248" cy="11533632"/>
            </a:xfrm>
            <a:custGeom>
              <a:avLst/>
              <a:gdLst/>
              <a:ahLst/>
              <a:cxnLst/>
              <a:rect r="r" b="b" t="t" l="l"/>
              <a:pathLst>
                <a:path h="11533632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1533632"/>
                  </a:lnTo>
                  <a:lnTo>
                    <a:pt x="0" y="11533632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47030" cy="11567414"/>
            </a:xfrm>
            <a:custGeom>
              <a:avLst/>
              <a:gdLst/>
              <a:ahLst/>
              <a:cxnLst/>
              <a:rect r="r" b="b" t="t" l="l"/>
              <a:pathLst>
                <a:path h="11567414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11550523"/>
                  </a:lnTo>
                  <a:cubicBezTo>
                    <a:pt x="5447030" y="11559921"/>
                    <a:pt x="5439410" y="11567414"/>
                    <a:pt x="5430139" y="11567414"/>
                  </a:cubicBezTo>
                  <a:lnTo>
                    <a:pt x="16891" y="11567414"/>
                  </a:lnTo>
                  <a:cubicBezTo>
                    <a:pt x="7493" y="11567414"/>
                    <a:pt x="0" y="11559794"/>
                    <a:pt x="0" y="115505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550523"/>
                  </a:lnTo>
                  <a:lnTo>
                    <a:pt x="16891" y="11550523"/>
                  </a:lnTo>
                  <a:lnTo>
                    <a:pt x="16891" y="11533632"/>
                  </a:lnTo>
                  <a:lnTo>
                    <a:pt x="5430139" y="11533632"/>
                  </a:lnTo>
                  <a:lnTo>
                    <a:pt x="5430139" y="11550523"/>
                  </a:lnTo>
                  <a:lnTo>
                    <a:pt x="5413248" y="11550523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99367" y="1413767"/>
            <a:ext cx="4085339" cy="720347"/>
            <a:chOff x="0" y="0"/>
            <a:chExt cx="5447119" cy="96046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5413248" cy="926592"/>
            </a:xfrm>
            <a:custGeom>
              <a:avLst/>
              <a:gdLst/>
              <a:ahLst/>
              <a:cxnLst/>
              <a:rect r="r" b="b" t="t" l="l"/>
              <a:pathLst>
                <a:path h="926592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6B6C8">
                <a:alpha val="5882"/>
              </a:srgbClr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47030" cy="960376"/>
            </a:xfrm>
            <a:custGeom>
              <a:avLst/>
              <a:gdLst/>
              <a:ahLst/>
              <a:cxnLst/>
              <a:rect r="r" b="b" t="t" l="l"/>
              <a:pathLst>
                <a:path h="960376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943483"/>
                  </a:lnTo>
                  <a:cubicBezTo>
                    <a:pt x="5447030" y="952881"/>
                    <a:pt x="5439410" y="960374"/>
                    <a:pt x="5430139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5430139" y="926592"/>
                  </a:lnTo>
                  <a:lnTo>
                    <a:pt x="5430139" y="943483"/>
                  </a:lnTo>
                  <a:lnTo>
                    <a:pt x="5413248" y="943483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94944" y="1499616"/>
            <a:ext cx="3694176" cy="548640"/>
            <a:chOff x="0" y="0"/>
            <a:chExt cx="4925568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925568" cy="731520"/>
            </a:xfrm>
            <a:custGeom>
              <a:avLst/>
              <a:gdLst/>
              <a:ahLst/>
              <a:cxnLst/>
              <a:rect r="r" b="b" t="t" l="l"/>
              <a:pathLst>
                <a:path h="731520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199" r="0" b="-8119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92556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Product Core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25167" y="2261359"/>
            <a:ext cx="3633721" cy="1384297"/>
            <a:chOff x="0" y="0"/>
            <a:chExt cx="4844961" cy="184572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8509" y="8509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845050" cy="1845818"/>
            </a:xfrm>
            <a:custGeom>
              <a:avLst/>
              <a:gdLst/>
              <a:ahLst/>
              <a:cxnLst/>
              <a:rect r="r" b="b" t="t" l="l"/>
              <a:pathLst>
                <a:path h="1845818" w="4845050">
                  <a:moveTo>
                    <a:pt x="8509" y="0"/>
                  </a:moveTo>
                  <a:lnTo>
                    <a:pt x="4836541" y="0"/>
                  </a:lnTo>
                  <a:cubicBezTo>
                    <a:pt x="4841240" y="0"/>
                    <a:pt x="4845050" y="3810"/>
                    <a:pt x="4845050" y="8509"/>
                  </a:cubicBezTo>
                  <a:lnTo>
                    <a:pt x="4845050" y="1837309"/>
                  </a:lnTo>
                  <a:cubicBezTo>
                    <a:pt x="4845050" y="1842008"/>
                    <a:pt x="4841240" y="1845818"/>
                    <a:pt x="4836541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836541" y="1828800"/>
                  </a:lnTo>
                  <a:lnTo>
                    <a:pt x="4836541" y="1837309"/>
                  </a:lnTo>
                  <a:lnTo>
                    <a:pt x="4828032" y="1837309"/>
                  </a:lnTo>
                  <a:lnTo>
                    <a:pt x="4828032" y="8509"/>
                  </a:lnTo>
                  <a:lnTo>
                    <a:pt x="4836541" y="8509"/>
                  </a:lnTo>
                  <a:lnTo>
                    <a:pt x="483654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6B6C8">
                <a:alpha val="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41248" y="2340864"/>
            <a:ext cx="3401568" cy="512064"/>
            <a:chOff x="0" y="0"/>
            <a:chExt cx="4535424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453542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Vault creation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41248" y="2852928"/>
            <a:ext cx="3401568" cy="694944"/>
            <a:chOff x="0" y="0"/>
            <a:chExt cx="4535424" cy="9265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535424" cy="926592"/>
            </a:xfrm>
            <a:custGeom>
              <a:avLst/>
              <a:gdLst/>
              <a:ahLst/>
              <a:cxnLst/>
              <a:rect r="r" b="b" t="t" l="l"/>
              <a:pathLst>
                <a:path h="9265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453542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Time-limited, token-gated container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25167" y="3797551"/>
            <a:ext cx="3633721" cy="1384297"/>
            <a:chOff x="0" y="0"/>
            <a:chExt cx="4844961" cy="184572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8509" y="8509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845050" cy="1845818"/>
            </a:xfrm>
            <a:custGeom>
              <a:avLst/>
              <a:gdLst/>
              <a:ahLst/>
              <a:cxnLst/>
              <a:rect r="r" b="b" t="t" l="l"/>
              <a:pathLst>
                <a:path h="1845818" w="4845050">
                  <a:moveTo>
                    <a:pt x="8509" y="0"/>
                  </a:moveTo>
                  <a:lnTo>
                    <a:pt x="4836541" y="0"/>
                  </a:lnTo>
                  <a:cubicBezTo>
                    <a:pt x="4841240" y="0"/>
                    <a:pt x="4845050" y="3810"/>
                    <a:pt x="4845050" y="8509"/>
                  </a:cubicBezTo>
                  <a:lnTo>
                    <a:pt x="4845050" y="1837309"/>
                  </a:lnTo>
                  <a:cubicBezTo>
                    <a:pt x="4845050" y="1842008"/>
                    <a:pt x="4841240" y="1845818"/>
                    <a:pt x="4836541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836541" y="1828800"/>
                  </a:lnTo>
                  <a:lnTo>
                    <a:pt x="4836541" y="1837309"/>
                  </a:lnTo>
                  <a:lnTo>
                    <a:pt x="4828032" y="1837309"/>
                  </a:lnTo>
                  <a:lnTo>
                    <a:pt x="4828032" y="8509"/>
                  </a:lnTo>
                  <a:lnTo>
                    <a:pt x="4836541" y="8509"/>
                  </a:lnTo>
                  <a:lnTo>
                    <a:pt x="483654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6B6C8">
                <a:alpha val="8627"/>
              </a:srgbClr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41248" y="3877056"/>
            <a:ext cx="3401568" cy="512064"/>
            <a:chOff x="0" y="0"/>
            <a:chExt cx="4535424" cy="68275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453542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File upload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41248" y="4389120"/>
            <a:ext cx="3401568" cy="694944"/>
            <a:chOff x="0" y="0"/>
            <a:chExt cx="4535424" cy="92659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535424" cy="926592"/>
            </a:xfrm>
            <a:custGeom>
              <a:avLst/>
              <a:gdLst/>
              <a:ahLst/>
              <a:cxnLst/>
              <a:rect r="r" b="b" t="t" l="l"/>
              <a:pathLst>
                <a:path h="9265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453542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Google Drive blob + DB metadata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25167" y="5333743"/>
            <a:ext cx="3633721" cy="1384297"/>
            <a:chOff x="0" y="0"/>
            <a:chExt cx="4844961" cy="184572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8509" y="8509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845050" cy="1845818"/>
            </a:xfrm>
            <a:custGeom>
              <a:avLst/>
              <a:gdLst/>
              <a:ahLst/>
              <a:cxnLst/>
              <a:rect r="r" b="b" t="t" l="l"/>
              <a:pathLst>
                <a:path h="1845818" w="4845050">
                  <a:moveTo>
                    <a:pt x="8509" y="0"/>
                  </a:moveTo>
                  <a:lnTo>
                    <a:pt x="4836541" y="0"/>
                  </a:lnTo>
                  <a:cubicBezTo>
                    <a:pt x="4841240" y="0"/>
                    <a:pt x="4845050" y="3810"/>
                    <a:pt x="4845050" y="8509"/>
                  </a:cubicBezTo>
                  <a:lnTo>
                    <a:pt x="4845050" y="1837309"/>
                  </a:lnTo>
                  <a:cubicBezTo>
                    <a:pt x="4845050" y="1842008"/>
                    <a:pt x="4841240" y="1845818"/>
                    <a:pt x="4836541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836541" y="1828800"/>
                  </a:lnTo>
                  <a:lnTo>
                    <a:pt x="4836541" y="1837309"/>
                  </a:lnTo>
                  <a:lnTo>
                    <a:pt x="4828032" y="1837309"/>
                  </a:lnTo>
                  <a:lnTo>
                    <a:pt x="4828032" y="8509"/>
                  </a:lnTo>
                  <a:lnTo>
                    <a:pt x="4836541" y="8509"/>
                  </a:lnTo>
                  <a:lnTo>
                    <a:pt x="483654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6B6C8">
                <a:alpha val="8627"/>
              </a:srgbClr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41248" y="5413248"/>
            <a:ext cx="3401568" cy="512064"/>
            <a:chOff x="0" y="0"/>
            <a:chExt cx="4535424" cy="6827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453542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Token-based access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41248" y="5925312"/>
            <a:ext cx="3401568" cy="694944"/>
            <a:chOff x="0" y="0"/>
            <a:chExt cx="4535424" cy="92659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535424" cy="926592"/>
            </a:xfrm>
            <a:custGeom>
              <a:avLst/>
              <a:gdLst/>
              <a:ahLst/>
              <a:cxnLst/>
              <a:rect r="r" b="b" t="t" l="l"/>
              <a:pathLst>
                <a:path h="9265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453542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Outer + Inner token pair per vault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25167" y="6869935"/>
            <a:ext cx="3633721" cy="1384297"/>
            <a:chOff x="0" y="0"/>
            <a:chExt cx="4844961" cy="184572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8509" y="8509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845050" cy="1845818"/>
            </a:xfrm>
            <a:custGeom>
              <a:avLst/>
              <a:gdLst/>
              <a:ahLst/>
              <a:cxnLst/>
              <a:rect r="r" b="b" t="t" l="l"/>
              <a:pathLst>
                <a:path h="1845818" w="4845050">
                  <a:moveTo>
                    <a:pt x="8509" y="0"/>
                  </a:moveTo>
                  <a:lnTo>
                    <a:pt x="4836541" y="0"/>
                  </a:lnTo>
                  <a:cubicBezTo>
                    <a:pt x="4841240" y="0"/>
                    <a:pt x="4845050" y="3810"/>
                    <a:pt x="4845050" y="8509"/>
                  </a:cubicBezTo>
                  <a:lnTo>
                    <a:pt x="4845050" y="1837309"/>
                  </a:lnTo>
                  <a:cubicBezTo>
                    <a:pt x="4845050" y="1842008"/>
                    <a:pt x="4841240" y="1845818"/>
                    <a:pt x="4836541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836541" y="1828800"/>
                  </a:lnTo>
                  <a:lnTo>
                    <a:pt x="4836541" y="1837309"/>
                  </a:lnTo>
                  <a:lnTo>
                    <a:pt x="4828032" y="1837309"/>
                  </a:lnTo>
                  <a:lnTo>
                    <a:pt x="4828032" y="8509"/>
                  </a:lnTo>
                  <a:lnTo>
                    <a:pt x="4836541" y="8509"/>
                  </a:lnTo>
                  <a:lnTo>
                    <a:pt x="483654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6B6C8">
                <a:alpha val="8627"/>
              </a:srgbClr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841248" y="6949440"/>
            <a:ext cx="3401568" cy="512064"/>
            <a:chOff x="0" y="0"/>
            <a:chExt cx="4535424" cy="68275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453542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One-time download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41248" y="7461504"/>
            <a:ext cx="3401568" cy="694944"/>
            <a:chOff x="0" y="0"/>
            <a:chExt cx="4535424" cy="92659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535424" cy="926592"/>
            </a:xfrm>
            <a:custGeom>
              <a:avLst/>
              <a:gdLst/>
              <a:ahLst/>
              <a:cxnLst/>
              <a:rect r="r" b="b" t="t" l="l"/>
              <a:pathLst>
                <a:path h="9265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453542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File marked consumed after SUB access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725167" y="8406127"/>
            <a:ext cx="3633721" cy="1384297"/>
            <a:chOff x="0" y="0"/>
            <a:chExt cx="4844961" cy="184572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8509" y="8509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845050" cy="1845818"/>
            </a:xfrm>
            <a:custGeom>
              <a:avLst/>
              <a:gdLst/>
              <a:ahLst/>
              <a:cxnLst/>
              <a:rect r="r" b="b" t="t" l="l"/>
              <a:pathLst>
                <a:path h="1845818" w="4845050">
                  <a:moveTo>
                    <a:pt x="8509" y="0"/>
                  </a:moveTo>
                  <a:lnTo>
                    <a:pt x="4836541" y="0"/>
                  </a:lnTo>
                  <a:cubicBezTo>
                    <a:pt x="4841240" y="0"/>
                    <a:pt x="4845050" y="3810"/>
                    <a:pt x="4845050" y="8509"/>
                  </a:cubicBezTo>
                  <a:lnTo>
                    <a:pt x="4845050" y="1837309"/>
                  </a:lnTo>
                  <a:cubicBezTo>
                    <a:pt x="4845050" y="1842008"/>
                    <a:pt x="4841240" y="1845818"/>
                    <a:pt x="4836541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836541" y="1828800"/>
                  </a:lnTo>
                  <a:lnTo>
                    <a:pt x="4836541" y="1837309"/>
                  </a:lnTo>
                  <a:lnTo>
                    <a:pt x="4828032" y="1837309"/>
                  </a:lnTo>
                  <a:lnTo>
                    <a:pt x="4828032" y="8509"/>
                  </a:lnTo>
                  <a:lnTo>
                    <a:pt x="4836541" y="8509"/>
                  </a:lnTo>
                  <a:lnTo>
                    <a:pt x="483654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6B6C8">
                <a:alpha val="8627"/>
              </a:srgbClr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841248" y="8485632"/>
            <a:ext cx="3401568" cy="512064"/>
            <a:chOff x="0" y="0"/>
            <a:chExt cx="4535424" cy="68275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453542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Expiry lifecycle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841248" y="8997696"/>
            <a:ext cx="3401568" cy="694944"/>
            <a:chOff x="0" y="0"/>
            <a:chExt cx="4535424" cy="92659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535424" cy="926592"/>
            </a:xfrm>
            <a:custGeom>
              <a:avLst/>
              <a:gdLst/>
              <a:ahLst/>
              <a:cxnLst/>
              <a:rect r="r" b="b" t="t" l="l"/>
              <a:pathLst>
                <a:path h="9265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453542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Auto-expiry jobs tracked in DB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4851911" y="1413767"/>
            <a:ext cx="4085339" cy="8675627"/>
            <a:chOff x="0" y="0"/>
            <a:chExt cx="5447119" cy="1156750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5413248" cy="11533632"/>
            </a:xfrm>
            <a:custGeom>
              <a:avLst/>
              <a:gdLst/>
              <a:ahLst/>
              <a:cxnLst/>
              <a:rect r="r" b="b" t="t" l="l"/>
              <a:pathLst>
                <a:path h="11533632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1533632"/>
                  </a:lnTo>
                  <a:lnTo>
                    <a:pt x="0" y="11533632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447030" cy="11567414"/>
            </a:xfrm>
            <a:custGeom>
              <a:avLst/>
              <a:gdLst/>
              <a:ahLst/>
              <a:cxnLst/>
              <a:rect r="r" b="b" t="t" l="l"/>
              <a:pathLst>
                <a:path h="11567414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11550523"/>
                  </a:lnTo>
                  <a:cubicBezTo>
                    <a:pt x="5447030" y="11559921"/>
                    <a:pt x="5439410" y="11567414"/>
                    <a:pt x="5430139" y="11567414"/>
                  </a:cubicBezTo>
                  <a:lnTo>
                    <a:pt x="16891" y="11567414"/>
                  </a:lnTo>
                  <a:cubicBezTo>
                    <a:pt x="7493" y="11567414"/>
                    <a:pt x="0" y="11559794"/>
                    <a:pt x="0" y="115505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550523"/>
                  </a:lnTo>
                  <a:lnTo>
                    <a:pt x="16891" y="11550523"/>
                  </a:lnTo>
                  <a:lnTo>
                    <a:pt x="16891" y="11533632"/>
                  </a:lnTo>
                  <a:lnTo>
                    <a:pt x="5430139" y="11533632"/>
                  </a:lnTo>
                  <a:lnTo>
                    <a:pt x="5430139" y="11550523"/>
                  </a:lnTo>
                  <a:lnTo>
                    <a:pt x="5413248" y="11550523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4851911" y="1413767"/>
            <a:ext cx="4085339" cy="720347"/>
            <a:chOff x="0" y="0"/>
            <a:chExt cx="5447119" cy="960463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5413248" cy="926592"/>
            </a:xfrm>
            <a:custGeom>
              <a:avLst/>
              <a:gdLst/>
              <a:ahLst/>
              <a:cxnLst/>
              <a:rect r="r" b="b" t="t" l="l"/>
              <a:pathLst>
                <a:path h="926592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59E0B">
                <a:alpha val="5882"/>
              </a:srgbClr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447030" cy="960376"/>
            </a:xfrm>
            <a:custGeom>
              <a:avLst/>
              <a:gdLst/>
              <a:ahLst/>
              <a:cxnLst/>
              <a:rect r="r" b="b" t="t" l="l"/>
              <a:pathLst>
                <a:path h="960376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943483"/>
                  </a:lnTo>
                  <a:cubicBezTo>
                    <a:pt x="5447030" y="952881"/>
                    <a:pt x="5439410" y="960374"/>
                    <a:pt x="5430139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5430139" y="926592"/>
                  </a:lnTo>
                  <a:lnTo>
                    <a:pt x="5430139" y="943483"/>
                  </a:lnTo>
                  <a:lnTo>
                    <a:pt x="5413248" y="943483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5047488" y="1499616"/>
            <a:ext cx="3694176" cy="548640"/>
            <a:chOff x="0" y="0"/>
            <a:chExt cx="4925568" cy="7315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925568" cy="731520"/>
            </a:xfrm>
            <a:custGeom>
              <a:avLst/>
              <a:gdLst/>
              <a:ahLst/>
              <a:cxnLst/>
              <a:rect r="r" b="b" t="t" l="l"/>
              <a:pathLst>
                <a:path h="731520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199" r="0" b="-81199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492556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A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5077711" y="2261359"/>
            <a:ext cx="3633721" cy="1384297"/>
            <a:chOff x="0" y="0"/>
            <a:chExt cx="4844961" cy="1845729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8509" y="8509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845050" cy="1845818"/>
            </a:xfrm>
            <a:custGeom>
              <a:avLst/>
              <a:gdLst/>
              <a:ahLst/>
              <a:cxnLst/>
              <a:rect r="r" b="b" t="t" l="l"/>
              <a:pathLst>
                <a:path h="1845818" w="4845050">
                  <a:moveTo>
                    <a:pt x="8509" y="0"/>
                  </a:moveTo>
                  <a:lnTo>
                    <a:pt x="4836541" y="0"/>
                  </a:lnTo>
                  <a:cubicBezTo>
                    <a:pt x="4841240" y="0"/>
                    <a:pt x="4845050" y="3810"/>
                    <a:pt x="4845050" y="8509"/>
                  </a:cubicBezTo>
                  <a:lnTo>
                    <a:pt x="4845050" y="1837309"/>
                  </a:lnTo>
                  <a:cubicBezTo>
                    <a:pt x="4845050" y="1842008"/>
                    <a:pt x="4841240" y="1845818"/>
                    <a:pt x="4836541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836541" y="1828800"/>
                  </a:lnTo>
                  <a:lnTo>
                    <a:pt x="4836541" y="1837309"/>
                  </a:lnTo>
                  <a:lnTo>
                    <a:pt x="4828032" y="1837309"/>
                  </a:lnTo>
                  <a:lnTo>
                    <a:pt x="4828032" y="8509"/>
                  </a:lnTo>
                  <a:lnTo>
                    <a:pt x="4836541" y="8509"/>
                  </a:lnTo>
                  <a:lnTo>
                    <a:pt x="483654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59E0B">
                <a:alpha val="8627"/>
              </a:srgbClr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5193792" y="2340864"/>
            <a:ext cx="3401568" cy="512064"/>
            <a:chOff x="0" y="0"/>
            <a:chExt cx="4535424" cy="68275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453542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Custom B+ Tree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5193792" y="2852928"/>
            <a:ext cx="3401568" cy="694944"/>
            <a:chOff x="0" y="0"/>
            <a:chExt cx="4535424" cy="92659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535424" cy="926592"/>
            </a:xfrm>
            <a:custGeom>
              <a:avLst/>
              <a:gdLst/>
              <a:ahLst/>
              <a:cxnLst/>
              <a:rect r="r" b="b" t="t" l="l"/>
              <a:pathLst>
                <a:path h="9265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453542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bplustree.py — from scratch, order-configurable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5077711" y="3797551"/>
            <a:ext cx="3633721" cy="1384297"/>
            <a:chOff x="0" y="0"/>
            <a:chExt cx="4844961" cy="1845729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8509" y="8509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845050" cy="1845818"/>
            </a:xfrm>
            <a:custGeom>
              <a:avLst/>
              <a:gdLst/>
              <a:ahLst/>
              <a:cxnLst/>
              <a:rect r="r" b="b" t="t" l="l"/>
              <a:pathLst>
                <a:path h="1845818" w="4845050">
                  <a:moveTo>
                    <a:pt x="8509" y="0"/>
                  </a:moveTo>
                  <a:lnTo>
                    <a:pt x="4836541" y="0"/>
                  </a:lnTo>
                  <a:cubicBezTo>
                    <a:pt x="4841240" y="0"/>
                    <a:pt x="4845050" y="3810"/>
                    <a:pt x="4845050" y="8509"/>
                  </a:cubicBezTo>
                  <a:lnTo>
                    <a:pt x="4845050" y="1837309"/>
                  </a:lnTo>
                  <a:cubicBezTo>
                    <a:pt x="4845050" y="1842008"/>
                    <a:pt x="4841240" y="1845818"/>
                    <a:pt x="4836541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836541" y="1828800"/>
                  </a:lnTo>
                  <a:lnTo>
                    <a:pt x="4836541" y="1837309"/>
                  </a:lnTo>
                  <a:lnTo>
                    <a:pt x="4828032" y="1837309"/>
                  </a:lnTo>
                  <a:lnTo>
                    <a:pt x="4828032" y="8509"/>
                  </a:lnTo>
                  <a:lnTo>
                    <a:pt x="4836541" y="8509"/>
                  </a:lnTo>
                  <a:lnTo>
                    <a:pt x="483654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59E0B">
                <a:alpha val="8627"/>
              </a:srgbClr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5193792" y="3877056"/>
            <a:ext cx="3401568" cy="512064"/>
            <a:chOff x="0" y="0"/>
            <a:chExt cx="4535424" cy="68275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453542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Brute-force baseline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5193792" y="4389120"/>
            <a:ext cx="3401568" cy="694944"/>
            <a:chOff x="0" y="0"/>
            <a:chExt cx="4535424" cy="92659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535424" cy="926592"/>
            </a:xfrm>
            <a:custGeom>
              <a:avLst/>
              <a:gdLst/>
              <a:ahLst/>
              <a:cxnLst/>
              <a:rect r="r" b="b" t="t" l="l"/>
              <a:pathLst>
                <a:path h="9265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453542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bruteforce.py — same API, linear list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5077711" y="5333743"/>
            <a:ext cx="3633721" cy="1384297"/>
            <a:chOff x="0" y="0"/>
            <a:chExt cx="4844961" cy="1845729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8509" y="8509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845050" cy="1845818"/>
            </a:xfrm>
            <a:custGeom>
              <a:avLst/>
              <a:gdLst/>
              <a:ahLst/>
              <a:cxnLst/>
              <a:rect r="r" b="b" t="t" l="l"/>
              <a:pathLst>
                <a:path h="1845818" w="4845050">
                  <a:moveTo>
                    <a:pt x="8509" y="0"/>
                  </a:moveTo>
                  <a:lnTo>
                    <a:pt x="4836541" y="0"/>
                  </a:lnTo>
                  <a:cubicBezTo>
                    <a:pt x="4841240" y="0"/>
                    <a:pt x="4845050" y="3810"/>
                    <a:pt x="4845050" y="8509"/>
                  </a:cubicBezTo>
                  <a:lnTo>
                    <a:pt x="4845050" y="1837309"/>
                  </a:lnTo>
                  <a:cubicBezTo>
                    <a:pt x="4845050" y="1842008"/>
                    <a:pt x="4841240" y="1845818"/>
                    <a:pt x="4836541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836541" y="1828800"/>
                  </a:lnTo>
                  <a:lnTo>
                    <a:pt x="4836541" y="1837309"/>
                  </a:lnTo>
                  <a:lnTo>
                    <a:pt x="4828032" y="1837309"/>
                  </a:lnTo>
                  <a:lnTo>
                    <a:pt x="4828032" y="8509"/>
                  </a:lnTo>
                  <a:lnTo>
                    <a:pt x="4836541" y="8509"/>
                  </a:lnTo>
                  <a:lnTo>
                    <a:pt x="483654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59E0B">
                <a:alpha val="8627"/>
              </a:srgbClr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5193792" y="5413248"/>
            <a:ext cx="3401568" cy="512064"/>
            <a:chOff x="0" y="0"/>
            <a:chExt cx="4535424" cy="68275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453542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Range queries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5193792" y="5925312"/>
            <a:ext cx="3401568" cy="694944"/>
            <a:chOff x="0" y="0"/>
            <a:chExt cx="4535424" cy="92659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535424" cy="926592"/>
            </a:xfrm>
            <a:custGeom>
              <a:avLst/>
              <a:gdLst/>
              <a:ahLst/>
              <a:cxnLst/>
              <a:rect r="r" b="b" t="t" l="l"/>
              <a:pathLst>
                <a:path h="9265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453542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O(log n+k) leaf-linked traversal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5077711" y="6869935"/>
            <a:ext cx="3633721" cy="1384297"/>
            <a:chOff x="0" y="0"/>
            <a:chExt cx="4844961" cy="1845729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8509" y="8509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4845050" cy="1845818"/>
            </a:xfrm>
            <a:custGeom>
              <a:avLst/>
              <a:gdLst/>
              <a:ahLst/>
              <a:cxnLst/>
              <a:rect r="r" b="b" t="t" l="l"/>
              <a:pathLst>
                <a:path h="1845818" w="4845050">
                  <a:moveTo>
                    <a:pt x="8509" y="0"/>
                  </a:moveTo>
                  <a:lnTo>
                    <a:pt x="4836541" y="0"/>
                  </a:lnTo>
                  <a:cubicBezTo>
                    <a:pt x="4841240" y="0"/>
                    <a:pt x="4845050" y="3810"/>
                    <a:pt x="4845050" y="8509"/>
                  </a:cubicBezTo>
                  <a:lnTo>
                    <a:pt x="4845050" y="1837309"/>
                  </a:lnTo>
                  <a:cubicBezTo>
                    <a:pt x="4845050" y="1842008"/>
                    <a:pt x="4841240" y="1845818"/>
                    <a:pt x="4836541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836541" y="1828800"/>
                  </a:lnTo>
                  <a:lnTo>
                    <a:pt x="4836541" y="1837309"/>
                  </a:lnTo>
                  <a:lnTo>
                    <a:pt x="4828032" y="1837309"/>
                  </a:lnTo>
                  <a:lnTo>
                    <a:pt x="4828032" y="8509"/>
                  </a:lnTo>
                  <a:lnTo>
                    <a:pt x="4836541" y="8509"/>
                  </a:lnTo>
                  <a:lnTo>
                    <a:pt x="483654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59E0B">
                <a:alpha val="8627"/>
              </a:srgbClr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5193792" y="6949440"/>
            <a:ext cx="3401568" cy="512064"/>
            <a:chOff x="0" y="0"/>
            <a:chExt cx="4535424" cy="68275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47625"/>
              <a:ext cx="453542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Graphviz visualizer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5193792" y="7461504"/>
            <a:ext cx="3401568" cy="694944"/>
            <a:chOff x="0" y="0"/>
            <a:chExt cx="4535424" cy="92659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4535424" cy="926592"/>
            </a:xfrm>
            <a:custGeom>
              <a:avLst/>
              <a:gdLst/>
              <a:ahLst/>
              <a:cxnLst/>
              <a:rect r="r" b="b" t="t" l="l"/>
              <a:pathLst>
                <a:path h="9265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453542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19 tree PNGs + render_manifest.json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77711" y="8406127"/>
            <a:ext cx="3633721" cy="1384297"/>
            <a:chOff x="0" y="0"/>
            <a:chExt cx="4844961" cy="1845729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8509" y="8509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4845050" cy="1845818"/>
            </a:xfrm>
            <a:custGeom>
              <a:avLst/>
              <a:gdLst/>
              <a:ahLst/>
              <a:cxnLst/>
              <a:rect r="r" b="b" t="t" l="l"/>
              <a:pathLst>
                <a:path h="1845818" w="4845050">
                  <a:moveTo>
                    <a:pt x="8509" y="0"/>
                  </a:moveTo>
                  <a:lnTo>
                    <a:pt x="4836541" y="0"/>
                  </a:lnTo>
                  <a:cubicBezTo>
                    <a:pt x="4841240" y="0"/>
                    <a:pt x="4845050" y="3810"/>
                    <a:pt x="4845050" y="8509"/>
                  </a:cubicBezTo>
                  <a:lnTo>
                    <a:pt x="4845050" y="1837309"/>
                  </a:lnTo>
                  <a:cubicBezTo>
                    <a:pt x="4845050" y="1842008"/>
                    <a:pt x="4841240" y="1845818"/>
                    <a:pt x="4836541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836541" y="1828800"/>
                  </a:lnTo>
                  <a:lnTo>
                    <a:pt x="4836541" y="1837309"/>
                  </a:lnTo>
                  <a:lnTo>
                    <a:pt x="4828032" y="1837309"/>
                  </a:lnTo>
                  <a:lnTo>
                    <a:pt x="4828032" y="8509"/>
                  </a:lnTo>
                  <a:lnTo>
                    <a:pt x="4836541" y="8509"/>
                  </a:lnTo>
                  <a:lnTo>
                    <a:pt x="483654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59E0B">
                <a:alpha val="8627"/>
              </a:srgbClr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5193792" y="8485632"/>
            <a:ext cx="3401568" cy="512064"/>
            <a:chOff x="0" y="0"/>
            <a:chExt cx="4535424" cy="682752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47625"/>
              <a:ext cx="453542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Parity validation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5193792" y="8997696"/>
            <a:ext cx="3401568" cy="694944"/>
            <a:chOff x="0" y="0"/>
            <a:chExt cx="4535424" cy="926592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4535424" cy="926592"/>
            </a:xfrm>
            <a:custGeom>
              <a:avLst/>
              <a:gdLst/>
              <a:ahLst/>
              <a:cxnLst/>
              <a:rect r="r" b="b" t="t" l="l"/>
              <a:pathLst>
                <a:path h="9265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453542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DB-authoritative + rollback proof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9204455" y="1413767"/>
            <a:ext cx="4085339" cy="8675627"/>
            <a:chOff x="0" y="0"/>
            <a:chExt cx="5447119" cy="11567503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16891" y="16891"/>
              <a:ext cx="5413248" cy="11533632"/>
            </a:xfrm>
            <a:custGeom>
              <a:avLst/>
              <a:gdLst/>
              <a:ahLst/>
              <a:cxnLst/>
              <a:rect r="r" b="b" t="t" l="l"/>
              <a:pathLst>
                <a:path h="11533632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1533632"/>
                  </a:lnTo>
                  <a:lnTo>
                    <a:pt x="0" y="11533632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5447030" cy="11567414"/>
            </a:xfrm>
            <a:custGeom>
              <a:avLst/>
              <a:gdLst/>
              <a:ahLst/>
              <a:cxnLst/>
              <a:rect r="r" b="b" t="t" l="l"/>
              <a:pathLst>
                <a:path h="11567414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11550523"/>
                  </a:lnTo>
                  <a:cubicBezTo>
                    <a:pt x="5447030" y="11559921"/>
                    <a:pt x="5439410" y="11567414"/>
                    <a:pt x="5430139" y="11567414"/>
                  </a:cubicBezTo>
                  <a:lnTo>
                    <a:pt x="16891" y="11567414"/>
                  </a:lnTo>
                  <a:cubicBezTo>
                    <a:pt x="7493" y="11567414"/>
                    <a:pt x="0" y="11559794"/>
                    <a:pt x="0" y="115505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550523"/>
                  </a:lnTo>
                  <a:lnTo>
                    <a:pt x="16891" y="11550523"/>
                  </a:lnTo>
                  <a:lnTo>
                    <a:pt x="16891" y="11533632"/>
                  </a:lnTo>
                  <a:lnTo>
                    <a:pt x="5430139" y="11533632"/>
                  </a:lnTo>
                  <a:lnTo>
                    <a:pt x="5430139" y="11550523"/>
                  </a:lnTo>
                  <a:lnTo>
                    <a:pt x="5413248" y="11550523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9204455" y="1413767"/>
            <a:ext cx="4085339" cy="720347"/>
            <a:chOff x="0" y="0"/>
            <a:chExt cx="5447119" cy="960463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16891" y="16891"/>
              <a:ext cx="5413248" cy="926592"/>
            </a:xfrm>
            <a:custGeom>
              <a:avLst/>
              <a:gdLst/>
              <a:ahLst/>
              <a:cxnLst/>
              <a:rect r="r" b="b" t="t" l="l"/>
              <a:pathLst>
                <a:path h="926592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97316">
                <a:alpha val="5882"/>
              </a:srgbClr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5447030" cy="960376"/>
            </a:xfrm>
            <a:custGeom>
              <a:avLst/>
              <a:gdLst/>
              <a:ahLst/>
              <a:cxnLst/>
              <a:rect r="r" b="b" t="t" l="l"/>
              <a:pathLst>
                <a:path h="960376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943483"/>
                  </a:lnTo>
                  <a:cubicBezTo>
                    <a:pt x="5447030" y="952881"/>
                    <a:pt x="5439410" y="960374"/>
                    <a:pt x="5430139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5430139" y="926592"/>
                  </a:lnTo>
                  <a:lnTo>
                    <a:pt x="5430139" y="943483"/>
                  </a:lnTo>
                  <a:lnTo>
                    <a:pt x="5413248" y="943483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9400032" y="1499616"/>
            <a:ext cx="3694176" cy="548640"/>
            <a:chOff x="0" y="0"/>
            <a:chExt cx="4925568" cy="73152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4925568" cy="731520"/>
            </a:xfrm>
            <a:custGeom>
              <a:avLst/>
              <a:gdLst/>
              <a:ahLst/>
              <a:cxnLst/>
              <a:rect r="r" b="b" t="t" l="l"/>
              <a:pathLst>
                <a:path h="731520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199" r="0" b="-81199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492556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B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9430255" y="2261359"/>
            <a:ext cx="3633721" cy="1384297"/>
            <a:chOff x="0" y="0"/>
            <a:chExt cx="4844961" cy="1845729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8509" y="8509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4845050" cy="1845818"/>
            </a:xfrm>
            <a:custGeom>
              <a:avLst/>
              <a:gdLst/>
              <a:ahLst/>
              <a:cxnLst/>
              <a:rect r="r" b="b" t="t" l="l"/>
              <a:pathLst>
                <a:path h="1845818" w="4845050">
                  <a:moveTo>
                    <a:pt x="8509" y="0"/>
                  </a:moveTo>
                  <a:lnTo>
                    <a:pt x="4836541" y="0"/>
                  </a:lnTo>
                  <a:cubicBezTo>
                    <a:pt x="4841240" y="0"/>
                    <a:pt x="4845050" y="3810"/>
                    <a:pt x="4845050" y="8509"/>
                  </a:cubicBezTo>
                  <a:lnTo>
                    <a:pt x="4845050" y="1837309"/>
                  </a:lnTo>
                  <a:cubicBezTo>
                    <a:pt x="4845050" y="1842008"/>
                    <a:pt x="4841240" y="1845818"/>
                    <a:pt x="4836541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836541" y="1828800"/>
                  </a:lnTo>
                  <a:lnTo>
                    <a:pt x="4836541" y="1837309"/>
                  </a:lnTo>
                  <a:lnTo>
                    <a:pt x="4828032" y="1837309"/>
                  </a:lnTo>
                  <a:lnTo>
                    <a:pt x="4828032" y="8509"/>
                  </a:lnTo>
                  <a:lnTo>
                    <a:pt x="4836541" y="8509"/>
                  </a:lnTo>
                  <a:lnTo>
                    <a:pt x="483654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97316">
                <a:alpha val="8627"/>
              </a:srgbClr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9546336" y="2340864"/>
            <a:ext cx="3401568" cy="512064"/>
            <a:chOff x="0" y="0"/>
            <a:chExt cx="4535424" cy="682752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47625"/>
              <a:ext cx="453542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Session auth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9546336" y="2852928"/>
            <a:ext cx="3401568" cy="694944"/>
            <a:chOff x="0" y="0"/>
            <a:chExt cx="4535424" cy="926592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4535424" cy="926592"/>
            </a:xfrm>
            <a:custGeom>
              <a:avLst/>
              <a:gdLst/>
              <a:ahLst/>
              <a:cxnLst/>
              <a:rect r="r" b="b" t="t" l="l"/>
              <a:pathLst>
                <a:path h="9265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38100"/>
              <a:ext cx="453542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UUID token, live DB revalidation on every req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9430255" y="3797551"/>
            <a:ext cx="3633721" cy="1384297"/>
            <a:chOff x="0" y="0"/>
            <a:chExt cx="4844961" cy="1845729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8509" y="8509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4845050" cy="1845818"/>
            </a:xfrm>
            <a:custGeom>
              <a:avLst/>
              <a:gdLst/>
              <a:ahLst/>
              <a:cxnLst/>
              <a:rect r="r" b="b" t="t" l="l"/>
              <a:pathLst>
                <a:path h="1845818" w="4845050">
                  <a:moveTo>
                    <a:pt x="8509" y="0"/>
                  </a:moveTo>
                  <a:lnTo>
                    <a:pt x="4836541" y="0"/>
                  </a:lnTo>
                  <a:cubicBezTo>
                    <a:pt x="4841240" y="0"/>
                    <a:pt x="4845050" y="3810"/>
                    <a:pt x="4845050" y="8509"/>
                  </a:cubicBezTo>
                  <a:lnTo>
                    <a:pt x="4845050" y="1837309"/>
                  </a:lnTo>
                  <a:cubicBezTo>
                    <a:pt x="4845050" y="1842008"/>
                    <a:pt x="4841240" y="1845818"/>
                    <a:pt x="4836541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836541" y="1828800"/>
                  </a:lnTo>
                  <a:lnTo>
                    <a:pt x="4836541" y="1837309"/>
                  </a:lnTo>
                  <a:lnTo>
                    <a:pt x="4828032" y="1837309"/>
                  </a:lnTo>
                  <a:lnTo>
                    <a:pt x="4828032" y="8509"/>
                  </a:lnTo>
                  <a:lnTo>
                    <a:pt x="4836541" y="8509"/>
                  </a:lnTo>
                  <a:lnTo>
                    <a:pt x="483654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97316">
                <a:alpha val="8627"/>
              </a:srgbClr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546336" y="3877056"/>
            <a:ext cx="3401568" cy="512064"/>
            <a:chOff x="0" y="0"/>
            <a:chExt cx="4535424" cy="682752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47625"/>
              <a:ext cx="453542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RBAC enforcement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9546336" y="4389120"/>
            <a:ext cx="3401568" cy="694944"/>
            <a:chOff x="0" y="0"/>
            <a:chExt cx="4535424" cy="926592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4535424" cy="926592"/>
            </a:xfrm>
            <a:custGeom>
              <a:avLst/>
              <a:gdLst/>
              <a:ahLst/>
              <a:cxnLst/>
              <a:rect r="r" b="b" t="t" l="l"/>
              <a:pathLst>
                <a:path h="9265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453542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MAIN→admin, SUB→user, middleware guards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9430255" y="5333743"/>
            <a:ext cx="3633721" cy="1384297"/>
            <a:chOff x="0" y="0"/>
            <a:chExt cx="4844961" cy="1845729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8509" y="8509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4845050" cy="1845818"/>
            </a:xfrm>
            <a:custGeom>
              <a:avLst/>
              <a:gdLst/>
              <a:ahLst/>
              <a:cxnLst/>
              <a:rect r="r" b="b" t="t" l="l"/>
              <a:pathLst>
                <a:path h="1845818" w="4845050">
                  <a:moveTo>
                    <a:pt x="8509" y="0"/>
                  </a:moveTo>
                  <a:lnTo>
                    <a:pt x="4836541" y="0"/>
                  </a:lnTo>
                  <a:cubicBezTo>
                    <a:pt x="4841240" y="0"/>
                    <a:pt x="4845050" y="3810"/>
                    <a:pt x="4845050" y="8509"/>
                  </a:cubicBezTo>
                  <a:lnTo>
                    <a:pt x="4845050" y="1837309"/>
                  </a:lnTo>
                  <a:cubicBezTo>
                    <a:pt x="4845050" y="1842008"/>
                    <a:pt x="4841240" y="1845818"/>
                    <a:pt x="4836541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836541" y="1828800"/>
                  </a:lnTo>
                  <a:lnTo>
                    <a:pt x="4836541" y="1837309"/>
                  </a:lnTo>
                  <a:lnTo>
                    <a:pt x="4828032" y="1837309"/>
                  </a:lnTo>
                  <a:lnTo>
                    <a:pt x="4828032" y="8509"/>
                  </a:lnTo>
                  <a:lnTo>
                    <a:pt x="4836541" y="8509"/>
                  </a:lnTo>
                  <a:lnTo>
                    <a:pt x="483654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97316">
                <a:alpha val="8627"/>
              </a:srgbClr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9546336" y="5413248"/>
            <a:ext cx="3401568" cy="512064"/>
            <a:chOff x="0" y="0"/>
            <a:chExt cx="4535424" cy="682752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47625"/>
              <a:ext cx="453542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Portfolio CRUD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9546336" y="5925312"/>
            <a:ext cx="3401568" cy="694944"/>
            <a:chOff x="0" y="0"/>
            <a:chExt cx="4535424" cy="926592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4535424" cy="926592"/>
            </a:xfrm>
            <a:custGeom>
              <a:avLst/>
              <a:gdLst/>
              <a:ahLst/>
              <a:cxnLst/>
              <a:rect r="r" b="b" t="t" l="l"/>
              <a:pathLst>
                <a:path h="9265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38100"/>
              <a:ext cx="453542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Admin/user-aware create/read/update/delete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9430255" y="6869935"/>
            <a:ext cx="3633721" cy="1384297"/>
            <a:chOff x="0" y="0"/>
            <a:chExt cx="4844961" cy="1845729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8509" y="8509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4845050" cy="1845818"/>
            </a:xfrm>
            <a:custGeom>
              <a:avLst/>
              <a:gdLst/>
              <a:ahLst/>
              <a:cxnLst/>
              <a:rect r="r" b="b" t="t" l="l"/>
              <a:pathLst>
                <a:path h="1845818" w="4845050">
                  <a:moveTo>
                    <a:pt x="8509" y="0"/>
                  </a:moveTo>
                  <a:lnTo>
                    <a:pt x="4836541" y="0"/>
                  </a:lnTo>
                  <a:cubicBezTo>
                    <a:pt x="4841240" y="0"/>
                    <a:pt x="4845050" y="3810"/>
                    <a:pt x="4845050" y="8509"/>
                  </a:cubicBezTo>
                  <a:lnTo>
                    <a:pt x="4845050" y="1837309"/>
                  </a:lnTo>
                  <a:cubicBezTo>
                    <a:pt x="4845050" y="1842008"/>
                    <a:pt x="4841240" y="1845818"/>
                    <a:pt x="4836541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836541" y="1828800"/>
                  </a:lnTo>
                  <a:lnTo>
                    <a:pt x="4836541" y="1837309"/>
                  </a:lnTo>
                  <a:lnTo>
                    <a:pt x="4828032" y="1837309"/>
                  </a:lnTo>
                  <a:lnTo>
                    <a:pt x="4828032" y="8509"/>
                  </a:lnTo>
                  <a:lnTo>
                    <a:pt x="4836541" y="8509"/>
                  </a:lnTo>
                  <a:lnTo>
                    <a:pt x="483654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97316">
                <a:alpha val="8627"/>
              </a:srgbClr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9546336" y="6949440"/>
            <a:ext cx="3401568" cy="512064"/>
            <a:chOff x="0" y="0"/>
            <a:chExt cx="4535424" cy="682752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47625"/>
              <a:ext cx="453542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Chained audit log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9546336" y="7461504"/>
            <a:ext cx="3401568" cy="694944"/>
            <a:chOff x="0" y="0"/>
            <a:chExt cx="4535424" cy="926592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4535424" cy="926592"/>
            </a:xfrm>
            <a:custGeom>
              <a:avLst/>
              <a:gdLst/>
              <a:ahLst/>
              <a:cxnLst/>
              <a:rect r="r" b="b" t="t" l="l"/>
              <a:pathLst>
                <a:path h="9265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38100"/>
              <a:ext cx="453542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JSON-line events with previousHash chain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9430255" y="8406127"/>
            <a:ext cx="3633721" cy="1384297"/>
            <a:chOff x="0" y="0"/>
            <a:chExt cx="4844961" cy="1845729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8509" y="8509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4845050" cy="1845818"/>
            </a:xfrm>
            <a:custGeom>
              <a:avLst/>
              <a:gdLst/>
              <a:ahLst/>
              <a:cxnLst/>
              <a:rect r="r" b="b" t="t" l="l"/>
              <a:pathLst>
                <a:path h="1845818" w="4845050">
                  <a:moveTo>
                    <a:pt x="8509" y="0"/>
                  </a:moveTo>
                  <a:lnTo>
                    <a:pt x="4836541" y="0"/>
                  </a:lnTo>
                  <a:cubicBezTo>
                    <a:pt x="4841240" y="0"/>
                    <a:pt x="4845050" y="3810"/>
                    <a:pt x="4845050" y="8509"/>
                  </a:cubicBezTo>
                  <a:lnTo>
                    <a:pt x="4845050" y="1837309"/>
                  </a:lnTo>
                  <a:cubicBezTo>
                    <a:pt x="4845050" y="1842008"/>
                    <a:pt x="4841240" y="1845818"/>
                    <a:pt x="4836541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836541" y="1828800"/>
                  </a:lnTo>
                  <a:lnTo>
                    <a:pt x="4836541" y="1837309"/>
                  </a:lnTo>
                  <a:lnTo>
                    <a:pt x="4828032" y="1837309"/>
                  </a:lnTo>
                  <a:lnTo>
                    <a:pt x="4828032" y="8509"/>
                  </a:lnTo>
                  <a:lnTo>
                    <a:pt x="4836541" y="8509"/>
                  </a:lnTo>
                  <a:lnTo>
                    <a:pt x="483654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97316">
                <a:alpha val="8627"/>
              </a:srgbClr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9546336" y="8485632"/>
            <a:ext cx="3401568" cy="512064"/>
            <a:chOff x="0" y="0"/>
            <a:chExt cx="4535424" cy="682752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47625"/>
              <a:ext cx="453542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Tamper detection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9546336" y="8997696"/>
            <a:ext cx="3401568" cy="694944"/>
            <a:chOff x="0" y="0"/>
            <a:chExt cx="4535424" cy="926592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4535424" cy="926592"/>
            </a:xfrm>
            <a:custGeom>
              <a:avLst/>
              <a:gdLst/>
              <a:ahLst/>
              <a:cxnLst/>
              <a:rect r="r" b="b" t="t" l="l"/>
              <a:pathLst>
                <a:path h="9265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38100"/>
              <a:ext cx="453542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integrity_hash per row + /unauthorized-check</a:t>
              </a:r>
            </a:p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13556999" y="1413767"/>
            <a:ext cx="4085339" cy="8675627"/>
            <a:chOff x="0" y="0"/>
            <a:chExt cx="5447119" cy="11567503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16891" y="16891"/>
              <a:ext cx="5413248" cy="11533632"/>
            </a:xfrm>
            <a:custGeom>
              <a:avLst/>
              <a:gdLst/>
              <a:ahLst/>
              <a:cxnLst/>
              <a:rect r="r" b="b" t="t" l="l"/>
              <a:pathLst>
                <a:path h="11533632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1533632"/>
                  </a:lnTo>
                  <a:lnTo>
                    <a:pt x="0" y="11533632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5447030" cy="11567414"/>
            </a:xfrm>
            <a:custGeom>
              <a:avLst/>
              <a:gdLst/>
              <a:ahLst/>
              <a:cxnLst/>
              <a:rect r="r" b="b" t="t" l="l"/>
              <a:pathLst>
                <a:path h="11567414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11550523"/>
                  </a:lnTo>
                  <a:cubicBezTo>
                    <a:pt x="5447030" y="11559921"/>
                    <a:pt x="5439410" y="11567414"/>
                    <a:pt x="5430139" y="11567414"/>
                  </a:cubicBezTo>
                  <a:lnTo>
                    <a:pt x="16891" y="11567414"/>
                  </a:lnTo>
                  <a:cubicBezTo>
                    <a:pt x="7493" y="11567414"/>
                    <a:pt x="0" y="11559794"/>
                    <a:pt x="0" y="115505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550523"/>
                  </a:lnTo>
                  <a:lnTo>
                    <a:pt x="16891" y="11550523"/>
                  </a:lnTo>
                  <a:lnTo>
                    <a:pt x="16891" y="11533632"/>
                  </a:lnTo>
                  <a:lnTo>
                    <a:pt x="5430139" y="11533632"/>
                  </a:lnTo>
                  <a:lnTo>
                    <a:pt x="5430139" y="11550523"/>
                  </a:lnTo>
                  <a:lnTo>
                    <a:pt x="5413248" y="11550523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173" id="173"/>
          <p:cNvGrpSpPr/>
          <p:nvPr/>
        </p:nvGrpSpPr>
        <p:grpSpPr>
          <a:xfrm rot="0">
            <a:off x="13556999" y="1413767"/>
            <a:ext cx="4085339" cy="720347"/>
            <a:chOff x="0" y="0"/>
            <a:chExt cx="5447119" cy="960463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16891" y="16891"/>
              <a:ext cx="5413248" cy="926592"/>
            </a:xfrm>
            <a:custGeom>
              <a:avLst/>
              <a:gdLst/>
              <a:ahLst/>
              <a:cxnLst/>
              <a:rect r="r" b="b" t="t" l="l"/>
              <a:pathLst>
                <a:path h="926592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8B5CF6">
                <a:alpha val="5882"/>
              </a:srgbClr>
            </a:solidFill>
          </p:spPr>
        </p:sp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5447030" cy="960376"/>
            </a:xfrm>
            <a:custGeom>
              <a:avLst/>
              <a:gdLst/>
              <a:ahLst/>
              <a:cxnLst/>
              <a:rect r="r" b="b" t="t" l="l"/>
              <a:pathLst>
                <a:path h="960376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943483"/>
                  </a:lnTo>
                  <a:cubicBezTo>
                    <a:pt x="5447030" y="952881"/>
                    <a:pt x="5439410" y="960374"/>
                    <a:pt x="5430139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5430139" y="926592"/>
                  </a:lnTo>
                  <a:lnTo>
                    <a:pt x="5430139" y="943483"/>
                  </a:lnTo>
                  <a:lnTo>
                    <a:pt x="5413248" y="943483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13752576" y="1499616"/>
            <a:ext cx="3694176" cy="548640"/>
            <a:chOff x="0" y="0"/>
            <a:chExt cx="4925568" cy="73152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4925568" cy="731520"/>
            </a:xfrm>
            <a:custGeom>
              <a:avLst/>
              <a:gdLst/>
              <a:ahLst/>
              <a:cxnLst/>
              <a:rect r="r" b="b" t="t" l="l"/>
              <a:pathLst>
                <a:path h="731520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199" r="0" b="-81199"/>
              </a:stretch>
            </a:blipFill>
          </p:spPr>
        </p:sp>
        <p:sp>
          <p:nvSpPr>
            <p:cNvPr name="TextBox 178" id="178"/>
            <p:cNvSpPr txBox="true"/>
            <p:nvPr/>
          </p:nvSpPr>
          <p:spPr>
            <a:xfrm>
              <a:off x="0" y="-38100"/>
              <a:ext cx="492556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8B5C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Advanced Security</a:t>
              </a:r>
            </a:p>
          </p:txBody>
        </p:sp>
      </p:grpSp>
      <p:grpSp>
        <p:nvGrpSpPr>
          <p:cNvPr name="Group 179" id="179"/>
          <p:cNvGrpSpPr/>
          <p:nvPr/>
        </p:nvGrpSpPr>
        <p:grpSpPr>
          <a:xfrm rot="0">
            <a:off x="13782799" y="2261359"/>
            <a:ext cx="3633721" cy="1384297"/>
            <a:chOff x="0" y="0"/>
            <a:chExt cx="4844961" cy="1845729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8509" y="8509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4845050" cy="1845818"/>
            </a:xfrm>
            <a:custGeom>
              <a:avLst/>
              <a:gdLst/>
              <a:ahLst/>
              <a:cxnLst/>
              <a:rect r="r" b="b" t="t" l="l"/>
              <a:pathLst>
                <a:path h="1845818" w="4845050">
                  <a:moveTo>
                    <a:pt x="8509" y="0"/>
                  </a:moveTo>
                  <a:lnTo>
                    <a:pt x="4836541" y="0"/>
                  </a:lnTo>
                  <a:cubicBezTo>
                    <a:pt x="4841240" y="0"/>
                    <a:pt x="4845050" y="3810"/>
                    <a:pt x="4845050" y="8509"/>
                  </a:cubicBezTo>
                  <a:lnTo>
                    <a:pt x="4845050" y="1837309"/>
                  </a:lnTo>
                  <a:cubicBezTo>
                    <a:pt x="4845050" y="1842008"/>
                    <a:pt x="4841240" y="1845818"/>
                    <a:pt x="4836541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836541" y="1828800"/>
                  </a:lnTo>
                  <a:lnTo>
                    <a:pt x="4836541" y="1837309"/>
                  </a:lnTo>
                  <a:lnTo>
                    <a:pt x="4828032" y="1837309"/>
                  </a:lnTo>
                  <a:lnTo>
                    <a:pt x="4828032" y="8509"/>
                  </a:lnTo>
                  <a:lnTo>
                    <a:pt x="4836541" y="8509"/>
                  </a:lnTo>
                  <a:lnTo>
                    <a:pt x="483654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8B5CF6">
                <a:alpha val="8627"/>
              </a:srgbClr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13898880" y="2340864"/>
            <a:ext cx="3401568" cy="512064"/>
            <a:chOff x="0" y="0"/>
            <a:chExt cx="4535424" cy="682752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-47625"/>
              <a:ext cx="453542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PBKDF2-SHA256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13898880" y="2852928"/>
            <a:ext cx="3401568" cy="694944"/>
            <a:chOff x="0" y="0"/>
            <a:chExt cx="4535424" cy="926592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4535424" cy="926592"/>
            </a:xfrm>
            <a:custGeom>
              <a:avLst/>
              <a:gdLst/>
              <a:ahLst/>
              <a:cxnLst/>
              <a:rect r="r" b="b" t="t" l="l"/>
              <a:pathLst>
                <a:path h="9265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-38100"/>
              <a:ext cx="453542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Salt + iterations per token, separate lookup hash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13782799" y="3797551"/>
            <a:ext cx="3633721" cy="1384297"/>
            <a:chOff x="0" y="0"/>
            <a:chExt cx="4844961" cy="1845729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8509" y="8509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190" id="190"/>
            <p:cNvSpPr/>
            <p:nvPr/>
          </p:nvSpPr>
          <p:spPr>
            <a:xfrm flipH="false" flipV="false" rot="0">
              <a:off x="0" y="0"/>
              <a:ext cx="4845050" cy="1845818"/>
            </a:xfrm>
            <a:custGeom>
              <a:avLst/>
              <a:gdLst/>
              <a:ahLst/>
              <a:cxnLst/>
              <a:rect r="r" b="b" t="t" l="l"/>
              <a:pathLst>
                <a:path h="1845818" w="4845050">
                  <a:moveTo>
                    <a:pt x="8509" y="0"/>
                  </a:moveTo>
                  <a:lnTo>
                    <a:pt x="4836541" y="0"/>
                  </a:lnTo>
                  <a:cubicBezTo>
                    <a:pt x="4841240" y="0"/>
                    <a:pt x="4845050" y="3810"/>
                    <a:pt x="4845050" y="8509"/>
                  </a:cubicBezTo>
                  <a:lnTo>
                    <a:pt x="4845050" y="1837309"/>
                  </a:lnTo>
                  <a:cubicBezTo>
                    <a:pt x="4845050" y="1842008"/>
                    <a:pt x="4841240" y="1845818"/>
                    <a:pt x="4836541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836541" y="1828800"/>
                  </a:lnTo>
                  <a:lnTo>
                    <a:pt x="4836541" y="1837309"/>
                  </a:lnTo>
                  <a:lnTo>
                    <a:pt x="4828032" y="1837309"/>
                  </a:lnTo>
                  <a:lnTo>
                    <a:pt x="4828032" y="8509"/>
                  </a:lnTo>
                  <a:lnTo>
                    <a:pt x="4836541" y="8509"/>
                  </a:lnTo>
                  <a:lnTo>
                    <a:pt x="483654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8B5CF6">
                <a:alpha val="8627"/>
              </a:srgbClr>
            </a:solidFill>
          </p:spPr>
        </p:sp>
      </p:grpSp>
      <p:grpSp>
        <p:nvGrpSpPr>
          <p:cNvPr name="Group 191" id="191"/>
          <p:cNvGrpSpPr/>
          <p:nvPr/>
        </p:nvGrpSpPr>
        <p:grpSpPr>
          <a:xfrm rot="0">
            <a:off x="13898880" y="3877056"/>
            <a:ext cx="3401568" cy="512064"/>
            <a:chOff x="0" y="0"/>
            <a:chExt cx="4535424" cy="682752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193" id="193"/>
            <p:cNvSpPr txBox="true"/>
            <p:nvPr/>
          </p:nvSpPr>
          <p:spPr>
            <a:xfrm>
              <a:off x="0" y="-47625"/>
              <a:ext cx="453542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CAPTCHA lifecycle</a:t>
              </a:r>
            </a:p>
          </p:txBody>
        </p:sp>
      </p:grpSp>
      <p:grpSp>
        <p:nvGrpSpPr>
          <p:cNvPr name="Group 194" id="194"/>
          <p:cNvGrpSpPr/>
          <p:nvPr/>
        </p:nvGrpSpPr>
        <p:grpSpPr>
          <a:xfrm rot="0">
            <a:off x="13898880" y="4389120"/>
            <a:ext cx="3401568" cy="694944"/>
            <a:chOff x="0" y="0"/>
            <a:chExt cx="4535424" cy="926592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4535424" cy="926592"/>
            </a:xfrm>
            <a:custGeom>
              <a:avLst/>
              <a:gdLst/>
              <a:ahLst/>
              <a:cxnLst/>
              <a:rect r="r" b="b" t="t" l="l"/>
              <a:pathLst>
                <a:path h="9265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-38100"/>
              <a:ext cx="453542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Adaptive challenge + solved-window reuse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13782799" y="5333743"/>
            <a:ext cx="3633721" cy="1384297"/>
            <a:chOff x="0" y="0"/>
            <a:chExt cx="4844961" cy="1845729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8509" y="8509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199" id="199"/>
            <p:cNvSpPr/>
            <p:nvPr/>
          </p:nvSpPr>
          <p:spPr>
            <a:xfrm flipH="false" flipV="false" rot="0">
              <a:off x="0" y="0"/>
              <a:ext cx="4845050" cy="1845818"/>
            </a:xfrm>
            <a:custGeom>
              <a:avLst/>
              <a:gdLst/>
              <a:ahLst/>
              <a:cxnLst/>
              <a:rect r="r" b="b" t="t" l="l"/>
              <a:pathLst>
                <a:path h="1845818" w="4845050">
                  <a:moveTo>
                    <a:pt x="8509" y="0"/>
                  </a:moveTo>
                  <a:lnTo>
                    <a:pt x="4836541" y="0"/>
                  </a:lnTo>
                  <a:cubicBezTo>
                    <a:pt x="4841240" y="0"/>
                    <a:pt x="4845050" y="3810"/>
                    <a:pt x="4845050" y="8509"/>
                  </a:cubicBezTo>
                  <a:lnTo>
                    <a:pt x="4845050" y="1837309"/>
                  </a:lnTo>
                  <a:cubicBezTo>
                    <a:pt x="4845050" y="1842008"/>
                    <a:pt x="4841240" y="1845818"/>
                    <a:pt x="4836541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836541" y="1828800"/>
                  </a:lnTo>
                  <a:lnTo>
                    <a:pt x="4836541" y="1837309"/>
                  </a:lnTo>
                  <a:lnTo>
                    <a:pt x="4828032" y="1837309"/>
                  </a:lnTo>
                  <a:lnTo>
                    <a:pt x="4828032" y="8509"/>
                  </a:lnTo>
                  <a:lnTo>
                    <a:pt x="4836541" y="8509"/>
                  </a:lnTo>
                  <a:lnTo>
                    <a:pt x="483654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8B5CF6">
                <a:alpha val="8627"/>
              </a:srgbClr>
            </a:solidFill>
          </p:spPr>
        </p:sp>
      </p:grpSp>
      <p:grpSp>
        <p:nvGrpSpPr>
          <p:cNvPr name="Group 200" id="200"/>
          <p:cNvGrpSpPr/>
          <p:nvPr/>
        </p:nvGrpSpPr>
        <p:grpSpPr>
          <a:xfrm rot="0">
            <a:off x="13898880" y="5413248"/>
            <a:ext cx="3401568" cy="512064"/>
            <a:chOff x="0" y="0"/>
            <a:chExt cx="4535424" cy="682752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-47625"/>
              <a:ext cx="453542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Rate limiting</a:t>
              </a:r>
            </a:p>
          </p:txBody>
        </p:sp>
      </p:grpSp>
      <p:grpSp>
        <p:nvGrpSpPr>
          <p:cNvPr name="Group 203" id="203"/>
          <p:cNvGrpSpPr/>
          <p:nvPr/>
        </p:nvGrpSpPr>
        <p:grpSpPr>
          <a:xfrm rot="0">
            <a:off x="13898880" y="5925312"/>
            <a:ext cx="3401568" cy="694944"/>
            <a:chOff x="0" y="0"/>
            <a:chExt cx="4535424" cy="926592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0" y="0"/>
              <a:ext cx="4535424" cy="926592"/>
            </a:xfrm>
            <a:custGeom>
              <a:avLst/>
              <a:gdLst/>
              <a:ahLst/>
              <a:cxnLst/>
              <a:rect r="r" b="b" t="t" l="l"/>
              <a:pathLst>
                <a:path h="9265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205" id="205"/>
            <p:cNvSpPr txBox="true"/>
            <p:nvPr/>
          </p:nvSpPr>
          <p:spPr>
            <a:xfrm>
              <a:off x="0" y="-38100"/>
              <a:ext cx="453542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Weighted failure tracking + temp IP block</a:t>
              </a:r>
            </a:p>
          </p:txBody>
        </p:sp>
      </p:grpSp>
      <p:grpSp>
        <p:nvGrpSpPr>
          <p:cNvPr name="Group 206" id="206"/>
          <p:cNvGrpSpPr/>
          <p:nvPr/>
        </p:nvGrpSpPr>
        <p:grpSpPr>
          <a:xfrm rot="0">
            <a:off x="13782799" y="6869935"/>
            <a:ext cx="3633721" cy="1384297"/>
            <a:chOff x="0" y="0"/>
            <a:chExt cx="4844961" cy="1845729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8509" y="8509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208" id="208"/>
            <p:cNvSpPr/>
            <p:nvPr/>
          </p:nvSpPr>
          <p:spPr>
            <a:xfrm flipH="false" flipV="false" rot="0">
              <a:off x="0" y="0"/>
              <a:ext cx="4845050" cy="1845818"/>
            </a:xfrm>
            <a:custGeom>
              <a:avLst/>
              <a:gdLst/>
              <a:ahLst/>
              <a:cxnLst/>
              <a:rect r="r" b="b" t="t" l="l"/>
              <a:pathLst>
                <a:path h="1845818" w="4845050">
                  <a:moveTo>
                    <a:pt x="8509" y="0"/>
                  </a:moveTo>
                  <a:lnTo>
                    <a:pt x="4836541" y="0"/>
                  </a:lnTo>
                  <a:cubicBezTo>
                    <a:pt x="4841240" y="0"/>
                    <a:pt x="4845050" y="3810"/>
                    <a:pt x="4845050" y="8509"/>
                  </a:cubicBezTo>
                  <a:lnTo>
                    <a:pt x="4845050" y="1837309"/>
                  </a:lnTo>
                  <a:cubicBezTo>
                    <a:pt x="4845050" y="1842008"/>
                    <a:pt x="4841240" y="1845818"/>
                    <a:pt x="4836541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836541" y="1828800"/>
                  </a:lnTo>
                  <a:lnTo>
                    <a:pt x="4836541" y="1837309"/>
                  </a:lnTo>
                  <a:lnTo>
                    <a:pt x="4828032" y="1837309"/>
                  </a:lnTo>
                  <a:lnTo>
                    <a:pt x="4828032" y="8509"/>
                  </a:lnTo>
                  <a:lnTo>
                    <a:pt x="4836541" y="8509"/>
                  </a:lnTo>
                  <a:lnTo>
                    <a:pt x="483654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8B5CF6">
                <a:alpha val="8627"/>
              </a:srgbClr>
            </a:solidFill>
          </p:spPr>
        </p:sp>
      </p:grpSp>
      <p:grpSp>
        <p:nvGrpSpPr>
          <p:cNvPr name="Group 209" id="209"/>
          <p:cNvGrpSpPr/>
          <p:nvPr/>
        </p:nvGrpSpPr>
        <p:grpSpPr>
          <a:xfrm rot="0">
            <a:off x="13898880" y="6949440"/>
            <a:ext cx="3401568" cy="512064"/>
            <a:chOff x="0" y="0"/>
            <a:chExt cx="4535424" cy="682752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-47625"/>
              <a:ext cx="453542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SQL optimization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13898880" y="7461504"/>
            <a:ext cx="3401568" cy="694944"/>
            <a:chOff x="0" y="0"/>
            <a:chExt cx="4535424" cy="926592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4535424" cy="926592"/>
            </a:xfrm>
            <a:custGeom>
              <a:avLst/>
              <a:gdLst/>
              <a:ahLst/>
              <a:cxnLst/>
              <a:rect r="r" b="b" t="t" l="l"/>
              <a:pathLst>
                <a:path h="9265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-38100"/>
              <a:ext cx="453542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EXPLAIN-backed composite index benchmark</a:t>
              </a:r>
            </a:p>
          </p:txBody>
        </p:sp>
      </p:grpSp>
      <p:grpSp>
        <p:nvGrpSpPr>
          <p:cNvPr name="Group 215" id="215"/>
          <p:cNvGrpSpPr/>
          <p:nvPr/>
        </p:nvGrpSpPr>
        <p:grpSpPr>
          <a:xfrm rot="0">
            <a:off x="13782799" y="8406127"/>
            <a:ext cx="3633721" cy="1384297"/>
            <a:chOff x="0" y="0"/>
            <a:chExt cx="4844961" cy="1845729"/>
          </a:xfrm>
        </p:grpSpPr>
        <p:sp>
          <p:nvSpPr>
            <p:cNvPr name="Freeform 216" id="216"/>
            <p:cNvSpPr/>
            <p:nvPr/>
          </p:nvSpPr>
          <p:spPr>
            <a:xfrm flipH="false" flipV="false" rot="0">
              <a:off x="8509" y="8509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4845050" cy="1845818"/>
            </a:xfrm>
            <a:custGeom>
              <a:avLst/>
              <a:gdLst/>
              <a:ahLst/>
              <a:cxnLst/>
              <a:rect r="r" b="b" t="t" l="l"/>
              <a:pathLst>
                <a:path h="1845818" w="4845050">
                  <a:moveTo>
                    <a:pt x="8509" y="0"/>
                  </a:moveTo>
                  <a:lnTo>
                    <a:pt x="4836541" y="0"/>
                  </a:lnTo>
                  <a:cubicBezTo>
                    <a:pt x="4841240" y="0"/>
                    <a:pt x="4845050" y="3810"/>
                    <a:pt x="4845050" y="8509"/>
                  </a:cubicBezTo>
                  <a:lnTo>
                    <a:pt x="4845050" y="1837309"/>
                  </a:lnTo>
                  <a:cubicBezTo>
                    <a:pt x="4845050" y="1842008"/>
                    <a:pt x="4841240" y="1845818"/>
                    <a:pt x="4836541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836541" y="1828800"/>
                  </a:lnTo>
                  <a:lnTo>
                    <a:pt x="4836541" y="1837309"/>
                  </a:lnTo>
                  <a:lnTo>
                    <a:pt x="4828032" y="1837309"/>
                  </a:lnTo>
                  <a:lnTo>
                    <a:pt x="4828032" y="8509"/>
                  </a:lnTo>
                  <a:lnTo>
                    <a:pt x="4836541" y="8509"/>
                  </a:lnTo>
                  <a:lnTo>
                    <a:pt x="483654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8B5CF6">
                <a:alpha val="8627"/>
              </a:srgbClr>
            </a:solid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13898880" y="8485632"/>
            <a:ext cx="3401568" cy="512064"/>
            <a:chOff x="0" y="0"/>
            <a:chExt cx="4535424" cy="682752"/>
          </a:xfrm>
        </p:grpSpPr>
        <p:sp>
          <p:nvSpPr>
            <p:cNvPr name="Freeform 219" id="219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220" id="220"/>
            <p:cNvSpPr txBox="true"/>
            <p:nvPr/>
          </p:nvSpPr>
          <p:spPr>
            <a:xfrm>
              <a:off x="0" y="-47625"/>
              <a:ext cx="453542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File validation</a:t>
              </a:r>
            </a:p>
          </p:txBody>
        </p:sp>
      </p:grpSp>
      <p:grpSp>
        <p:nvGrpSpPr>
          <p:cNvPr name="Group 221" id="221"/>
          <p:cNvGrpSpPr/>
          <p:nvPr/>
        </p:nvGrpSpPr>
        <p:grpSpPr>
          <a:xfrm rot="0">
            <a:off x="13898880" y="8997696"/>
            <a:ext cx="3401568" cy="694944"/>
            <a:chOff x="0" y="0"/>
            <a:chExt cx="4535424" cy="926592"/>
          </a:xfrm>
        </p:grpSpPr>
        <p:sp>
          <p:nvSpPr>
            <p:cNvPr name="Freeform 222" id="222"/>
            <p:cNvSpPr/>
            <p:nvPr/>
          </p:nvSpPr>
          <p:spPr>
            <a:xfrm flipH="false" flipV="false" rot="0">
              <a:off x="0" y="0"/>
              <a:ext cx="4535424" cy="926592"/>
            </a:xfrm>
            <a:custGeom>
              <a:avLst/>
              <a:gdLst/>
              <a:ahLst/>
              <a:cxnLst/>
              <a:rect r="r" b="b" t="t" l="l"/>
              <a:pathLst>
                <a:path h="9265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223" id="223"/>
            <p:cNvSpPr txBox="true"/>
            <p:nvPr/>
          </p:nvSpPr>
          <p:spPr>
            <a:xfrm>
              <a:off x="0" y="-38100"/>
              <a:ext cx="453542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MIME detection + size/type checks on upload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8283"/>
            <a:chOff x="0" y="0"/>
            <a:chExt cx="24417871" cy="2777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7624"/>
            </a:xfrm>
            <a:custGeom>
              <a:avLst/>
              <a:gdLst/>
              <a:ahLst/>
              <a:cxnLst/>
              <a:rect r="r" b="b" t="t" l="l"/>
              <a:pathLst>
                <a:path h="27762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0731"/>
                  </a:lnTo>
                  <a:cubicBezTo>
                    <a:pt x="24417782" y="270129"/>
                    <a:pt x="24410163" y="277622"/>
                    <a:pt x="2440089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4400890" y="243840"/>
                  </a:lnTo>
                  <a:lnTo>
                    <a:pt x="24400890" y="260731"/>
                  </a:lnTo>
                  <a:lnTo>
                    <a:pt x="24384000" y="2607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2064" y="274320"/>
            <a:ext cx="17373600" cy="914400"/>
            <a:chOff x="0" y="0"/>
            <a:chExt cx="2316480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64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31648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 Stack &amp; Design Rationale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99367" y="1486919"/>
            <a:ext cx="5694683" cy="3865883"/>
            <a:chOff x="0" y="0"/>
            <a:chExt cx="7592911" cy="51545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7559040" cy="5120640"/>
            </a:xfrm>
            <a:custGeom>
              <a:avLst/>
              <a:gdLst/>
              <a:ahLst/>
              <a:cxnLst/>
              <a:rect r="r" b="b" t="t" l="l"/>
              <a:pathLst>
                <a:path h="51206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592822" cy="5154422"/>
            </a:xfrm>
            <a:custGeom>
              <a:avLst/>
              <a:gdLst/>
              <a:ahLst/>
              <a:cxnLst/>
              <a:rect r="r" b="b" t="t" l="l"/>
              <a:pathLst>
                <a:path h="515442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5137531"/>
                  </a:lnTo>
                  <a:cubicBezTo>
                    <a:pt x="7592822" y="5146929"/>
                    <a:pt x="7585202" y="5154422"/>
                    <a:pt x="7575931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7575931" y="5120640"/>
                  </a:lnTo>
                  <a:lnTo>
                    <a:pt x="7575931" y="5137531"/>
                  </a:lnTo>
                  <a:lnTo>
                    <a:pt x="7559040" y="51375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99367" y="1486919"/>
            <a:ext cx="5694683" cy="208283"/>
            <a:chOff x="0" y="0"/>
            <a:chExt cx="7592911" cy="2777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7559040" cy="243840"/>
            </a:xfrm>
            <a:custGeom>
              <a:avLst/>
              <a:gdLst/>
              <a:ahLst/>
              <a:cxnLst/>
              <a:rect r="r" b="b" t="t" l="l"/>
              <a:pathLst>
                <a:path h="2438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592822" cy="277624"/>
            </a:xfrm>
            <a:custGeom>
              <a:avLst/>
              <a:gdLst/>
              <a:ahLst/>
              <a:cxnLst/>
              <a:rect r="r" b="b" t="t" l="l"/>
              <a:pathLst>
                <a:path h="277624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260731"/>
                  </a:lnTo>
                  <a:cubicBezTo>
                    <a:pt x="7592822" y="270129"/>
                    <a:pt x="7585202" y="277622"/>
                    <a:pt x="7575931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7575931" y="243840"/>
                  </a:lnTo>
                  <a:lnTo>
                    <a:pt x="7575931" y="260731"/>
                  </a:lnTo>
                  <a:lnTo>
                    <a:pt x="7559040" y="2607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73687" y="1816103"/>
            <a:ext cx="1031243" cy="1031243"/>
            <a:chOff x="0" y="0"/>
            <a:chExt cx="1374991" cy="13749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06B6C8">
                <a:alpha val="3922"/>
              </a:srgbClr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86384" y="1828800"/>
            <a:ext cx="1005840" cy="1005840"/>
            <a:chOff x="0" y="0"/>
            <a:chExt cx="1341120" cy="13411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134112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🌐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011680" y="1828800"/>
            <a:ext cx="3986784" cy="512064"/>
            <a:chOff x="0" y="0"/>
            <a:chExt cx="5315712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15712" cy="682752"/>
            </a:xfrm>
            <a:custGeom>
              <a:avLst/>
              <a:gdLst/>
              <a:ahLst/>
              <a:cxnLst/>
              <a:rect r="r" b="b" t="t" l="l"/>
              <a:pathLst>
                <a:path h="682752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704" r="0" b="-10170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5315712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Frontend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011680" y="2304288"/>
            <a:ext cx="3986784" cy="402336"/>
            <a:chOff x="0" y="0"/>
            <a:chExt cx="5315712" cy="53644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15712" cy="536448"/>
            </a:xfrm>
            <a:custGeom>
              <a:avLst/>
              <a:gdLst/>
              <a:ahLst/>
              <a:cxnLst/>
              <a:rect r="r" b="b" t="t" l="l"/>
              <a:pathLst>
                <a:path h="536448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079" r="0" b="-14307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5315712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HTML · CSS · Vanilla JS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73687" y="2986535"/>
            <a:ext cx="5146043" cy="80267"/>
            <a:chOff x="0" y="0"/>
            <a:chExt cx="6861391" cy="10702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6827520" cy="73152"/>
            </a:xfrm>
            <a:custGeom>
              <a:avLst/>
              <a:gdLst/>
              <a:ahLst/>
              <a:cxnLst/>
              <a:rect r="r" b="b" t="t" l="l"/>
              <a:pathLst>
                <a:path h="731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06B6C8">
                <a:alpha val="15686"/>
              </a:srgbClr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861301" cy="106936"/>
            </a:xfrm>
            <a:custGeom>
              <a:avLst/>
              <a:gdLst/>
              <a:ahLst/>
              <a:cxnLst/>
              <a:rect r="r" b="b" t="t" l="l"/>
              <a:pathLst>
                <a:path h="106936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90043"/>
                  </a:lnTo>
                  <a:cubicBezTo>
                    <a:pt x="6861301" y="99441"/>
                    <a:pt x="6853682" y="106934"/>
                    <a:pt x="684441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6844411" y="73152"/>
                  </a:lnTo>
                  <a:lnTo>
                    <a:pt x="6844411" y="90043"/>
                  </a:lnTo>
                  <a:lnTo>
                    <a:pt x="6827520" y="90043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786384" y="3145536"/>
            <a:ext cx="5157216" cy="822960"/>
            <a:chOff x="0" y="0"/>
            <a:chExt cx="6876288" cy="10972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876288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106" r="0" b="-7210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6876288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Why: Lightweight; no build step needed. Easier evaluator setup.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86384" y="4096512"/>
            <a:ext cx="5157216" cy="1005840"/>
            <a:chOff x="0" y="0"/>
            <a:chExt cx="6876288" cy="13411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876288" cy="1341120"/>
            </a:xfrm>
            <a:custGeom>
              <a:avLst/>
              <a:gdLst/>
              <a:ahLst/>
              <a:cxnLst/>
              <a:rect r="r" b="b" t="t" l="l"/>
              <a:pathLst>
                <a:path h="1341120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905" r="0" b="-4990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6876288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AFC7"/>
                  </a:solidFill>
                  <a:latin typeface="Consolas"/>
                  <a:ea typeface="Consolas"/>
                  <a:cs typeface="Consolas"/>
                  <a:sym typeface="Consolas"/>
                </a:rPr>
                <a:t>app/frontend/index.html · app.js · styles.css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442967" y="1486919"/>
            <a:ext cx="5694683" cy="3865883"/>
            <a:chOff x="0" y="0"/>
            <a:chExt cx="7592911" cy="515451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7559040" cy="5120640"/>
            </a:xfrm>
            <a:custGeom>
              <a:avLst/>
              <a:gdLst/>
              <a:ahLst/>
              <a:cxnLst/>
              <a:rect r="r" b="b" t="t" l="l"/>
              <a:pathLst>
                <a:path h="51206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592822" cy="5154422"/>
            </a:xfrm>
            <a:custGeom>
              <a:avLst/>
              <a:gdLst/>
              <a:ahLst/>
              <a:cxnLst/>
              <a:rect r="r" b="b" t="t" l="l"/>
              <a:pathLst>
                <a:path h="515442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5137531"/>
                  </a:lnTo>
                  <a:cubicBezTo>
                    <a:pt x="7592822" y="5146929"/>
                    <a:pt x="7585202" y="5154422"/>
                    <a:pt x="7575931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7575931" y="5120640"/>
                  </a:lnTo>
                  <a:lnTo>
                    <a:pt x="7575931" y="5137531"/>
                  </a:lnTo>
                  <a:lnTo>
                    <a:pt x="7559040" y="51375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442967" y="1486919"/>
            <a:ext cx="5694683" cy="208283"/>
            <a:chOff x="0" y="0"/>
            <a:chExt cx="7592911" cy="27771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7559040" cy="243840"/>
            </a:xfrm>
            <a:custGeom>
              <a:avLst/>
              <a:gdLst/>
              <a:ahLst/>
              <a:cxnLst/>
              <a:rect r="r" b="b" t="t" l="l"/>
              <a:pathLst>
                <a:path h="2438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592822" cy="277624"/>
            </a:xfrm>
            <a:custGeom>
              <a:avLst/>
              <a:gdLst/>
              <a:ahLst/>
              <a:cxnLst/>
              <a:rect r="r" b="b" t="t" l="l"/>
              <a:pathLst>
                <a:path h="277624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260731"/>
                  </a:lnTo>
                  <a:cubicBezTo>
                    <a:pt x="7592822" y="270129"/>
                    <a:pt x="7585202" y="277622"/>
                    <a:pt x="7575931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7575931" y="243840"/>
                  </a:lnTo>
                  <a:lnTo>
                    <a:pt x="7575931" y="260731"/>
                  </a:lnTo>
                  <a:lnTo>
                    <a:pt x="7559040" y="2607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717287" y="1816103"/>
            <a:ext cx="1031243" cy="1031243"/>
            <a:chOff x="0" y="0"/>
            <a:chExt cx="1374991" cy="137499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F59E0B">
                <a:alpha val="3922"/>
              </a:srgbClr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729984" y="1828800"/>
            <a:ext cx="1005840" cy="1005840"/>
            <a:chOff x="0" y="0"/>
            <a:chExt cx="1341120" cy="13411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66675"/>
              <a:ext cx="134112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⚙️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955280" y="1828800"/>
            <a:ext cx="3986784" cy="512064"/>
            <a:chOff x="0" y="0"/>
            <a:chExt cx="5315712" cy="68275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315712" cy="682752"/>
            </a:xfrm>
            <a:custGeom>
              <a:avLst/>
              <a:gdLst/>
              <a:ahLst/>
              <a:cxnLst/>
              <a:rect r="r" b="b" t="t" l="l"/>
              <a:pathLst>
                <a:path h="682752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704" r="0" b="-10170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5315712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Backend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955280" y="2304288"/>
            <a:ext cx="3986784" cy="402336"/>
            <a:chOff x="0" y="0"/>
            <a:chExt cx="5315712" cy="53644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315712" cy="536448"/>
            </a:xfrm>
            <a:custGeom>
              <a:avLst/>
              <a:gdLst/>
              <a:ahLst/>
              <a:cxnLst/>
              <a:rect r="r" b="b" t="t" l="l"/>
              <a:pathLst>
                <a:path h="536448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079" r="0" b="-143079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5315712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Node.js 18 + Express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717287" y="2986535"/>
            <a:ext cx="5146043" cy="80267"/>
            <a:chOff x="0" y="0"/>
            <a:chExt cx="6861391" cy="107023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6827520" cy="73152"/>
            </a:xfrm>
            <a:custGeom>
              <a:avLst/>
              <a:gdLst/>
              <a:ahLst/>
              <a:cxnLst/>
              <a:rect r="r" b="b" t="t" l="l"/>
              <a:pathLst>
                <a:path h="731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F59E0B">
                <a:alpha val="15686"/>
              </a:srgbClr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861301" cy="106936"/>
            </a:xfrm>
            <a:custGeom>
              <a:avLst/>
              <a:gdLst/>
              <a:ahLst/>
              <a:cxnLst/>
              <a:rect r="r" b="b" t="t" l="l"/>
              <a:pathLst>
                <a:path h="106936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90043"/>
                  </a:lnTo>
                  <a:cubicBezTo>
                    <a:pt x="6861301" y="99441"/>
                    <a:pt x="6853682" y="106934"/>
                    <a:pt x="684441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6844411" y="73152"/>
                  </a:lnTo>
                  <a:lnTo>
                    <a:pt x="6844411" y="90043"/>
                  </a:lnTo>
                  <a:lnTo>
                    <a:pt x="6827520" y="90043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6729984" y="3145536"/>
            <a:ext cx="5157216" cy="822960"/>
            <a:chOff x="0" y="0"/>
            <a:chExt cx="6876288" cy="10972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876288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106" r="0" b="-7210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6876288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Why: Route modularity per concern; async-friendly for Drive API calls.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729984" y="4096512"/>
            <a:ext cx="5157216" cy="1005840"/>
            <a:chOff x="0" y="0"/>
            <a:chExt cx="6876288" cy="13411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876288" cy="1341120"/>
            </a:xfrm>
            <a:custGeom>
              <a:avLst/>
              <a:gdLst/>
              <a:ahLst/>
              <a:cxnLst/>
              <a:rect r="r" b="b" t="t" l="l"/>
              <a:pathLst>
                <a:path h="1341120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905" r="0" b="-4990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6876288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AFC7"/>
                  </a:solidFill>
                  <a:latin typeface="Consolas"/>
                  <a:ea typeface="Consolas"/>
                  <a:cs typeface="Consolas"/>
                  <a:sym typeface="Consolas"/>
                </a:rPr>
                <a:t>src/app.js · routes/ · services/ · middleware/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386567" y="1486919"/>
            <a:ext cx="5694683" cy="3865883"/>
            <a:chOff x="0" y="0"/>
            <a:chExt cx="7592911" cy="515451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7559040" cy="5120640"/>
            </a:xfrm>
            <a:custGeom>
              <a:avLst/>
              <a:gdLst/>
              <a:ahLst/>
              <a:cxnLst/>
              <a:rect r="r" b="b" t="t" l="l"/>
              <a:pathLst>
                <a:path h="51206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592822" cy="5154422"/>
            </a:xfrm>
            <a:custGeom>
              <a:avLst/>
              <a:gdLst/>
              <a:ahLst/>
              <a:cxnLst/>
              <a:rect r="r" b="b" t="t" l="l"/>
              <a:pathLst>
                <a:path h="515442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5137531"/>
                  </a:lnTo>
                  <a:cubicBezTo>
                    <a:pt x="7592822" y="5146929"/>
                    <a:pt x="7585202" y="5154422"/>
                    <a:pt x="7575931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7575931" y="5120640"/>
                  </a:lnTo>
                  <a:lnTo>
                    <a:pt x="7575931" y="5137531"/>
                  </a:lnTo>
                  <a:lnTo>
                    <a:pt x="7559040" y="51375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2386567" y="1486919"/>
            <a:ext cx="5694683" cy="208283"/>
            <a:chOff x="0" y="0"/>
            <a:chExt cx="7592911" cy="27771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7559040" cy="243840"/>
            </a:xfrm>
            <a:custGeom>
              <a:avLst/>
              <a:gdLst/>
              <a:ahLst/>
              <a:cxnLst/>
              <a:rect r="r" b="b" t="t" l="l"/>
              <a:pathLst>
                <a:path h="2438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592822" cy="277624"/>
            </a:xfrm>
            <a:custGeom>
              <a:avLst/>
              <a:gdLst/>
              <a:ahLst/>
              <a:cxnLst/>
              <a:rect r="r" b="b" t="t" l="l"/>
              <a:pathLst>
                <a:path h="277624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260731"/>
                  </a:lnTo>
                  <a:cubicBezTo>
                    <a:pt x="7592822" y="270129"/>
                    <a:pt x="7585202" y="277622"/>
                    <a:pt x="7575931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7575931" y="243840"/>
                  </a:lnTo>
                  <a:lnTo>
                    <a:pt x="7575931" y="260731"/>
                  </a:lnTo>
                  <a:lnTo>
                    <a:pt x="7559040" y="2607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2660887" y="1816103"/>
            <a:ext cx="1031243" cy="1031243"/>
            <a:chOff x="0" y="0"/>
            <a:chExt cx="1374991" cy="137499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F97316">
                <a:alpha val="3922"/>
              </a:srgbClr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2673584" y="1828800"/>
            <a:ext cx="1005840" cy="1005840"/>
            <a:chOff x="0" y="0"/>
            <a:chExt cx="1341120" cy="13411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66675"/>
              <a:ext cx="134112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🗄️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3898880" y="1828800"/>
            <a:ext cx="3986784" cy="512064"/>
            <a:chOff x="0" y="0"/>
            <a:chExt cx="5315712" cy="68275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315712" cy="682752"/>
            </a:xfrm>
            <a:custGeom>
              <a:avLst/>
              <a:gdLst/>
              <a:ahLst/>
              <a:cxnLst/>
              <a:rect r="r" b="b" t="t" l="l"/>
              <a:pathLst>
                <a:path h="682752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704" r="0" b="-101704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57150"/>
              <a:ext cx="5315712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Database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3898880" y="2304288"/>
            <a:ext cx="3986784" cy="402336"/>
            <a:chOff x="0" y="0"/>
            <a:chExt cx="5315712" cy="53644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315712" cy="536448"/>
            </a:xfrm>
            <a:custGeom>
              <a:avLst/>
              <a:gdLst/>
              <a:ahLst/>
              <a:cxnLst/>
              <a:rect r="r" b="b" t="t" l="l"/>
              <a:pathLst>
                <a:path h="536448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079" r="0" b="-143079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5315712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MySQL 8 / InnoDB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2660887" y="2986535"/>
            <a:ext cx="5146043" cy="80267"/>
            <a:chOff x="0" y="0"/>
            <a:chExt cx="6861391" cy="107023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6827520" cy="73152"/>
            </a:xfrm>
            <a:custGeom>
              <a:avLst/>
              <a:gdLst/>
              <a:ahLst/>
              <a:cxnLst/>
              <a:rect r="r" b="b" t="t" l="l"/>
              <a:pathLst>
                <a:path h="731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F97316">
                <a:alpha val="15686"/>
              </a:srgbClr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6861301" cy="106936"/>
            </a:xfrm>
            <a:custGeom>
              <a:avLst/>
              <a:gdLst/>
              <a:ahLst/>
              <a:cxnLst/>
              <a:rect r="r" b="b" t="t" l="l"/>
              <a:pathLst>
                <a:path h="106936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90043"/>
                  </a:lnTo>
                  <a:cubicBezTo>
                    <a:pt x="6861301" y="99441"/>
                    <a:pt x="6853682" y="106934"/>
                    <a:pt x="684441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6844411" y="73152"/>
                  </a:lnTo>
                  <a:lnTo>
                    <a:pt x="6844411" y="90043"/>
                  </a:lnTo>
                  <a:lnTo>
                    <a:pt x="6827520" y="90043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2673584" y="3145536"/>
            <a:ext cx="5157216" cy="822960"/>
            <a:chOff x="0" y="0"/>
            <a:chExt cx="6876288" cy="109728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6876288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106" r="0" b="-72106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6876288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Why: FK constraints, EXPLAIN profiling, InnoDB row locking, index tuning.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2673584" y="4096512"/>
            <a:ext cx="5157216" cy="1005840"/>
            <a:chOff x="0" y="0"/>
            <a:chExt cx="6876288" cy="134112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876288" cy="1341120"/>
            </a:xfrm>
            <a:custGeom>
              <a:avLst/>
              <a:gdLst/>
              <a:ahLst/>
              <a:cxnLst/>
              <a:rect r="r" b="b" t="t" l="l"/>
              <a:pathLst>
                <a:path h="1341120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905" r="0" b="-49905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6876288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AFC7"/>
                  </a:solidFill>
                  <a:latin typeface="Consolas"/>
                  <a:ea typeface="Consolas"/>
                  <a:cs typeface="Consolas"/>
                  <a:sym typeface="Consolas"/>
                </a:rPr>
                <a:t>sql/init_schema.sql · 9 tables · composite indexes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499367" y="5656583"/>
            <a:ext cx="5694683" cy="3865883"/>
            <a:chOff x="0" y="0"/>
            <a:chExt cx="7592911" cy="5154511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7559040" cy="5120640"/>
            </a:xfrm>
            <a:custGeom>
              <a:avLst/>
              <a:gdLst/>
              <a:ahLst/>
              <a:cxnLst/>
              <a:rect r="r" b="b" t="t" l="l"/>
              <a:pathLst>
                <a:path h="51206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7592822" cy="5154422"/>
            </a:xfrm>
            <a:custGeom>
              <a:avLst/>
              <a:gdLst/>
              <a:ahLst/>
              <a:cxnLst/>
              <a:rect r="r" b="b" t="t" l="l"/>
              <a:pathLst>
                <a:path h="515442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5137531"/>
                  </a:lnTo>
                  <a:cubicBezTo>
                    <a:pt x="7592822" y="5146929"/>
                    <a:pt x="7585202" y="5154422"/>
                    <a:pt x="7575931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7575931" y="5120640"/>
                  </a:lnTo>
                  <a:lnTo>
                    <a:pt x="7575931" y="5137531"/>
                  </a:lnTo>
                  <a:lnTo>
                    <a:pt x="7559040" y="51375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499367" y="5656583"/>
            <a:ext cx="5694683" cy="208283"/>
            <a:chOff x="0" y="0"/>
            <a:chExt cx="7592911" cy="277711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7559040" cy="243840"/>
            </a:xfrm>
            <a:custGeom>
              <a:avLst/>
              <a:gdLst/>
              <a:ahLst/>
              <a:cxnLst/>
              <a:rect r="r" b="b" t="t" l="l"/>
              <a:pathLst>
                <a:path h="2438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2DD4BF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7592822" cy="277624"/>
            </a:xfrm>
            <a:custGeom>
              <a:avLst/>
              <a:gdLst/>
              <a:ahLst/>
              <a:cxnLst/>
              <a:rect r="r" b="b" t="t" l="l"/>
              <a:pathLst>
                <a:path h="277624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260731"/>
                  </a:lnTo>
                  <a:cubicBezTo>
                    <a:pt x="7592822" y="270129"/>
                    <a:pt x="7585202" y="277622"/>
                    <a:pt x="7575931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7575931" y="243840"/>
                  </a:lnTo>
                  <a:lnTo>
                    <a:pt x="7575931" y="260731"/>
                  </a:lnTo>
                  <a:lnTo>
                    <a:pt x="7559040" y="2607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773687" y="5985767"/>
            <a:ext cx="1031243" cy="1031243"/>
            <a:chOff x="0" y="0"/>
            <a:chExt cx="1374991" cy="137499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2DD4BF">
                <a:alpha val="3922"/>
              </a:srgbClr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786384" y="5998464"/>
            <a:ext cx="1005840" cy="1005840"/>
            <a:chOff x="0" y="0"/>
            <a:chExt cx="1341120" cy="134112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66675"/>
              <a:ext cx="134112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☁️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2011680" y="5998464"/>
            <a:ext cx="3986784" cy="512064"/>
            <a:chOff x="0" y="0"/>
            <a:chExt cx="5315712" cy="68275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5315712" cy="682752"/>
            </a:xfrm>
            <a:custGeom>
              <a:avLst/>
              <a:gdLst/>
              <a:ahLst/>
              <a:cxnLst/>
              <a:rect r="r" b="b" t="t" l="l"/>
              <a:pathLst>
                <a:path h="682752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704" r="0" b="-101704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57150"/>
              <a:ext cx="5315712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2DD4B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Blob Storage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2011680" y="6473952"/>
            <a:ext cx="3986784" cy="402336"/>
            <a:chOff x="0" y="0"/>
            <a:chExt cx="5315712" cy="536448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5315712" cy="536448"/>
            </a:xfrm>
            <a:custGeom>
              <a:avLst/>
              <a:gdLst/>
              <a:ahLst/>
              <a:cxnLst/>
              <a:rect r="r" b="b" t="t" l="l"/>
              <a:pathLst>
                <a:path h="536448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079" r="0" b="-143079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47625"/>
              <a:ext cx="5315712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Google Drive API v3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773687" y="7156199"/>
            <a:ext cx="5146043" cy="80267"/>
            <a:chOff x="0" y="0"/>
            <a:chExt cx="6861391" cy="107023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16891" y="16891"/>
              <a:ext cx="6827520" cy="73152"/>
            </a:xfrm>
            <a:custGeom>
              <a:avLst/>
              <a:gdLst/>
              <a:ahLst/>
              <a:cxnLst/>
              <a:rect r="r" b="b" t="t" l="l"/>
              <a:pathLst>
                <a:path h="731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2DD4BF">
                <a:alpha val="15686"/>
              </a:srgbClr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6861301" cy="106936"/>
            </a:xfrm>
            <a:custGeom>
              <a:avLst/>
              <a:gdLst/>
              <a:ahLst/>
              <a:cxnLst/>
              <a:rect r="r" b="b" t="t" l="l"/>
              <a:pathLst>
                <a:path h="106936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90043"/>
                  </a:lnTo>
                  <a:cubicBezTo>
                    <a:pt x="6861301" y="99441"/>
                    <a:pt x="6853682" y="106934"/>
                    <a:pt x="684441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6844411" y="73152"/>
                  </a:lnTo>
                  <a:lnTo>
                    <a:pt x="6844411" y="90043"/>
                  </a:lnTo>
                  <a:lnTo>
                    <a:pt x="6827520" y="90043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786384" y="7315200"/>
            <a:ext cx="5157216" cy="822960"/>
            <a:chOff x="0" y="0"/>
            <a:chExt cx="6876288" cy="109728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6876288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106" r="0" b="-72106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6876288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Why: Separate metadata (DB) from payload (Drive) — cleaner access control.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786384" y="8266176"/>
            <a:ext cx="5157216" cy="1005840"/>
            <a:chOff x="0" y="0"/>
            <a:chExt cx="6876288" cy="134112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6876288" cy="1341120"/>
            </a:xfrm>
            <a:custGeom>
              <a:avLst/>
              <a:gdLst/>
              <a:ahLst/>
              <a:cxnLst/>
              <a:rect r="r" b="b" t="t" l="l"/>
              <a:pathLst>
                <a:path h="1341120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905" r="0" b="-49905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6876288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AFC7"/>
                  </a:solidFill>
                  <a:latin typeface="Consolas"/>
                  <a:ea typeface="Consolas"/>
                  <a:cs typeface="Consolas"/>
                  <a:sym typeface="Consolas"/>
                </a:rPr>
                <a:t>src/config/drive.js · driveService.js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6442967" y="5656583"/>
            <a:ext cx="5694683" cy="3865883"/>
            <a:chOff x="0" y="0"/>
            <a:chExt cx="7592911" cy="5154511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16891" y="16891"/>
              <a:ext cx="7559040" cy="5120640"/>
            </a:xfrm>
            <a:custGeom>
              <a:avLst/>
              <a:gdLst/>
              <a:ahLst/>
              <a:cxnLst/>
              <a:rect r="r" b="b" t="t" l="l"/>
              <a:pathLst>
                <a:path h="51206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7592822" cy="5154422"/>
            </a:xfrm>
            <a:custGeom>
              <a:avLst/>
              <a:gdLst/>
              <a:ahLst/>
              <a:cxnLst/>
              <a:rect r="r" b="b" t="t" l="l"/>
              <a:pathLst>
                <a:path h="515442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5137531"/>
                  </a:lnTo>
                  <a:cubicBezTo>
                    <a:pt x="7592822" y="5146929"/>
                    <a:pt x="7585202" y="5154422"/>
                    <a:pt x="7575931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7575931" y="5120640"/>
                  </a:lnTo>
                  <a:lnTo>
                    <a:pt x="7575931" y="5137531"/>
                  </a:lnTo>
                  <a:lnTo>
                    <a:pt x="7559040" y="51375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6442967" y="5656583"/>
            <a:ext cx="5694683" cy="208283"/>
            <a:chOff x="0" y="0"/>
            <a:chExt cx="7592911" cy="277711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16891" y="16891"/>
              <a:ext cx="7559040" cy="243840"/>
            </a:xfrm>
            <a:custGeom>
              <a:avLst/>
              <a:gdLst/>
              <a:ahLst/>
              <a:cxnLst/>
              <a:rect r="r" b="b" t="t" l="l"/>
              <a:pathLst>
                <a:path h="2438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7592822" cy="277624"/>
            </a:xfrm>
            <a:custGeom>
              <a:avLst/>
              <a:gdLst/>
              <a:ahLst/>
              <a:cxnLst/>
              <a:rect r="r" b="b" t="t" l="l"/>
              <a:pathLst>
                <a:path h="277624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260731"/>
                  </a:lnTo>
                  <a:cubicBezTo>
                    <a:pt x="7592822" y="270129"/>
                    <a:pt x="7585202" y="277622"/>
                    <a:pt x="7575931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7575931" y="243840"/>
                  </a:lnTo>
                  <a:lnTo>
                    <a:pt x="7575931" y="260731"/>
                  </a:lnTo>
                  <a:lnTo>
                    <a:pt x="7559040" y="2607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6717287" y="5985767"/>
            <a:ext cx="1031243" cy="1031243"/>
            <a:chOff x="0" y="0"/>
            <a:chExt cx="1374991" cy="1374991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16891" y="16891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8B5CF6">
                <a:alpha val="3922"/>
              </a:srgbClr>
            </a:solidFill>
          </p:spPr>
        </p:sp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6729984" y="5998464"/>
            <a:ext cx="1005840" cy="1005840"/>
            <a:chOff x="0" y="0"/>
            <a:chExt cx="1341120" cy="134112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66675"/>
              <a:ext cx="134112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🌳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7955280" y="5998464"/>
            <a:ext cx="3986784" cy="512064"/>
            <a:chOff x="0" y="0"/>
            <a:chExt cx="5315712" cy="682752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5315712" cy="682752"/>
            </a:xfrm>
            <a:custGeom>
              <a:avLst/>
              <a:gdLst/>
              <a:ahLst/>
              <a:cxnLst/>
              <a:rect r="r" b="b" t="t" l="l"/>
              <a:pathLst>
                <a:path h="682752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704" r="0" b="-101704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57150"/>
              <a:ext cx="5315712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8B5C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A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7955280" y="6473952"/>
            <a:ext cx="3986784" cy="402336"/>
            <a:chOff x="0" y="0"/>
            <a:chExt cx="5315712" cy="536448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5315712" cy="536448"/>
            </a:xfrm>
            <a:custGeom>
              <a:avLst/>
              <a:gdLst/>
              <a:ahLst/>
              <a:cxnLst/>
              <a:rect r="r" b="b" t="t" l="l"/>
              <a:pathLst>
                <a:path h="536448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079" r="0" b="-143079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47625"/>
              <a:ext cx="5315712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Python 3 · Graphviz · matplotlib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6717287" y="7156199"/>
            <a:ext cx="5146043" cy="80267"/>
            <a:chOff x="0" y="0"/>
            <a:chExt cx="6861391" cy="107023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16891" y="16891"/>
              <a:ext cx="6827520" cy="73152"/>
            </a:xfrm>
            <a:custGeom>
              <a:avLst/>
              <a:gdLst/>
              <a:ahLst/>
              <a:cxnLst/>
              <a:rect r="r" b="b" t="t" l="l"/>
              <a:pathLst>
                <a:path h="731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8B5CF6">
                <a:alpha val="15686"/>
              </a:srgbClr>
            </a:solidFill>
          </p:spPr>
        </p:sp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6861301" cy="106936"/>
            </a:xfrm>
            <a:custGeom>
              <a:avLst/>
              <a:gdLst/>
              <a:ahLst/>
              <a:cxnLst/>
              <a:rect r="r" b="b" t="t" l="l"/>
              <a:pathLst>
                <a:path h="106936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90043"/>
                  </a:lnTo>
                  <a:cubicBezTo>
                    <a:pt x="6861301" y="99441"/>
                    <a:pt x="6853682" y="106934"/>
                    <a:pt x="684441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6844411" y="73152"/>
                  </a:lnTo>
                  <a:lnTo>
                    <a:pt x="6844411" y="90043"/>
                  </a:lnTo>
                  <a:lnTo>
                    <a:pt x="6827520" y="90043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6729984" y="7315200"/>
            <a:ext cx="5157216" cy="822960"/>
            <a:chOff x="0" y="0"/>
            <a:chExt cx="6876288" cy="109728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6876288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106" r="0" b="-72106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38100"/>
              <a:ext cx="6876288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Why: Data-structure work stays in Python; Graphviz for tree visualization.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6729984" y="8266176"/>
            <a:ext cx="5157216" cy="1005840"/>
            <a:chOff x="0" y="0"/>
            <a:chExt cx="6876288" cy="134112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6876288" cy="1341120"/>
            </a:xfrm>
            <a:custGeom>
              <a:avLst/>
              <a:gdLst/>
              <a:ahLst/>
              <a:cxnLst/>
              <a:rect r="r" b="b" t="t" l="l"/>
              <a:pathLst>
                <a:path h="1341120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905" r="0" b="-49905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6876288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AFC7"/>
                  </a:solidFill>
                  <a:latin typeface="Consolas"/>
                  <a:ea typeface="Consolas"/>
                  <a:cs typeface="Consolas"/>
                  <a:sym typeface="Consolas"/>
                </a:rPr>
                <a:t>database/ · integration/ · evidence/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12386567" y="5656583"/>
            <a:ext cx="5694683" cy="3865883"/>
            <a:chOff x="0" y="0"/>
            <a:chExt cx="7592911" cy="5154511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16891" y="16891"/>
              <a:ext cx="7559040" cy="5120640"/>
            </a:xfrm>
            <a:custGeom>
              <a:avLst/>
              <a:gdLst/>
              <a:ahLst/>
              <a:cxnLst/>
              <a:rect r="r" b="b" t="t" l="l"/>
              <a:pathLst>
                <a:path h="51206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7592822" cy="5154422"/>
            </a:xfrm>
            <a:custGeom>
              <a:avLst/>
              <a:gdLst/>
              <a:ahLst/>
              <a:cxnLst/>
              <a:rect r="r" b="b" t="t" l="l"/>
              <a:pathLst>
                <a:path h="515442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5137531"/>
                  </a:lnTo>
                  <a:cubicBezTo>
                    <a:pt x="7592822" y="5146929"/>
                    <a:pt x="7585202" y="5154422"/>
                    <a:pt x="7575931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7575931" y="5120640"/>
                  </a:lnTo>
                  <a:lnTo>
                    <a:pt x="7575931" y="5137531"/>
                  </a:lnTo>
                  <a:lnTo>
                    <a:pt x="7559040" y="51375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12386567" y="5656583"/>
            <a:ext cx="5694683" cy="208283"/>
            <a:chOff x="0" y="0"/>
            <a:chExt cx="7592911" cy="277711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16891" y="16891"/>
              <a:ext cx="7559040" cy="243840"/>
            </a:xfrm>
            <a:custGeom>
              <a:avLst/>
              <a:gdLst/>
              <a:ahLst/>
              <a:cxnLst/>
              <a:rect r="r" b="b" t="t" l="l"/>
              <a:pathLst>
                <a:path h="2438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EF4444"/>
            </a:solidFill>
          </p:spPr>
        </p:sp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7592822" cy="277624"/>
            </a:xfrm>
            <a:custGeom>
              <a:avLst/>
              <a:gdLst/>
              <a:ahLst/>
              <a:cxnLst/>
              <a:rect r="r" b="b" t="t" l="l"/>
              <a:pathLst>
                <a:path h="277624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260731"/>
                  </a:lnTo>
                  <a:cubicBezTo>
                    <a:pt x="7592822" y="270129"/>
                    <a:pt x="7585202" y="277622"/>
                    <a:pt x="7575931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7575931" y="243840"/>
                  </a:lnTo>
                  <a:lnTo>
                    <a:pt x="7575931" y="260731"/>
                  </a:lnTo>
                  <a:lnTo>
                    <a:pt x="7559040" y="2607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12660887" y="5985767"/>
            <a:ext cx="1031243" cy="1031243"/>
            <a:chOff x="0" y="0"/>
            <a:chExt cx="1374991" cy="1374991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16891" y="16891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EF4444">
                <a:alpha val="3922"/>
              </a:srgbClr>
            </a:solidFill>
          </p:spPr>
        </p:sp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12673584" y="5998464"/>
            <a:ext cx="1005840" cy="1005840"/>
            <a:chOff x="0" y="0"/>
            <a:chExt cx="1341120" cy="134112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66675"/>
              <a:ext cx="134112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🔑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13898880" y="5998464"/>
            <a:ext cx="3986784" cy="512064"/>
            <a:chOff x="0" y="0"/>
            <a:chExt cx="5315712" cy="682752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5315712" cy="682752"/>
            </a:xfrm>
            <a:custGeom>
              <a:avLst/>
              <a:gdLst/>
              <a:ahLst/>
              <a:cxnLst/>
              <a:rect r="r" b="b" t="t" l="l"/>
              <a:pathLst>
                <a:path h="682752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704" r="0" b="-101704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57150"/>
              <a:ext cx="5315712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Security Libs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3898880" y="6473952"/>
            <a:ext cx="3986784" cy="402336"/>
            <a:chOff x="0" y="0"/>
            <a:chExt cx="5315712" cy="536448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5315712" cy="536448"/>
            </a:xfrm>
            <a:custGeom>
              <a:avLst/>
              <a:gdLst/>
              <a:ahLst/>
              <a:cxnLst/>
              <a:rect r="r" b="b" t="t" l="l"/>
              <a:pathLst>
                <a:path h="536448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079" r="0" b="-143079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47625"/>
              <a:ext cx="5315712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crypto (PBKDF2) · uuid · multer · file-type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12660887" y="7156199"/>
            <a:ext cx="5146043" cy="80267"/>
            <a:chOff x="0" y="0"/>
            <a:chExt cx="6861391" cy="107023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16891" y="16891"/>
              <a:ext cx="6827520" cy="73152"/>
            </a:xfrm>
            <a:custGeom>
              <a:avLst/>
              <a:gdLst/>
              <a:ahLst/>
              <a:cxnLst/>
              <a:rect r="r" b="b" t="t" l="l"/>
              <a:pathLst>
                <a:path h="731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EF4444">
                <a:alpha val="15686"/>
              </a:srgbClr>
            </a:solidFill>
          </p:spPr>
        </p:sp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6861301" cy="106936"/>
            </a:xfrm>
            <a:custGeom>
              <a:avLst/>
              <a:gdLst/>
              <a:ahLst/>
              <a:cxnLst/>
              <a:rect r="r" b="b" t="t" l="l"/>
              <a:pathLst>
                <a:path h="106936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90043"/>
                  </a:lnTo>
                  <a:cubicBezTo>
                    <a:pt x="6861301" y="99441"/>
                    <a:pt x="6853682" y="106934"/>
                    <a:pt x="684441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6844411" y="73152"/>
                  </a:lnTo>
                  <a:lnTo>
                    <a:pt x="6844411" y="90043"/>
                  </a:lnTo>
                  <a:lnTo>
                    <a:pt x="6827520" y="90043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2673584" y="7315200"/>
            <a:ext cx="5157216" cy="822960"/>
            <a:chOff x="0" y="0"/>
            <a:chExt cx="6876288" cy="1097280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6876288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106" r="0" b="-72106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38100"/>
              <a:ext cx="6876288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Why: PBKDF2 for salted token hashing; uuid for IDs; multer+file-type for uploads.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12673584" y="8266176"/>
            <a:ext cx="5157216" cy="1005840"/>
            <a:chOff x="0" y="0"/>
            <a:chExt cx="6876288" cy="1341120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6876288" cy="1341120"/>
            </a:xfrm>
            <a:custGeom>
              <a:avLst/>
              <a:gdLst/>
              <a:ahLst/>
              <a:cxnLst/>
              <a:rect r="r" b="b" t="t" l="l"/>
              <a:pathLst>
                <a:path h="1341120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905" r="0" b="-49905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38100"/>
              <a:ext cx="6876288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AFC7"/>
                  </a:solidFill>
                  <a:latin typeface="Consolas"/>
                  <a:ea typeface="Consolas"/>
                  <a:cs typeface="Consolas"/>
                  <a:sym typeface="Consolas"/>
                </a:rPr>
                <a:t>services/crypto.js · middleware/upload.js · fileValidation.js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8283"/>
            <a:chOff x="0" y="0"/>
            <a:chExt cx="24417871" cy="2777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7624"/>
            </a:xfrm>
            <a:custGeom>
              <a:avLst/>
              <a:gdLst/>
              <a:ahLst/>
              <a:cxnLst/>
              <a:rect r="r" b="b" t="t" l="l"/>
              <a:pathLst>
                <a:path h="27762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0731"/>
                  </a:lnTo>
                  <a:cubicBezTo>
                    <a:pt x="24417782" y="270129"/>
                    <a:pt x="24410163" y="277622"/>
                    <a:pt x="2440089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4400890" y="243840"/>
                  </a:lnTo>
                  <a:lnTo>
                    <a:pt x="24400890" y="260731"/>
                  </a:lnTo>
                  <a:lnTo>
                    <a:pt x="24384000" y="2607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2064" y="274320"/>
            <a:ext cx="17373600" cy="914400"/>
            <a:chOff x="0" y="0"/>
            <a:chExt cx="2316480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64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31648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High-Level Architecture &amp; Data Flow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99367" y="1486919"/>
            <a:ext cx="7706363" cy="1268987"/>
            <a:chOff x="0" y="0"/>
            <a:chExt cx="10275151" cy="16919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0241281" cy="1658112"/>
            </a:xfrm>
            <a:custGeom>
              <a:avLst/>
              <a:gdLst/>
              <a:ahLst/>
              <a:cxnLst/>
              <a:rect r="r" b="b" t="t" l="l"/>
              <a:pathLst>
                <a:path h="1658112" w="10241281">
                  <a:moveTo>
                    <a:pt x="0" y="0"/>
                  </a:moveTo>
                  <a:lnTo>
                    <a:pt x="10241281" y="0"/>
                  </a:lnTo>
                  <a:lnTo>
                    <a:pt x="10241281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275062" cy="1691894"/>
            </a:xfrm>
            <a:custGeom>
              <a:avLst/>
              <a:gdLst/>
              <a:ahLst/>
              <a:cxnLst/>
              <a:rect r="r" b="b" t="t" l="l"/>
              <a:pathLst>
                <a:path h="1691894" w="10275062">
                  <a:moveTo>
                    <a:pt x="16891" y="0"/>
                  </a:moveTo>
                  <a:lnTo>
                    <a:pt x="10258172" y="0"/>
                  </a:lnTo>
                  <a:cubicBezTo>
                    <a:pt x="10267569" y="0"/>
                    <a:pt x="10275062" y="7620"/>
                    <a:pt x="10275062" y="16891"/>
                  </a:cubicBezTo>
                  <a:lnTo>
                    <a:pt x="10275062" y="1675003"/>
                  </a:lnTo>
                  <a:cubicBezTo>
                    <a:pt x="10275062" y="1684401"/>
                    <a:pt x="10267442" y="1691894"/>
                    <a:pt x="10258172" y="1691894"/>
                  </a:cubicBezTo>
                  <a:lnTo>
                    <a:pt x="16891" y="1691894"/>
                  </a:lnTo>
                  <a:cubicBezTo>
                    <a:pt x="7493" y="1691894"/>
                    <a:pt x="0" y="1684274"/>
                    <a:pt x="0" y="1675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75003"/>
                  </a:lnTo>
                  <a:lnTo>
                    <a:pt x="16891" y="1675003"/>
                  </a:lnTo>
                  <a:lnTo>
                    <a:pt x="16891" y="1658112"/>
                  </a:lnTo>
                  <a:lnTo>
                    <a:pt x="10258172" y="1658112"/>
                  </a:lnTo>
                  <a:lnTo>
                    <a:pt x="10258172" y="1675003"/>
                  </a:lnTo>
                  <a:lnTo>
                    <a:pt x="10241280" y="1675003"/>
                  </a:lnTo>
                  <a:lnTo>
                    <a:pt x="10241280" y="16891"/>
                  </a:lnTo>
                  <a:lnTo>
                    <a:pt x="10258172" y="16891"/>
                  </a:lnTo>
                  <a:lnTo>
                    <a:pt x="10258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99367" y="1486919"/>
            <a:ext cx="171707" cy="1268987"/>
            <a:chOff x="0" y="0"/>
            <a:chExt cx="228943" cy="169198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95072" cy="1658112"/>
            </a:xfrm>
            <a:custGeom>
              <a:avLst/>
              <a:gdLst/>
              <a:ahLst/>
              <a:cxnLst/>
              <a:rect r="r" b="b" t="t" l="l"/>
              <a:pathLst>
                <a:path h="1658112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8854" cy="1691894"/>
            </a:xfrm>
            <a:custGeom>
              <a:avLst/>
              <a:gdLst/>
              <a:ahLst/>
              <a:cxnLst/>
              <a:rect r="r" b="b" t="t" l="l"/>
              <a:pathLst>
                <a:path h="1691894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675003"/>
                  </a:lnTo>
                  <a:cubicBezTo>
                    <a:pt x="228854" y="1684401"/>
                    <a:pt x="221234" y="1691894"/>
                    <a:pt x="211963" y="1691894"/>
                  </a:cubicBezTo>
                  <a:lnTo>
                    <a:pt x="16891" y="1691894"/>
                  </a:lnTo>
                  <a:cubicBezTo>
                    <a:pt x="7493" y="1691894"/>
                    <a:pt x="0" y="1684274"/>
                    <a:pt x="0" y="1675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75003"/>
                  </a:lnTo>
                  <a:lnTo>
                    <a:pt x="16891" y="1675003"/>
                  </a:lnTo>
                  <a:lnTo>
                    <a:pt x="16891" y="1658112"/>
                  </a:lnTo>
                  <a:lnTo>
                    <a:pt x="211963" y="1658112"/>
                  </a:lnTo>
                  <a:lnTo>
                    <a:pt x="211963" y="1675003"/>
                  </a:lnTo>
                  <a:lnTo>
                    <a:pt x="195072" y="1675003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04672" y="1591056"/>
            <a:ext cx="7132320" cy="548640"/>
            <a:chOff x="0" y="0"/>
            <a:chExt cx="950976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95097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Browser Frontend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04672" y="2139696"/>
            <a:ext cx="7132320" cy="475488"/>
            <a:chOff x="0" y="0"/>
            <a:chExt cx="9509760" cy="63398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509760" cy="633984"/>
            </a:xfrm>
            <a:custGeom>
              <a:avLst/>
              <a:gdLst/>
              <a:ahLst/>
              <a:cxnLst/>
              <a:rect r="r" b="b" t="t" l="l"/>
              <a:pathLst>
                <a:path h="633984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5097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HTML · CSS · Vanilla JS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21159" y="2748791"/>
            <a:ext cx="98555" cy="391163"/>
            <a:chOff x="0" y="0"/>
            <a:chExt cx="131407" cy="52155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97536" cy="487680"/>
            </a:xfrm>
            <a:custGeom>
              <a:avLst/>
              <a:gdLst/>
              <a:ahLst/>
              <a:cxnLst/>
              <a:rect r="r" b="b" t="t" l="l"/>
              <a:pathLst>
                <a:path h="487680" w="97536">
                  <a:moveTo>
                    <a:pt x="0" y="0"/>
                  </a:moveTo>
                  <a:lnTo>
                    <a:pt x="97536" y="0"/>
                  </a:lnTo>
                  <a:lnTo>
                    <a:pt x="97536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8BAFC7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1318" cy="521464"/>
            </a:xfrm>
            <a:custGeom>
              <a:avLst/>
              <a:gdLst/>
              <a:ahLst/>
              <a:cxnLst/>
              <a:rect r="r" b="b" t="t" l="l"/>
              <a:pathLst>
                <a:path h="521464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504571"/>
                  </a:lnTo>
                  <a:cubicBezTo>
                    <a:pt x="131318" y="513969"/>
                    <a:pt x="123698" y="521462"/>
                    <a:pt x="114427" y="521462"/>
                  </a:cubicBezTo>
                  <a:lnTo>
                    <a:pt x="16891" y="521462"/>
                  </a:lnTo>
                  <a:cubicBezTo>
                    <a:pt x="7620" y="521589"/>
                    <a:pt x="0" y="513969"/>
                    <a:pt x="0" y="504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16891" y="487680"/>
                  </a:lnTo>
                  <a:lnTo>
                    <a:pt x="114427" y="487680"/>
                  </a:lnTo>
                  <a:lnTo>
                    <a:pt x="114427" y="504571"/>
                  </a:lnTo>
                  <a:lnTo>
                    <a:pt x="97536" y="504571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99367" y="2949959"/>
            <a:ext cx="7706363" cy="1268987"/>
            <a:chOff x="0" y="0"/>
            <a:chExt cx="10275151" cy="169198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0241281" cy="1658112"/>
            </a:xfrm>
            <a:custGeom>
              <a:avLst/>
              <a:gdLst/>
              <a:ahLst/>
              <a:cxnLst/>
              <a:rect r="r" b="b" t="t" l="l"/>
              <a:pathLst>
                <a:path h="1658112" w="10241281">
                  <a:moveTo>
                    <a:pt x="0" y="0"/>
                  </a:moveTo>
                  <a:lnTo>
                    <a:pt x="10241281" y="0"/>
                  </a:lnTo>
                  <a:lnTo>
                    <a:pt x="10241281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275062" cy="1691894"/>
            </a:xfrm>
            <a:custGeom>
              <a:avLst/>
              <a:gdLst/>
              <a:ahLst/>
              <a:cxnLst/>
              <a:rect r="r" b="b" t="t" l="l"/>
              <a:pathLst>
                <a:path h="1691894" w="10275062">
                  <a:moveTo>
                    <a:pt x="16891" y="0"/>
                  </a:moveTo>
                  <a:lnTo>
                    <a:pt x="10258172" y="0"/>
                  </a:lnTo>
                  <a:cubicBezTo>
                    <a:pt x="10267569" y="0"/>
                    <a:pt x="10275062" y="7620"/>
                    <a:pt x="10275062" y="16891"/>
                  </a:cubicBezTo>
                  <a:lnTo>
                    <a:pt x="10275062" y="1675003"/>
                  </a:lnTo>
                  <a:cubicBezTo>
                    <a:pt x="10275062" y="1684401"/>
                    <a:pt x="10267442" y="1691894"/>
                    <a:pt x="10258172" y="1691894"/>
                  </a:cubicBezTo>
                  <a:lnTo>
                    <a:pt x="16891" y="1691894"/>
                  </a:lnTo>
                  <a:cubicBezTo>
                    <a:pt x="7493" y="1691894"/>
                    <a:pt x="0" y="1684274"/>
                    <a:pt x="0" y="1675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75003"/>
                  </a:lnTo>
                  <a:lnTo>
                    <a:pt x="16891" y="1675003"/>
                  </a:lnTo>
                  <a:lnTo>
                    <a:pt x="16891" y="1658112"/>
                  </a:lnTo>
                  <a:lnTo>
                    <a:pt x="10258172" y="1658112"/>
                  </a:lnTo>
                  <a:lnTo>
                    <a:pt x="10258172" y="1675003"/>
                  </a:lnTo>
                  <a:lnTo>
                    <a:pt x="10241280" y="1675003"/>
                  </a:lnTo>
                  <a:lnTo>
                    <a:pt x="10241280" y="16891"/>
                  </a:lnTo>
                  <a:lnTo>
                    <a:pt x="10258172" y="16891"/>
                  </a:lnTo>
                  <a:lnTo>
                    <a:pt x="10258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499367" y="2949959"/>
            <a:ext cx="171707" cy="1268987"/>
            <a:chOff x="0" y="0"/>
            <a:chExt cx="228943" cy="169198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195072" cy="1658112"/>
            </a:xfrm>
            <a:custGeom>
              <a:avLst/>
              <a:gdLst/>
              <a:ahLst/>
              <a:cxnLst/>
              <a:rect r="r" b="b" t="t" l="l"/>
              <a:pathLst>
                <a:path h="1658112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8854" cy="1691894"/>
            </a:xfrm>
            <a:custGeom>
              <a:avLst/>
              <a:gdLst/>
              <a:ahLst/>
              <a:cxnLst/>
              <a:rect r="r" b="b" t="t" l="l"/>
              <a:pathLst>
                <a:path h="1691894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675003"/>
                  </a:lnTo>
                  <a:cubicBezTo>
                    <a:pt x="228854" y="1684401"/>
                    <a:pt x="221234" y="1691894"/>
                    <a:pt x="211963" y="1691894"/>
                  </a:cubicBezTo>
                  <a:lnTo>
                    <a:pt x="16891" y="1691894"/>
                  </a:lnTo>
                  <a:cubicBezTo>
                    <a:pt x="7493" y="1691894"/>
                    <a:pt x="0" y="1684274"/>
                    <a:pt x="0" y="1675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75003"/>
                  </a:lnTo>
                  <a:lnTo>
                    <a:pt x="16891" y="1675003"/>
                  </a:lnTo>
                  <a:lnTo>
                    <a:pt x="16891" y="1658112"/>
                  </a:lnTo>
                  <a:lnTo>
                    <a:pt x="211963" y="1658112"/>
                  </a:lnTo>
                  <a:lnTo>
                    <a:pt x="211963" y="1675003"/>
                  </a:lnTo>
                  <a:lnTo>
                    <a:pt x="195072" y="1675003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04672" y="3054096"/>
            <a:ext cx="7132320" cy="548640"/>
            <a:chOff x="0" y="0"/>
            <a:chExt cx="950976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95097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Express API Layer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04672" y="3602736"/>
            <a:ext cx="7132320" cy="475488"/>
            <a:chOff x="0" y="0"/>
            <a:chExt cx="9509760" cy="63398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509760" cy="633984"/>
            </a:xfrm>
            <a:custGeom>
              <a:avLst/>
              <a:gdLst/>
              <a:ahLst/>
              <a:cxnLst/>
              <a:rect r="r" b="b" t="t" l="l"/>
              <a:pathLst>
                <a:path h="633984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95097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/auth  /portfolio  /vaults  /files  /security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21159" y="4211831"/>
            <a:ext cx="98555" cy="391163"/>
            <a:chOff x="0" y="0"/>
            <a:chExt cx="131407" cy="52155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97536" cy="487680"/>
            </a:xfrm>
            <a:custGeom>
              <a:avLst/>
              <a:gdLst/>
              <a:ahLst/>
              <a:cxnLst/>
              <a:rect r="r" b="b" t="t" l="l"/>
              <a:pathLst>
                <a:path h="487680" w="97536">
                  <a:moveTo>
                    <a:pt x="0" y="0"/>
                  </a:moveTo>
                  <a:lnTo>
                    <a:pt x="97536" y="0"/>
                  </a:lnTo>
                  <a:lnTo>
                    <a:pt x="97536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8BAFC7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31318" cy="521464"/>
            </a:xfrm>
            <a:custGeom>
              <a:avLst/>
              <a:gdLst/>
              <a:ahLst/>
              <a:cxnLst/>
              <a:rect r="r" b="b" t="t" l="l"/>
              <a:pathLst>
                <a:path h="521464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504571"/>
                  </a:lnTo>
                  <a:cubicBezTo>
                    <a:pt x="131318" y="513969"/>
                    <a:pt x="123698" y="521462"/>
                    <a:pt x="114427" y="521462"/>
                  </a:cubicBezTo>
                  <a:lnTo>
                    <a:pt x="16891" y="521462"/>
                  </a:lnTo>
                  <a:cubicBezTo>
                    <a:pt x="7620" y="521589"/>
                    <a:pt x="0" y="513969"/>
                    <a:pt x="0" y="504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16891" y="487680"/>
                  </a:lnTo>
                  <a:lnTo>
                    <a:pt x="114427" y="487680"/>
                  </a:lnTo>
                  <a:lnTo>
                    <a:pt x="114427" y="504571"/>
                  </a:lnTo>
                  <a:lnTo>
                    <a:pt x="97536" y="504571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499367" y="4412999"/>
            <a:ext cx="7706363" cy="1268987"/>
            <a:chOff x="0" y="0"/>
            <a:chExt cx="10275151" cy="169198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0241281" cy="1658112"/>
            </a:xfrm>
            <a:custGeom>
              <a:avLst/>
              <a:gdLst/>
              <a:ahLst/>
              <a:cxnLst/>
              <a:rect r="r" b="b" t="t" l="l"/>
              <a:pathLst>
                <a:path h="1658112" w="10241281">
                  <a:moveTo>
                    <a:pt x="0" y="0"/>
                  </a:moveTo>
                  <a:lnTo>
                    <a:pt x="10241281" y="0"/>
                  </a:lnTo>
                  <a:lnTo>
                    <a:pt x="10241281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275062" cy="1691894"/>
            </a:xfrm>
            <a:custGeom>
              <a:avLst/>
              <a:gdLst/>
              <a:ahLst/>
              <a:cxnLst/>
              <a:rect r="r" b="b" t="t" l="l"/>
              <a:pathLst>
                <a:path h="1691894" w="10275062">
                  <a:moveTo>
                    <a:pt x="16891" y="0"/>
                  </a:moveTo>
                  <a:lnTo>
                    <a:pt x="10258172" y="0"/>
                  </a:lnTo>
                  <a:cubicBezTo>
                    <a:pt x="10267569" y="0"/>
                    <a:pt x="10275062" y="7620"/>
                    <a:pt x="10275062" y="16891"/>
                  </a:cubicBezTo>
                  <a:lnTo>
                    <a:pt x="10275062" y="1675003"/>
                  </a:lnTo>
                  <a:cubicBezTo>
                    <a:pt x="10275062" y="1684401"/>
                    <a:pt x="10267442" y="1691894"/>
                    <a:pt x="10258172" y="1691894"/>
                  </a:cubicBezTo>
                  <a:lnTo>
                    <a:pt x="16891" y="1691894"/>
                  </a:lnTo>
                  <a:cubicBezTo>
                    <a:pt x="7493" y="1691894"/>
                    <a:pt x="0" y="1684274"/>
                    <a:pt x="0" y="1675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75003"/>
                  </a:lnTo>
                  <a:lnTo>
                    <a:pt x="16891" y="1675003"/>
                  </a:lnTo>
                  <a:lnTo>
                    <a:pt x="16891" y="1658112"/>
                  </a:lnTo>
                  <a:lnTo>
                    <a:pt x="10258172" y="1658112"/>
                  </a:lnTo>
                  <a:lnTo>
                    <a:pt x="10258172" y="1675003"/>
                  </a:lnTo>
                  <a:lnTo>
                    <a:pt x="10241280" y="1675003"/>
                  </a:lnTo>
                  <a:lnTo>
                    <a:pt x="10241280" y="16891"/>
                  </a:lnTo>
                  <a:lnTo>
                    <a:pt x="10258172" y="16891"/>
                  </a:lnTo>
                  <a:lnTo>
                    <a:pt x="10258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499367" y="4412999"/>
            <a:ext cx="171707" cy="1268987"/>
            <a:chOff x="0" y="0"/>
            <a:chExt cx="228943" cy="169198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95072" cy="1658112"/>
            </a:xfrm>
            <a:custGeom>
              <a:avLst/>
              <a:gdLst/>
              <a:ahLst/>
              <a:cxnLst/>
              <a:rect r="r" b="b" t="t" l="l"/>
              <a:pathLst>
                <a:path h="1658112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8854" cy="1691894"/>
            </a:xfrm>
            <a:custGeom>
              <a:avLst/>
              <a:gdLst/>
              <a:ahLst/>
              <a:cxnLst/>
              <a:rect r="r" b="b" t="t" l="l"/>
              <a:pathLst>
                <a:path h="1691894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675003"/>
                  </a:lnTo>
                  <a:cubicBezTo>
                    <a:pt x="228854" y="1684401"/>
                    <a:pt x="221234" y="1691894"/>
                    <a:pt x="211963" y="1691894"/>
                  </a:cubicBezTo>
                  <a:lnTo>
                    <a:pt x="16891" y="1691894"/>
                  </a:lnTo>
                  <a:cubicBezTo>
                    <a:pt x="7493" y="1691894"/>
                    <a:pt x="0" y="1684274"/>
                    <a:pt x="0" y="1675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75003"/>
                  </a:lnTo>
                  <a:lnTo>
                    <a:pt x="16891" y="1675003"/>
                  </a:lnTo>
                  <a:lnTo>
                    <a:pt x="16891" y="1658112"/>
                  </a:lnTo>
                  <a:lnTo>
                    <a:pt x="211963" y="1658112"/>
                  </a:lnTo>
                  <a:lnTo>
                    <a:pt x="211963" y="1675003"/>
                  </a:lnTo>
                  <a:lnTo>
                    <a:pt x="195072" y="1675003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804672" y="4517136"/>
            <a:ext cx="7132320" cy="548640"/>
            <a:chOff x="0" y="0"/>
            <a:chExt cx="950976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95097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authSession Middleware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04672" y="5065776"/>
            <a:ext cx="7132320" cy="475488"/>
            <a:chOff x="0" y="0"/>
            <a:chExt cx="9509760" cy="63398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509760" cy="633984"/>
            </a:xfrm>
            <a:custGeom>
              <a:avLst/>
              <a:gdLst/>
              <a:ahLst/>
              <a:cxnLst/>
              <a:rect r="r" b="b" t="t" l="l"/>
              <a:pathLst>
                <a:path h="633984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95097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every protected request revalidates vault+token state in MySQL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121159" y="5674871"/>
            <a:ext cx="98555" cy="391163"/>
            <a:chOff x="0" y="0"/>
            <a:chExt cx="131407" cy="52155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97536" cy="487680"/>
            </a:xfrm>
            <a:custGeom>
              <a:avLst/>
              <a:gdLst/>
              <a:ahLst/>
              <a:cxnLst/>
              <a:rect r="r" b="b" t="t" l="l"/>
              <a:pathLst>
                <a:path h="487680" w="97536">
                  <a:moveTo>
                    <a:pt x="0" y="0"/>
                  </a:moveTo>
                  <a:lnTo>
                    <a:pt x="97536" y="0"/>
                  </a:lnTo>
                  <a:lnTo>
                    <a:pt x="97536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8BAFC7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31318" cy="521464"/>
            </a:xfrm>
            <a:custGeom>
              <a:avLst/>
              <a:gdLst/>
              <a:ahLst/>
              <a:cxnLst/>
              <a:rect r="r" b="b" t="t" l="l"/>
              <a:pathLst>
                <a:path h="521464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504571"/>
                  </a:lnTo>
                  <a:cubicBezTo>
                    <a:pt x="131318" y="513969"/>
                    <a:pt x="123698" y="521462"/>
                    <a:pt x="114427" y="521462"/>
                  </a:cubicBezTo>
                  <a:lnTo>
                    <a:pt x="16891" y="521462"/>
                  </a:lnTo>
                  <a:cubicBezTo>
                    <a:pt x="7620" y="521589"/>
                    <a:pt x="0" y="513969"/>
                    <a:pt x="0" y="504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16891" y="487680"/>
                  </a:lnTo>
                  <a:lnTo>
                    <a:pt x="114427" y="487680"/>
                  </a:lnTo>
                  <a:lnTo>
                    <a:pt x="114427" y="504571"/>
                  </a:lnTo>
                  <a:lnTo>
                    <a:pt x="97536" y="504571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499367" y="5876039"/>
            <a:ext cx="7706363" cy="1268987"/>
            <a:chOff x="0" y="0"/>
            <a:chExt cx="10275151" cy="1691983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0241281" cy="1658112"/>
            </a:xfrm>
            <a:custGeom>
              <a:avLst/>
              <a:gdLst/>
              <a:ahLst/>
              <a:cxnLst/>
              <a:rect r="r" b="b" t="t" l="l"/>
              <a:pathLst>
                <a:path h="1658112" w="10241281">
                  <a:moveTo>
                    <a:pt x="0" y="0"/>
                  </a:moveTo>
                  <a:lnTo>
                    <a:pt x="10241281" y="0"/>
                  </a:lnTo>
                  <a:lnTo>
                    <a:pt x="10241281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275062" cy="1691894"/>
            </a:xfrm>
            <a:custGeom>
              <a:avLst/>
              <a:gdLst/>
              <a:ahLst/>
              <a:cxnLst/>
              <a:rect r="r" b="b" t="t" l="l"/>
              <a:pathLst>
                <a:path h="1691894" w="10275062">
                  <a:moveTo>
                    <a:pt x="16891" y="0"/>
                  </a:moveTo>
                  <a:lnTo>
                    <a:pt x="10258172" y="0"/>
                  </a:lnTo>
                  <a:cubicBezTo>
                    <a:pt x="10267569" y="0"/>
                    <a:pt x="10275062" y="7620"/>
                    <a:pt x="10275062" y="16891"/>
                  </a:cubicBezTo>
                  <a:lnTo>
                    <a:pt x="10275062" y="1675003"/>
                  </a:lnTo>
                  <a:cubicBezTo>
                    <a:pt x="10275062" y="1684401"/>
                    <a:pt x="10267442" y="1691894"/>
                    <a:pt x="10258172" y="1691894"/>
                  </a:cubicBezTo>
                  <a:lnTo>
                    <a:pt x="16891" y="1691894"/>
                  </a:lnTo>
                  <a:cubicBezTo>
                    <a:pt x="7493" y="1691894"/>
                    <a:pt x="0" y="1684274"/>
                    <a:pt x="0" y="1675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75003"/>
                  </a:lnTo>
                  <a:lnTo>
                    <a:pt x="16891" y="1675003"/>
                  </a:lnTo>
                  <a:lnTo>
                    <a:pt x="16891" y="1658112"/>
                  </a:lnTo>
                  <a:lnTo>
                    <a:pt x="10258172" y="1658112"/>
                  </a:lnTo>
                  <a:lnTo>
                    <a:pt x="10258172" y="1675003"/>
                  </a:lnTo>
                  <a:lnTo>
                    <a:pt x="10241280" y="1675003"/>
                  </a:lnTo>
                  <a:lnTo>
                    <a:pt x="10241280" y="16891"/>
                  </a:lnTo>
                  <a:lnTo>
                    <a:pt x="10258172" y="16891"/>
                  </a:lnTo>
                  <a:lnTo>
                    <a:pt x="10258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499367" y="5876039"/>
            <a:ext cx="171707" cy="1268987"/>
            <a:chOff x="0" y="0"/>
            <a:chExt cx="228943" cy="169198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195072" cy="1658112"/>
            </a:xfrm>
            <a:custGeom>
              <a:avLst/>
              <a:gdLst/>
              <a:ahLst/>
              <a:cxnLst/>
              <a:rect r="r" b="b" t="t" l="l"/>
              <a:pathLst>
                <a:path h="1658112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28854" cy="1691894"/>
            </a:xfrm>
            <a:custGeom>
              <a:avLst/>
              <a:gdLst/>
              <a:ahLst/>
              <a:cxnLst/>
              <a:rect r="r" b="b" t="t" l="l"/>
              <a:pathLst>
                <a:path h="1691894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675003"/>
                  </a:lnTo>
                  <a:cubicBezTo>
                    <a:pt x="228854" y="1684401"/>
                    <a:pt x="221234" y="1691894"/>
                    <a:pt x="211963" y="1691894"/>
                  </a:cubicBezTo>
                  <a:lnTo>
                    <a:pt x="16891" y="1691894"/>
                  </a:lnTo>
                  <a:cubicBezTo>
                    <a:pt x="7493" y="1691894"/>
                    <a:pt x="0" y="1684274"/>
                    <a:pt x="0" y="1675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75003"/>
                  </a:lnTo>
                  <a:lnTo>
                    <a:pt x="16891" y="1675003"/>
                  </a:lnTo>
                  <a:lnTo>
                    <a:pt x="16891" y="1658112"/>
                  </a:lnTo>
                  <a:lnTo>
                    <a:pt x="211963" y="1658112"/>
                  </a:lnTo>
                  <a:lnTo>
                    <a:pt x="211963" y="1675003"/>
                  </a:lnTo>
                  <a:lnTo>
                    <a:pt x="195072" y="1675003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804672" y="5980176"/>
            <a:ext cx="7132320" cy="548640"/>
            <a:chOff x="0" y="0"/>
            <a:chExt cx="9509760" cy="731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95097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MySQL 8 / InnoDB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804672" y="6528816"/>
            <a:ext cx="7132320" cy="475488"/>
            <a:chOff x="0" y="0"/>
            <a:chExt cx="9509760" cy="63398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509760" cy="633984"/>
            </a:xfrm>
            <a:custGeom>
              <a:avLst/>
              <a:gdLst/>
              <a:ahLst/>
              <a:cxnLst/>
              <a:rect r="r" b="b" t="t" l="l"/>
              <a:pathLst>
                <a:path h="633984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95097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 tables · FK cascades · composite indexes · authoritative state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499367" y="7375655"/>
            <a:ext cx="3500123" cy="2000507"/>
            <a:chOff x="0" y="0"/>
            <a:chExt cx="4666831" cy="2667343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4632960" cy="2633472"/>
            </a:xfrm>
            <a:custGeom>
              <a:avLst/>
              <a:gdLst/>
              <a:ahLst/>
              <a:cxnLst/>
              <a:rect r="r" b="b" t="t" l="l"/>
              <a:pathLst>
                <a:path h="263347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2633472"/>
                  </a:lnTo>
                  <a:lnTo>
                    <a:pt x="0" y="2633472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666742" cy="2667254"/>
            </a:xfrm>
            <a:custGeom>
              <a:avLst/>
              <a:gdLst/>
              <a:ahLst/>
              <a:cxnLst/>
              <a:rect r="r" b="b" t="t" l="l"/>
              <a:pathLst>
                <a:path h="2667254" w="4666742">
                  <a:moveTo>
                    <a:pt x="16891" y="0"/>
                  </a:moveTo>
                  <a:lnTo>
                    <a:pt x="4649851" y="0"/>
                  </a:lnTo>
                  <a:cubicBezTo>
                    <a:pt x="4659249" y="0"/>
                    <a:pt x="4666742" y="7620"/>
                    <a:pt x="4666742" y="16891"/>
                  </a:cubicBezTo>
                  <a:lnTo>
                    <a:pt x="4666742" y="2650363"/>
                  </a:lnTo>
                  <a:cubicBezTo>
                    <a:pt x="4666742" y="2659761"/>
                    <a:pt x="4659122" y="2667254"/>
                    <a:pt x="4649851" y="2667254"/>
                  </a:cubicBezTo>
                  <a:lnTo>
                    <a:pt x="16891" y="2667254"/>
                  </a:lnTo>
                  <a:cubicBezTo>
                    <a:pt x="7493" y="2667254"/>
                    <a:pt x="0" y="2659634"/>
                    <a:pt x="0" y="26503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50363"/>
                  </a:lnTo>
                  <a:lnTo>
                    <a:pt x="16891" y="2650363"/>
                  </a:lnTo>
                  <a:lnTo>
                    <a:pt x="16891" y="2633472"/>
                  </a:lnTo>
                  <a:lnTo>
                    <a:pt x="4649851" y="2633472"/>
                  </a:lnTo>
                  <a:lnTo>
                    <a:pt x="4649851" y="2650363"/>
                  </a:lnTo>
                  <a:lnTo>
                    <a:pt x="4632960" y="2650363"/>
                  </a:lnTo>
                  <a:lnTo>
                    <a:pt x="4632960" y="16891"/>
                  </a:lnTo>
                  <a:lnTo>
                    <a:pt x="4649851" y="16891"/>
                  </a:lnTo>
                  <a:lnTo>
                    <a:pt x="4649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499367" y="7375655"/>
            <a:ext cx="3500123" cy="171707"/>
            <a:chOff x="0" y="0"/>
            <a:chExt cx="4666831" cy="228943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4632960" cy="195072"/>
            </a:xfrm>
            <a:custGeom>
              <a:avLst/>
              <a:gdLst/>
              <a:ahLst/>
              <a:cxnLst/>
              <a:rect r="r" b="b" t="t" l="l"/>
              <a:pathLst>
                <a:path h="19507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2DD4BF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666742" cy="228856"/>
            </a:xfrm>
            <a:custGeom>
              <a:avLst/>
              <a:gdLst/>
              <a:ahLst/>
              <a:cxnLst/>
              <a:rect r="r" b="b" t="t" l="l"/>
              <a:pathLst>
                <a:path h="228856" w="4666742">
                  <a:moveTo>
                    <a:pt x="16891" y="0"/>
                  </a:moveTo>
                  <a:lnTo>
                    <a:pt x="4649851" y="0"/>
                  </a:lnTo>
                  <a:cubicBezTo>
                    <a:pt x="4659249" y="0"/>
                    <a:pt x="4666742" y="7620"/>
                    <a:pt x="4666742" y="16891"/>
                  </a:cubicBezTo>
                  <a:lnTo>
                    <a:pt x="4666742" y="211963"/>
                  </a:lnTo>
                  <a:cubicBezTo>
                    <a:pt x="4666742" y="221361"/>
                    <a:pt x="4659122" y="228854"/>
                    <a:pt x="4649851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4649851" y="195072"/>
                  </a:lnTo>
                  <a:lnTo>
                    <a:pt x="4649851" y="211963"/>
                  </a:lnTo>
                  <a:lnTo>
                    <a:pt x="4632960" y="211963"/>
                  </a:lnTo>
                  <a:lnTo>
                    <a:pt x="4632960" y="16891"/>
                  </a:lnTo>
                  <a:lnTo>
                    <a:pt x="4649851" y="16891"/>
                  </a:lnTo>
                  <a:lnTo>
                    <a:pt x="4649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694944" y="7607808"/>
            <a:ext cx="3145536" cy="512064"/>
            <a:chOff x="0" y="0"/>
            <a:chExt cx="4194048" cy="68275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194048" cy="682752"/>
            </a:xfrm>
            <a:custGeom>
              <a:avLst/>
              <a:gdLst/>
              <a:ahLst/>
              <a:cxnLst/>
              <a:rect r="r" b="b" t="t" l="l"/>
              <a:pathLst>
                <a:path h="682752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693" r="0" b="-69693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4194048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2DD4B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Google Drive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694944" y="8119872"/>
            <a:ext cx="3145536" cy="1005840"/>
            <a:chOff x="0" y="0"/>
            <a:chExt cx="4194048" cy="13411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194048" cy="1341120"/>
            </a:xfrm>
            <a:custGeom>
              <a:avLst/>
              <a:gdLst/>
              <a:ahLst/>
              <a:cxnLst/>
              <a:rect r="r" b="b" t="t" l="l"/>
              <a:pathLst>
                <a:path h="1341120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35" r="0" b="-10935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4194048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Encrypted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blob storage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962407" y="7119623"/>
            <a:ext cx="98555" cy="281435"/>
            <a:chOff x="0" y="0"/>
            <a:chExt cx="131407" cy="37524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97536" cy="341376"/>
            </a:xfrm>
            <a:custGeom>
              <a:avLst/>
              <a:gdLst/>
              <a:ahLst/>
              <a:cxnLst/>
              <a:rect r="r" b="b" t="t" l="l"/>
              <a:pathLst>
                <a:path h="341376" w="97536">
                  <a:moveTo>
                    <a:pt x="0" y="0"/>
                  </a:moveTo>
                  <a:lnTo>
                    <a:pt x="97536" y="0"/>
                  </a:lnTo>
                  <a:lnTo>
                    <a:pt x="97536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8BAFC7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31318" cy="375160"/>
            </a:xfrm>
            <a:custGeom>
              <a:avLst/>
              <a:gdLst/>
              <a:ahLst/>
              <a:cxnLst/>
              <a:rect r="r" b="b" t="t" l="l"/>
              <a:pathLst>
                <a:path h="375160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358267"/>
                  </a:lnTo>
                  <a:cubicBezTo>
                    <a:pt x="131318" y="367665"/>
                    <a:pt x="123698" y="375158"/>
                    <a:pt x="114427" y="375158"/>
                  </a:cubicBezTo>
                  <a:lnTo>
                    <a:pt x="16891" y="375158"/>
                  </a:lnTo>
                  <a:cubicBezTo>
                    <a:pt x="7620" y="375285"/>
                    <a:pt x="0" y="367665"/>
                    <a:pt x="0" y="3582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8267"/>
                  </a:lnTo>
                  <a:lnTo>
                    <a:pt x="16891" y="358267"/>
                  </a:lnTo>
                  <a:lnTo>
                    <a:pt x="16891" y="341376"/>
                  </a:lnTo>
                  <a:lnTo>
                    <a:pt x="114427" y="341376"/>
                  </a:lnTo>
                  <a:lnTo>
                    <a:pt x="114427" y="358267"/>
                  </a:lnTo>
                  <a:lnTo>
                    <a:pt x="97536" y="358267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4412999" y="7375655"/>
            <a:ext cx="3500123" cy="2000507"/>
            <a:chOff x="0" y="0"/>
            <a:chExt cx="4666831" cy="2667343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4632960" cy="2633472"/>
            </a:xfrm>
            <a:custGeom>
              <a:avLst/>
              <a:gdLst/>
              <a:ahLst/>
              <a:cxnLst/>
              <a:rect r="r" b="b" t="t" l="l"/>
              <a:pathLst>
                <a:path h="263347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2633472"/>
                  </a:lnTo>
                  <a:lnTo>
                    <a:pt x="0" y="2633472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666742" cy="2667254"/>
            </a:xfrm>
            <a:custGeom>
              <a:avLst/>
              <a:gdLst/>
              <a:ahLst/>
              <a:cxnLst/>
              <a:rect r="r" b="b" t="t" l="l"/>
              <a:pathLst>
                <a:path h="2667254" w="4666742">
                  <a:moveTo>
                    <a:pt x="16891" y="0"/>
                  </a:moveTo>
                  <a:lnTo>
                    <a:pt x="4649851" y="0"/>
                  </a:lnTo>
                  <a:cubicBezTo>
                    <a:pt x="4659249" y="0"/>
                    <a:pt x="4666742" y="7620"/>
                    <a:pt x="4666742" y="16891"/>
                  </a:cubicBezTo>
                  <a:lnTo>
                    <a:pt x="4666742" y="2650363"/>
                  </a:lnTo>
                  <a:cubicBezTo>
                    <a:pt x="4666742" y="2659761"/>
                    <a:pt x="4659122" y="2667254"/>
                    <a:pt x="4649851" y="2667254"/>
                  </a:cubicBezTo>
                  <a:lnTo>
                    <a:pt x="16891" y="2667254"/>
                  </a:lnTo>
                  <a:cubicBezTo>
                    <a:pt x="7493" y="2667254"/>
                    <a:pt x="0" y="2659634"/>
                    <a:pt x="0" y="26503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50363"/>
                  </a:lnTo>
                  <a:lnTo>
                    <a:pt x="16891" y="2650363"/>
                  </a:lnTo>
                  <a:lnTo>
                    <a:pt x="16891" y="2633472"/>
                  </a:lnTo>
                  <a:lnTo>
                    <a:pt x="4649851" y="2633472"/>
                  </a:lnTo>
                  <a:lnTo>
                    <a:pt x="4649851" y="2650363"/>
                  </a:lnTo>
                  <a:lnTo>
                    <a:pt x="4632960" y="2650363"/>
                  </a:lnTo>
                  <a:lnTo>
                    <a:pt x="4632960" y="16891"/>
                  </a:lnTo>
                  <a:lnTo>
                    <a:pt x="4649851" y="16891"/>
                  </a:lnTo>
                  <a:lnTo>
                    <a:pt x="4649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4412999" y="7375655"/>
            <a:ext cx="3500123" cy="171707"/>
            <a:chOff x="0" y="0"/>
            <a:chExt cx="4666831" cy="228943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4632960" cy="195072"/>
            </a:xfrm>
            <a:custGeom>
              <a:avLst/>
              <a:gdLst/>
              <a:ahLst/>
              <a:cxnLst/>
              <a:rect r="r" b="b" t="t" l="l"/>
              <a:pathLst>
                <a:path h="19507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666742" cy="228856"/>
            </a:xfrm>
            <a:custGeom>
              <a:avLst/>
              <a:gdLst/>
              <a:ahLst/>
              <a:cxnLst/>
              <a:rect r="r" b="b" t="t" l="l"/>
              <a:pathLst>
                <a:path h="228856" w="4666742">
                  <a:moveTo>
                    <a:pt x="16891" y="0"/>
                  </a:moveTo>
                  <a:lnTo>
                    <a:pt x="4649851" y="0"/>
                  </a:lnTo>
                  <a:cubicBezTo>
                    <a:pt x="4659249" y="0"/>
                    <a:pt x="4666742" y="7620"/>
                    <a:pt x="4666742" y="16891"/>
                  </a:cubicBezTo>
                  <a:lnTo>
                    <a:pt x="4666742" y="211963"/>
                  </a:lnTo>
                  <a:cubicBezTo>
                    <a:pt x="4666742" y="221361"/>
                    <a:pt x="4659122" y="228854"/>
                    <a:pt x="4649851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4649851" y="195072"/>
                  </a:lnTo>
                  <a:lnTo>
                    <a:pt x="4649851" y="211963"/>
                  </a:lnTo>
                  <a:lnTo>
                    <a:pt x="4632960" y="211963"/>
                  </a:lnTo>
                  <a:lnTo>
                    <a:pt x="4632960" y="16891"/>
                  </a:lnTo>
                  <a:lnTo>
                    <a:pt x="4649851" y="16891"/>
                  </a:lnTo>
                  <a:lnTo>
                    <a:pt x="4649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4608576" y="7607808"/>
            <a:ext cx="3145536" cy="512064"/>
            <a:chOff x="0" y="0"/>
            <a:chExt cx="4194048" cy="68275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194048" cy="682752"/>
            </a:xfrm>
            <a:custGeom>
              <a:avLst/>
              <a:gdLst/>
              <a:ahLst/>
              <a:cxnLst/>
              <a:rect r="r" b="b" t="t" l="l"/>
              <a:pathLst>
                <a:path h="682752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693" r="0" b="-69693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47625"/>
              <a:ext cx="4194048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8B5C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Audit Log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4608576" y="8119872"/>
            <a:ext cx="3145536" cy="1005840"/>
            <a:chOff x="0" y="0"/>
            <a:chExt cx="4194048" cy="134112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194048" cy="1341120"/>
            </a:xfrm>
            <a:custGeom>
              <a:avLst/>
              <a:gdLst/>
              <a:ahLst/>
              <a:cxnLst/>
              <a:rect r="r" b="b" t="t" l="l"/>
              <a:pathLst>
                <a:path h="1341120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35" r="0" b="-10935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4194048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JSON-line chain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append-only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5876039" y="7119623"/>
            <a:ext cx="98555" cy="281435"/>
            <a:chOff x="0" y="0"/>
            <a:chExt cx="131407" cy="375247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97536" cy="341376"/>
            </a:xfrm>
            <a:custGeom>
              <a:avLst/>
              <a:gdLst/>
              <a:ahLst/>
              <a:cxnLst/>
              <a:rect r="r" b="b" t="t" l="l"/>
              <a:pathLst>
                <a:path h="341376" w="97536">
                  <a:moveTo>
                    <a:pt x="0" y="0"/>
                  </a:moveTo>
                  <a:lnTo>
                    <a:pt x="97536" y="0"/>
                  </a:lnTo>
                  <a:lnTo>
                    <a:pt x="97536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8BAFC7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31318" cy="375160"/>
            </a:xfrm>
            <a:custGeom>
              <a:avLst/>
              <a:gdLst/>
              <a:ahLst/>
              <a:cxnLst/>
              <a:rect r="r" b="b" t="t" l="l"/>
              <a:pathLst>
                <a:path h="375160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358267"/>
                  </a:lnTo>
                  <a:cubicBezTo>
                    <a:pt x="131318" y="367665"/>
                    <a:pt x="123698" y="375158"/>
                    <a:pt x="114427" y="375158"/>
                  </a:cubicBezTo>
                  <a:lnTo>
                    <a:pt x="16891" y="375158"/>
                  </a:lnTo>
                  <a:cubicBezTo>
                    <a:pt x="7620" y="375285"/>
                    <a:pt x="0" y="367665"/>
                    <a:pt x="0" y="3582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8267"/>
                  </a:lnTo>
                  <a:lnTo>
                    <a:pt x="16891" y="358267"/>
                  </a:lnTo>
                  <a:lnTo>
                    <a:pt x="16891" y="341376"/>
                  </a:lnTo>
                  <a:lnTo>
                    <a:pt x="114427" y="341376"/>
                  </a:lnTo>
                  <a:lnTo>
                    <a:pt x="114427" y="358267"/>
                  </a:lnTo>
                  <a:lnTo>
                    <a:pt x="97536" y="358267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8619239" y="1413767"/>
            <a:ext cx="135131" cy="8474459"/>
            <a:chOff x="0" y="0"/>
            <a:chExt cx="180175" cy="11299279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146304" cy="11265408"/>
            </a:xfrm>
            <a:custGeom>
              <a:avLst/>
              <a:gdLst/>
              <a:ahLst/>
              <a:cxnLst/>
              <a:rect r="r" b="b" t="t" l="l"/>
              <a:pathLst>
                <a:path h="1126540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1265408"/>
                  </a:lnTo>
                  <a:lnTo>
                    <a:pt x="0" y="11265408"/>
                  </a:lnTo>
                  <a:close/>
                </a:path>
              </a:pathLst>
            </a:custGeom>
            <a:solidFill>
              <a:srgbClr val="06B6C8">
                <a:alpha val="20000"/>
              </a:srgbClr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80086" cy="11299190"/>
            </a:xfrm>
            <a:custGeom>
              <a:avLst/>
              <a:gdLst/>
              <a:ahLst/>
              <a:cxnLst/>
              <a:rect r="r" b="b" t="t" l="l"/>
              <a:pathLst>
                <a:path h="1129919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1282299"/>
                  </a:lnTo>
                  <a:cubicBezTo>
                    <a:pt x="180086" y="11291697"/>
                    <a:pt x="172466" y="11299190"/>
                    <a:pt x="163195" y="11299190"/>
                  </a:cubicBezTo>
                  <a:lnTo>
                    <a:pt x="16891" y="11299190"/>
                  </a:lnTo>
                  <a:cubicBezTo>
                    <a:pt x="7493" y="11299190"/>
                    <a:pt x="0" y="11291570"/>
                    <a:pt x="0" y="112822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282299"/>
                  </a:lnTo>
                  <a:lnTo>
                    <a:pt x="16891" y="11282299"/>
                  </a:lnTo>
                  <a:lnTo>
                    <a:pt x="16891" y="11265408"/>
                  </a:lnTo>
                  <a:lnTo>
                    <a:pt x="163195" y="11265408"/>
                  </a:lnTo>
                  <a:lnTo>
                    <a:pt x="163195" y="11282299"/>
                  </a:lnTo>
                  <a:lnTo>
                    <a:pt x="146304" y="1128229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8321040" y="1243584"/>
            <a:ext cx="9509760" cy="457200"/>
            <a:chOff x="0" y="0"/>
            <a:chExt cx="12679680" cy="60960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2679680" cy="609600"/>
            </a:xfrm>
            <a:custGeom>
              <a:avLst/>
              <a:gdLst/>
              <a:ahLst/>
              <a:cxnLst/>
              <a:rect r="r" b="b" t="t" l="l"/>
              <a:pathLst>
                <a:path h="609600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5288" r="0" b="-355288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1267968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b="true" sz="1900" spc="600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A LAYER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8911847" y="1486919"/>
            <a:ext cx="8895083" cy="1451867"/>
            <a:chOff x="0" y="0"/>
            <a:chExt cx="11860111" cy="1935823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1182624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1826240">
                  <a:moveTo>
                    <a:pt x="0" y="0"/>
                  </a:moveTo>
                  <a:lnTo>
                    <a:pt x="11826240" y="0"/>
                  </a:lnTo>
                  <a:lnTo>
                    <a:pt x="1182624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186002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1860022">
                  <a:moveTo>
                    <a:pt x="16891" y="0"/>
                  </a:moveTo>
                  <a:lnTo>
                    <a:pt x="11843131" y="0"/>
                  </a:lnTo>
                  <a:cubicBezTo>
                    <a:pt x="11852529" y="0"/>
                    <a:pt x="11860022" y="7620"/>
                    <a:pt x="11860022" y="16891"/>
                  </a:cubicBezTo>
                  <a:lnTo>
                    <a:pt x="11860022" y="1918843"/>
                  </a:lnTo>
                  <a:cubicBezTo>
                    <a:pt x="11860022" y="1928241"/>
                    <a:pt x="11852402" y="1935734"/>
                    <a:pt x="1184313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1843131" y="1901952"/>
                  </a:lnTo>
                  <a:lnTo>
                    <a:pt x="11843131" y="1918843"/>
                  </a:lnTo>
                  <a:lnTo>
                    <a:pt x="11826240" y="1918843"/>
                  </a:lnTo>
                  <a:lnTo>
                    <a:pt x="11826240" y="16891"/>
                  </a:lnTo>
                  <a:lnTo>
                    <a:pt x="11843131" y="16891"/>
                  </a:lnTo>
                  <a:lnTo>
                    <a:pt x="11843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8911847" y="1486919"/>
            <a:ext cx="153419" cy="1451867"/>
            <a:chOff x="0" y="0"/>
            <a:chExt cx="204559" cy="1935823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6891" y="16891"/>
              <a:ext cx="170688" cy="1901952"/>
            </a:xfrm>
            <a:custGeom>
              <a:avLst/>
              <a:gdLst/>
              <a:ahLst/>
              <a:cxnLst/>
              <a:rect r="r" b="b" t="t" l="l"/>
              <a:pathLst>
                <a:path h="190195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04470" cy="1935734"/>
            </a:xfrm>
            <a:custGeom>
              <a:avLst/>
              <a:gdLst/>
              <a:ahLst/>
              <a:cxnLst/>
              <a:rect r="r" b="b" t="t" l="l"/>
              <a:pathLst>
                <a:path h="1935734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918843"/>
                  </a:lnTo>
                  <a:cubicBezTo>
                    <a:pt x="204470" y="1928241"/>
                    <a:pt x="196850" y="1935734"/>
                    <a:pt x="187579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87579" y="1901952"/>
                  </a:lnTo>
                  <a:lnTo>
                    <a:pt x="187579" y="1918843"/>
                  </a:lnTo>
                  <a:lnTo>
                    <a:pt x="170688" y="191884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9217152" y="1609344"/>
            <a:ext cx="8321040" cy="548640"/>
            <a:chOff x="0" y="0"/>
            <a:chExt cx="11094720" cy="73152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1094720" cy="731520"/>
            </a:xfrm>
            <a:custGeom>
              <a:avLst/>
              <a:gdLst/>
              <a:ahLst/>
              <a:cxnLst/>
              <a:rect r="r" b="b" t="t" l="l"/>
              <a:pathLst>
                <a:path h="73152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523" r="0" b="-245523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47625"/>
              <a:ext cx="110947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database_export.json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9217152" y="2194560"/>
            <a:ext cx="8321040" cy="512064"/>
            <a:chOff x="0" y="0"/>
            <a:chExt cx="11094720" cy="682752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1094720" cy="682752"/>
            </a:xfrm>
            <a:custGeom>
              <a:avLst/>
              <a:gdLst/>
              <a:ahLst/>
              <a:cxnLst/>
              <a:rect r="r" b="b" t="t" l="l"/>
              <a:pathLst>
                <a:path h="682752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6631" r="0" b="-266631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110947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Real BlindDrop backend snapshot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2514583" y="2931671"/>
            <a:ext cx="98555" cy="244859"/>
            <a:chOff x="0" y="0"/>
            <a:chExt cx="131407" cy="326479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16891" y="16891"/>
              <a:ext cx="97536" cy="292608"/>
            </a:xfrm>
            <a:custGeom>
              <a:avLst/>
              <a:gdLst/>
              <a:ahLst/>
              <a:cxnLst/>
              <a:rect r="r" b="b" t="t" l="l"/>
              <a:pathLst>
                <a:path h="292608" w="97536">
                  <a:moveTo>
                    <a:pt x="0" y="0"/>
                  </a:moveTo>
                  <a:lnTo>
                    <a:pt x="97536" y="0"/>
                  </a:lnTo>
                  <a:lnTo>
                    <a:pt x="97536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8BAFC7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131318" cy="326392"/>
            </a:xfrm>
            <a:custGeom>
              <a:avLst/>
              <a:gdLst/>
              <a:ahLst/>
              <a:cxnLst/>
              <a:rect r="r" b="b" t="t" l="l"/>
              <a:pathLst>
                <a:path h="326392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309499"/>
                  </a:lnTo>
                  <a:cubicBezTo>
                    <a:pt x="131318" y="318897"/>
                    <a:pt x="123698" y="326390"/>
                    <a:pt x="114427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114427" y="292608"/>
                  </a:lnTo>
                  <a:lnTo>
                    <a:pt x="114427" y="309499"/>
                  </a:lnTo>
                  <a:lnTo>
                    <a:pt x="97536" y="309499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8911847" y="3169415"/>
            <a:ext cx="8895083" cy="1451867"/>
            <a:chOff x="0" y="0"/>
            <a:chExt cx="11860111" cy="1935823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16891" y="16891"/>
              <a:ext cx="1182624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1826240">
                  <a:moveTo>
                    <a:pt x="0" y="0"/>
                  </a:moveTo>
                  <a:lnTo>
                    <a:pt x="11826240" y="0"/>
                  </a:lnTo>
                  <a:lnTo>
                    <a:pt x="1182624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186002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1860022">
                  <a:moveTo>
                    <a:pt x="16891" y="0"/>
                  </a:moveTo>
                  <a:lnTo>
                    <a:pt x="11843131" y="0"/>
                  </a:lnTo>
                  <a:cubicBezTo>
                    <a:pt x="11852529" y="0"/>
                    <a:pt x="11860022" y="7620"/>
                    <a:pt x="11860022" y="16891"/>
                  </a:cubicBezTo>
                  <a:lnTo>
                    <a:pt x="11860022" y="1918843"/>
                  </a:lnTo>
                  <a:cubicBezTo>
                    <a:pt x="11860022" y="1928241"/>
                    <a:pt x="11852402" y="1935734"/>
                    <a:pt x="1184313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1843131" y="1901952"/>
                  </a:lnTo>
                  <a:lnTo>
                    <a:pt x="11843131" y="1918843"/>
                  </a:lnTo>
                  <a:lnTo>
                    <a:pt x="11826240" y="1918843"/>
                  </a:lnTo>
                  <a:lnTo>
                    <a:pt x="11826240" y="16891"/>
                  </a:lnTo>
                  <a:lnTo>
                    <a:pt x="11843131" y="16891"/>
                  </a:lnTo>
                  <a:lnTo>
                    <a:pt x="11843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8911847" y="3169415"/>
            <a:ext cx="153419" cy="1451867"/>
            <a:chOff x="0" y="0"/>
            <a:chExt cx="204559" cy="1935823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16891" y="16891"/>
              <a:ext cx="170688" cy="1901952"/>
            </a:xfrm>
            <a:custGeom>
              <a:avLst/>
              <a:gdLst/>
              <a:ahLst/>
              <a:cxnLst/>
              <a:rect r="r" b="b" t="t" l="l"/>
              <a:pathLst>
                <a:path h="190195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04470" cy="1935734"/>
            </a:xfrm>
            <a:custGeom>
              <a:avLst/>
              <a:gdLst/>
              <a:ahLst/>
              <a:cxnLst/>
              <a:rect r="r" b="b" t="t" l="l"/>
              <a:pathLst>
                <a:path h="1935734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918843"/>
                  </a:lnTo>
                  <a:cubicBezTo>
                    <a:pt x="204470" y="1928241"/>
                    <a:pt x="196850" y="1935734"/>
                    <a:pt x="187579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87579" y="1901952"/>
                  </a:lnTo>
                  <a:lnTo>
                    <a:pt x="187579" y="1918843"/>
                  </a:lnTo>
                  <a:lnTo>
                    <a:pt x="170688" y="191884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9217152" y="3291840"/>
            <a:ext cx="8321040" cy="548640"/>
            <a:chOff x="0" y="0"/>
            <a:chExt cx="11094720" cy="73152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1094720" cy="731520"/>
            </a:xfrm>
            <a:custGeom>
              <a:avLst/>
              <a:gdLst/>
              <a:ahLst/>
              <a:cxnLst/>
              <a:rect r="r" b="b" t="t" l="l"/>
              <a:pathLst>
                <a:path h="73152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523" r="0" b="-245523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47625"/>
              <a:ext cx="110947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blinddrop_index_manager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9217152" y="3877056"/>
            <a:ext cx="8321040" cy="512064"/>
            <a:chOff x="0" y="0"/>
            <a:chExt cx="11094720" cy="682752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1094720" cy="682752"/>
            </a:xfrm>
            <a:custGeom>
              <a:avLst/>
              <a:gdLst/>
              <a:ahLst/>
              <a:cxnLst/>
              <a:rect r="r" b="b" t="t" l="l"/>
              <a:pathLst>
                <a:path h="682752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6631" r="0" b="-266631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110947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Integration adapter — deduces 4 index paths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2514583" y="4614167"/>
            <a:ext cx="98555" cy="244859"/>
            <a:chOff x="0" y="0"/>
            <a:chExt cx="131407" cy="326479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16891" y="16891"/>
              <a:ext cx="97536" cy="292608"/>
            </a:xfrm>
            <a:custGeom>
              <a:avLst/>
              <a:gdLst/>
              <a:ahLst/>
              <a:cxnLst/>
              <a:rect r="r" b="b" t="t" l="l"/>
              <a:pathLst>
                <a:path h="292608" w="97536">
                  <a:moveTo>
                    <a:pt x="0" y="0"/>
                  </a:moveTo>
                  <a:lnTo>
                    <a:pt x="97536" y="0"/>
                  </a:lnTo>
                  <a:lnTo>
                    <a:pt x="97536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8BAFC7"/>
            </a:solidFill>
          </p:spPr>
        </p:sp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31318" cy="326392"/>
            </a:xfrm>
            <a:custGeom>
              <a:avLst/>
              <a:gdLst/>
              <a:ahLst/>
              <a:cxnLst/>
              <a:rect r="r" b="b" t="t" l="l"/>
              <a:pathLst>
                <a:path h="326392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309499"/>
                  </a:lnTo>
                  <a:cubicBezTo>
                    <a:pt x="131318" y="318897"/>
                    <a:pt x="123698" y="326390"/>
                    <a:pt x="114427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114427" y="292608"/>
                  </a:lnTo>
                  <a:lnTo>
                    <a:pt x="114427" y="309499"/>
                  </a:lnTo>
                  <a:lnTo>
                    <a:pt x="97536" y="309499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8911847" y="4851911"/>
            <a:ext cx="8895083" cy="1451867"/>
            <a:chOff x="0" y="0"/>
            <a:chExt cx="11860111" cy="1935823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16891" y="16891"/>
              <a:ext cx="1182624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1826240">
                  <a:moveTo>
                    <a:pt x="0" y="0"/>
                  </a:moveTo>
                  <a:lnTo>
                    <a:pt x="11826240" y="0"/>
                  </a:lnTo>
                  <a:lnTo>
                    <a:pt x="1182624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1186002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1860022">
                  <a:moveTo>
                    <a:pt x="16891" y="0"/>
                  </a:moveTo>
                  <a:lnTo>
                    <a:pt x="11843131" y="0"/>
                  </a:lnTo>
                  <a:cubicBezTo>
                    <a:pt x="11852529" y="0"/>
                    <a:pt x="11860022" y="7620"/>
                    <a:pt x="11860022" y="16891"/>
                  </a:cubicBezTo>
                  <a:lnTo>
                    <a:pt x="11860022" y="1918843"/>
                  </a:lnTo>
                  <a:cubicBezTo>
                    <a:pt x="11860022" y="1928241"/>
                    <a:pt x="11852402" y="1935734"/>
                    <a:pt x="1184313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1843131" y="1901952"/>
                  </a:lnTo>
                  <a:lnTo>
                    <a:pt x="11843131" y="1918843"/>
                  </a:lnTo>
                  <a:lnTo>
                    <a:pt x="11826240" y="1918843"/>
                  </a:lnTo>
                  <a:lnTo>
                    <a:pt x="11826240" y="16891"/>
                  </a:lnTo>
                  <a:lnTo>
                    <a:pt x="11843131" y="16891"/>
                  </a:lnTo>
                  <a:lnTo>
                    <a:pt x="11843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8911847" y="4851911"/>
            <a:ext cx="153419" cy="1451867"/>
            <a:chOff x="0" y="0"/>
            <a:chExt cx="204559" cy="1935823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16891" y="16891"/>
              <a:ext cx="170688" cy="1901952"/>
            </a:xfrm>
            <a:custGeom>
              <a:avLst/>
              <a:gdLst/>
              <a:ahLst/>
              <a:cxnLst/>
              <a:rect r="r" b="b" t="t" l="l"/>
              <a:pathLst>
                <a:path h="190195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204470" cy="1935734"/>
            </a:xfrm>
            <a:custGeom>
              <a:avLst/>
              <a:gdLst/>
              <a:ahLst/>
              <a:cxnLst/>
              <a:rect r="r" b="b" t="t" l="l"/>
              <a:pathLst>
                <a:path h="1935734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918843"/>
                  </a:lnTo>
                  <a:cubicBezTo>
                    <a:pt x="204470" y="1928241"/>
                    <a:pt x="196850" y="1935734"/>
                    <a:pt x="187579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87579" y="1901952"/>
                  </a:lnTo>
                  <a:lnTo>
                    <a:pt x="187579" y="1918843"/>
                  </a:lnTo>
                  <a:lnTo>
                    <a:pt x="170688" y="191884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217152" y="4974336"/>
            <a:ext cx="8321040" cy="548640"/>
            <a:chOff x="0" y="0"/>
            <a:chExt cx="11094720" cy="73152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11094720" cy="731520"/>
            </a:xfrm>
            <a:custGeom>
              <a:avLst/>
              <a:gdLst/>
              <a:ahLst/>
              <a:cxnLst/>
              <a:rect r="r" b="b" t="t" l="l"/>
              <a:pathLst>
                <a:path h="73152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523" r="0" b="-245523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47625"/>
              <a:ext cx="110947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B+ Tree Engine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9217152" y="5559552"/>
            <a:ext cx="8321040" cy="512064"/>
            <a:chOff x="0" y="0"/>
            <a:chExt cx="11094720" cy="682752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11094720" cy="682752"/>
            </a:xfrm>
            <a:custGeom>
              <a:avLst/>
              <a:gdLst/>
              <a:ahLst/>
              <a:cxnLst/>
              <a:rect r="r" b="b" t="t" l="l"/>
              <a:pathLst>
                <a:path h="682752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6631" r="0" b="-266631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110947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bplustree.py — from-scratch custom indexing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12514583" y="6296663"/>
            <a:ext cx="98555" cy="244859"/>
            <a:chOff x="0" y="0"/>
            <a:chExt cx="131407" cy="326479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16891" y="16891"/>
              <a:ext cx="97536" cy="292608"/>
            </a:xfrm>
            <a:custGeom>
              <a:avLst/>
              <a:gdLst/>
              <a:ahLst/>
              <a:cxnLst/>
              <a:rect r="r" b="b" t="t" l="l"/>
              <a:pathLst>
                <a:path h="292608" w="97536">
                  <a:moveTo>
                    <a:pt x="0" y="0"/>
                  </a:moveTo>
                  <a:lnTo>
                    <a:pt x="97536" y="0"/>
                  </a:lnTo>
                  <a:lnTo>
                    <a:pt x="97536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8BAFC7"/>
            </a:solidFill>
          </p:spPr>
        </p:sp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131318" cy="326392"/>
            </a:xfrm>
            <a:custGeom>
              <a:avLst/>
              <a:gdLst/>
              <a:ahLst/>
              <a:cxnLst/>
              <a:rect r="r" b="b" t="t" l="l"/>
              <a:pathLst>
                <a:path h="326392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309499"/>
                  </a:lnTo>
                  <a:cubicBezTo>
                    <a:pt x="131318" y="318897"/>
                    <a:pt x="123698" y="326390"/>
                    <a:pt x="114427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114427" y="292608"/>
                  </a:lnTo>
                  <a:lnTo>
                    <a:pt x="114427" y="309499"/>
                  </a:lnTo>
                  <a:lnTo>
                    <a:pt x="97536" y="309499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8911847" y="6534407"/>
            <a:ext cx="8895083" cy="1451867"/>
            <a:chOff x="0" y="0"/>
            <a:chExt cx="11860111" cy="1935823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16891" y="16891"/>
              <a:ext cx="1182624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1826240">
                  <a:moveTo>
                    <a:pt x="0" y="0"/>
                  </a:moveTo>
                  <a:lnTo>
                    <a:pt x="11826240" y="0"/>
                  </a:lnTo>
                  <a:lnTo>
                    <a:pt x="1182624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1186002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1860022">
                  <a:moveTo>
                    <a:pt x="16891" y="0"/>
                  </a:moveTo>
                  <a:lnTo>
                    <a:pt x="11843131" y="0"/>
                  </a:lnTo>
                  <a:cubicBezTo>
                    <a:pt x="11852529" y="0"/>
                    <a:pt x="11860022" y="7620"/>
                    <a:pt x="11860022" y="16891"/>
                  </a:cubicBezTo>
                  <a:lnTo>
                    <a:pt x="11860022" y="1918843"/>
                  </a:lnTo>
                  <a:cubicBezTo>
                    <a:pt x="11860022" y="1928241"/>
                    <a:pt x="11852402" y="1935734"/>
                    <a:pt x="1184313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1843131" y="1901952"/>
                  </a:lnTo>
                  <a:lnTo>
                    <a:pt x="11843131" y="1918843"/>
                  </a:lnTo>
                  <a:lnTo>
                    <a:pt x="11826240" y="1918843"/>
                  </a:lnTo>
                  <a:lnTo>
                    <a:pt x="11826240" y="16891"/>
                  </a:lnTo>
                  <a:lnTo>
                    <a:pt x="11843131" y="16891"/>
                  </a:lnTo>
                  <a:lnTo>
                    <a:pt x="11843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8911847" y="6534407"/>
            <a:ext cx="153419" cy="1451867"/>
            <a:chOff x="0" y="0"/>
            <a:chExt cx="204559" cy="1935823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16891" y="16891"/>
              <a:ext cx="170688" cy="1901952"/>
            </a:xfrm>
            <a:custGeom>
              <a:avLst/>
              <a:gdLst/>
              <a:ahLst/>
              <a:cxnLst/>
              <a:rect r="r" b="b" t="t" l="l"/>
              <a:pathLst>
                <a:path h="190195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204470" cy="1935734"/>
            </a:xfrm>
            <a:custGeom>
              <a:avLst/>
              <a:gdLst/>
              <a:ahLst/>
              <a:cxnLst/>
              <a:rect r="r" b="b" t="t" l="l"/>
              <a:pathLst>
                <a:path h="1935734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918843"/>
                  </a:lnTo>
                  <a:cubicBezTo>
                    <a:pt x="204470" y="1928241"/>
                    <a:pt x="196850" y="1935734"/>
                    <a:pt x="187579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87579" y="1901952"/>
                  </a:lnTo>
                  <a:lnTo>
                    <a:pt x="187579" y="1918843"/>
                  </a:lnTo>
                  <a:lnTo>
                    <a:pt x="170688" y="191884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9217152" y="6656832"/>
            <a:ext cx="8321040" cy="548640"/>
            <a:chOff x="0" y="0"/>
            <a:chExt cx="11094720" cy="73152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11094720" cy="731520"/>
            </a:xfrm>
            <a:custGeom>
              <a:avLst/>
              <a:gdLst/>
              <a:ahLst/>
              <a:cxnLst/>
              <a:rect r="r" b="b" t="t" l="l"/>
              <a:pathLst>
                <a:path h="73152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523" r="0" b="-245523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47625"/>
              <a:ext cx="110947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8B5C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Benchmark + Visualizer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9217152" y="7242048"/>
            <a:ext cx="8321040" cy="512064"/>
            <a:chOff x="0" y="0"/>
            <a:chExt cx="11094720" cy="682752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11094720" cy="682752"/>
            </a:xfrm>
            <a:custGeom>
              <a:avLst/>
              <a:gdLst/>
              <a:ahLst/>
              <a:cxnLst/>
              <a:rect r="r" b="b" t="t" l="l"/>
              <a:pathLst>
                <a:path h="682752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6631" r="0" b="-266631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38100"/>
              <a:ext cx="110947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22-pt sweep, 19 tree PNGs, render_manifest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2514583" y="7979159"/>
            <a:ext cx="98555" cy="244859"/>
            <a:chOff x="0" y="0"/>
            <a:chExt cx="131407" cy="326479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16891" y="16891"/>
              <a:ext cx="97536" cy="292608"/>
            </a:xfrm>
            <a:custGeom>
              <a:avLst/>
              <a:gdLst/>
              <a:ahLst/>
              <a:cxnLst/>
              <a:rect r="r" b="b" t="t" l="l"/>
              <a:pathLst>
                <a:path h="292608" w="97536">
                  <a:moveTo>
                    <a:pt x="0" y="0"/>
                  </a:moveTo>
                  <a:lnTo>
                    <a:pt x="97536" y="0"/>
                  </a:lnTo>
                  <a:lnTo>
                    <a:pt x="97536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8BAFC7"/>
            </a:solidFill>
          </p:spPr>
        </p:sp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131318" cy="326392"/>
            </a:xfrm>
            <a:custGeom>
              <a:avLst/>
              <a:gdLst/>
              <a:ahLst/>
              <a:cxnLst/>
              <a:rect r="r" b="b" t="t" l="l"/>
              <a:pathLst>
                <a:path h="326392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309499"/>
                  </a:lnTo>
                  <a:cubicBezTo>
                    <a:pt x="131318" y="318897"/>
                    <a:pt x="123698" y="326390"/>
                    <a:pt x="114427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114427" y="292608"/>
                  </a:lnTo>
                  <a:lnTo>
                    <a:pt x="114427" y="309499"/>
                  </a:lnTo>
                  <a:lnTo>
                    <a:pt x="97536" y="309499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161" id="161"/>
          <p:cNvGrpSpPr/>
          <p:nvPr/>
        </p:nvGrpSpPr>
        <p:grpSpPr>
          <a:xfrm rot="0">
            <a:off x="8911847" y="8216903"/>
            <a:ext cx="8895083" cy="1451867"/>
            <a:chOff x="0" y="0"/>
            <a:chExt cx="11860111" cy="1935823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16891" y="16891"/>
              <a:ext cx="1182624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1826240">
                  <a:moveTo>
                    <a:pt x="0" y="0"/>
                  </a:moveTo>
                  <a:lnTo>
                    <a:pt x="11826240" y="0"/>
                  </a:lnTo>
                  <a:lnTo>
                    <a:pt x="1182624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1186002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1860022">
                  <a:moveTo>
                    <a:pt x="16891" y="0"/>
                  </a:moveTo>
                  <a:lnTo>
                    <a:pt x="11843131" y="0"/>
                  </a:lnTo>
                  <a:cubicBezTo>
                    <a:pt x="11852529" y="0"/>
                    <a:pt x="11860022" y="7620"/>
                    <a:pt x="11860022" y="16891"/>
                  </a:cubicBezTo>
                  <a:lnTo>
                    <a:pt x="11860022" y="1918843"/>
                  </a:lnTo>
                  <a:cubicBezTo>
                    <a:pt x="11860022" y="1928241"/>
                    <a:pt x="11852402" y="1935734"/>
                    <a:pt x="1184313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1843131" y="1901952"/>
                  </a:lnTo>
                  <a:lnTo>
                    <a:pt x="11843131" y="1918843"/>
                  </a:lnTo>
                  <a:lnTo>
                    <a:pt x="11826240" y="1918843"/>
                  </a:lnTo>
                  <a:lnTo>
                    <a:pt x="11826240" y="16891"/>
                  </a:lnTo>
                  <a:lnTo>
                    <a:pt x="11843131" y="16891"/>
                  </a:lnTo>
                  <a:lnTo>
                    <a:pt x="11843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8911847" y="8216903"/>
            <a:ext cx="153419" cy="1451867"/>
            <a:chOff x="0" y="0"/>
            <a:chExt cx="204559" cy="1935823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16891" y="16891"/>
              <a:ext cx="170688" cy="1901952"/>
            </a:xfrm>
            <a:custGeom>
              <a:avLst/>
              <a:gdLst/>
              <a:ahLst/>
              <a:cxnLst/>
              <a:rect r="r" b="b" t="t" l="l"/>
              <a:pathLst>
                <a:path h="190195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204470" cy="1935734"/>
            </a:xfrm>
            <a:custGeom>
              <a:avLst/>
              <a:gdLst/>
              <a:ahLst/>
              <a:cxnLst/>
              <a:rect r="r" b="b" t="t" l="l"/>
              <a:pathLst>
                <a:path h="1935734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918843"/>
                  </a:lnTo>
                  <a:cubicBezTo>
                    <a:pt x="204470" y="1928241"/>
                    <a:pt x="196850" y="1935734"/>
                    <a:pt x="187579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87579" y="1901952"/>
                  </a:lnTo>
                  <a:lnTo>
                    <a:pt x="187579" y="1918843"/>
                  </a:lnTo>
                  <a:lnTo>
                    <a:pt x="170688" y="191884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167" id="167"/>
          <p:cNvGrpSpPr/>
          <p:nvPr/>
        </p:nvGrpSpPr>
        <p:grpSpPr>
          <a:xfrm rot="0">
            <a:off x="9217152" y="8339328"/>
            <a:ext cx="8321040" cy="548640"/>
            <a:chOff x="0" y="0"/>
            <a:chExt cx="11094720" cy="731520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11094720" cy="731520"/>
            </a:xfrm>
            <a:custGeom>
              <a:avLst/>
              <a:gdLst/>
              <a:ahLst/>
              <a:cxnLst/>
              <a:rect r="r" b="b" t="t" l="l"/>
              <a:pathLst>
                <a:path h="73152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523" r="0" b="-245523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47625"/>
              <a:ext cx="110947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Evidence Artifacts</a:t>
              </a:r>
            </a:p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9217152" y="8924544"/>
            <a:ext cx="8321040" cy="512064"/>
            <a:chOff x="0" y="0"/>
            <a:chExt cx="11094720" cy="682752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11094720" cy="682752"/>
            </a:xfrm>
            <a:custGeom>
              <a:avLst/>
              <a:gdLst/>
              <a:ahLst/>
              <a:cxnLst/>
              <a:rect r="r" b="b" t="t" l="l"/>
              <a:pathLst>
                <a:path h="682752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6631" r="0" b="-266631"/>
              </a:stretch>
            </a:blipFill>
          </p:spPr>
        </p:sp>
        <p:sp>
          <p:nvSpPr>
            <p:cNvPr name="TextBox 172" id="172"/>
            <p:cNvSpPr txBox="true"/>
            <p:nvPr/>
          </p:nvSpPr>
          <p:spPr>
            <a:xfrm>
              <a:off x="0" y="-38100"/>
              <a:ext cx="110947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JSON, Markdown, PNG plots, parity proof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8283"/>
            <a:chOff x="0" y="0"/>
            <a:chExt cx="24417871" cy="2777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7624"/>
            </a:xfrm>
            <a:custGeom>
              <a:avLst/>
              <a:gdLst/>
              <a:ahLst/>
              <a:cxnLst/>
              <a:rect r="r" b="b" t="t" l="l"/>
              <a:pathLst>
                <a:path h="27762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0731"/>
                  </a:lnTo>
                  <a:cubicBezTo>
                    <a:pt x="24417782" y="270129"/>
                    <a:pt x="24410163" y="277622"/>
                    <a:pt x="2440089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4400890" y="243840"/>
                  </a:lnTo>
                  <a:lnTo>
                    <a:pt x="24400890" y="260731"/>
                  </a:lnTo>
                  <a:lnTo>
                    <a:pt x="24384000" y="2607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2064" y="274320"/>
            <a:ext cx="17373600" cy="914400"/>
            <a:chOff x="0" y="0"/>
            <a:chExt cx="2316480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64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31648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Repository Structure — Scoped Submission Package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12064" y="1499616"/>
            <a:ext cx="6400800" cy="548640"/>
            <a:chOff x="0" y="0"/>
            <a:chExt cx="853440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534400" cy="731520"/>
            </a:xfrm>
            <a:custGeom>
              <a:avLst/>
              <a:gdLst/>
              <a:ahLst/>
              <a:cxnLst/>
              <a:rect r="r" b="b" t="t" l="l"/>
              <a:pathLst>
                <a:path h="73152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85344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CS432_Track1_Submission/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10263" y="2282447"/>
            <a:ext cx="391163" cy="80267"/>
            <a:chOff x="0" y="0"/>
            <a:chExt cx="521551" cy="10702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487680" cy="73152"/>
            </a:xfrm>
            <a:custGeom>
              <a:avLst/>
              <a:gdLst/>
              <a:ahLst/>
              <a:cxnLst/>
              <a:rect r="r" b="b" t="t" l="l"/>
              <a:pathLst>
                <a:path h="73152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8BAFC7">
                <a:alpha val="24706"/>
              </a:srgbClr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21462" cy="106936"/>
            </a:xfrm>
            <a:custGeom>
              <a:avLst/>
              <a:gdLst/>
              <a:ahLst/>
              <a:cxnLst/>
              <a:rect r="r" b="b" t="t" l="l"/>
              <a:pathLst>
                <a:path h="106936" w="521462">
                  <a:moveTo>
                    <a:pt x="16891" y="0"/>
                  </a:moveTo>
                  <a:lnTo>
                    <a:pt x="504571" y="0"/>
                  </a:lnTo>
                  <a:cubicBezTo>
                    <a:pt x="513969" y="0"/>
                    <a:pt x="521462" y="7620"/>
                    <a:pt x="521462" y="16891"/>
                  </a:cubicBezTo>
                  <a:lnTo>
                    <a:pt x="521462" y="90043"/>
                  </a:lnTo>
                  <a:cubicBezTo>
                    <a:pt x="521462" y="99441"/>
                    <a:pt x="513842" y="106934"/>
                    <a:pt x="50457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504571" y="73152"/>
                  </a:lnTo>
                  <a:lnTo>
                    <a:pt x="504571" y="90043"/>
                  </a:lnTo>
                  <a:lnTo>
                    <a:pt x="487680" y="90043"/>
                  </a:lnTo>
                  <a:lnTo>
                    <a:pt x="487680" y="16891"/>
                  </a:lnTo>
                  <a:lnTo>
                    <a:pt x="504571" y="16891"/>
                  </a:lnTo>
                  <a:lnTo>
                    <a:pt x="504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80160" y="2112264"/>
            <a:ext cx="5632704" cy="548640"/>
            <a:chOff x="0" y="0"/>
            <a:chExt cx="7510272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510272" cy="731520"/>
            </a:xfrm>
            <a:custGeom>
              <a:avLst/>
              <a:gdLst/>
              <a:ahLst/>
              <a:cxnLst/>
              <a:rect r="r" b="b" t="t" l="l"/>
              <a:pathLst>
                <a:path h="731520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046" r="0" b="-15004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7510272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6B6C8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Docs/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858000" y="2112264"/>
            <a:ext cx="10789920" cy="548640"/>
            <a:chOff x="0" y="0"/>
            <a:chExt cx="1438656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386561" cy="731520"/>
            </a:xfrm>
            <a:custGeom>
              <a:avLst/>
              <a:gdLst/>
              <a:ahLst/>
              <a:cxnLst/>
              <a:rect r="r" b="b" t="t" l="l"/>
              <a:pathLst>
                <a:path h="731520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3205" r="0" b="-33320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43865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PROJECT_DOCUMENTATION · API_REFERENCE · ARCHITECTURE · DEMO_GUIDE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10263" y="2895095"/>
            <a:ext cx="391163" cy="80267"/>
            <a:chOff x="0" y="0"/>
            <a:chExt cx="521551" cy="10702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487680" cy="73152"/>
            </a:xfrm>
            <a:custGeom>
              <a:avLst/>
              <a:gdLst/>
              <a:ahLst/>
              <a:cxnLst/>
              <a:rect r="r" b="b" t="t" l="l"/>
              <a:pathLst>
                <a:path h="73152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8BAFC7">
                <a:alpha val="24706"/>
              </a:srgbClr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21462" cy="106936"/>
            </a:xfrm>
            <a:custGeom>
              <a:avLst/>
              <a:gdLst/>
              <a:ahLst/>
              <a:cxnLst/>
              <a:rect r="r" b="b" t="t" l="l"/>
              <a:pathLst>
                <a:path h="106936" w="521462">
                  <a:moveTo>
                    <a:pt x="16891" y="0"/>
                  </a:moveTo>
                  <a:lnTo>
                    <a:pt x="504571" y="0"/>
                  </a:lnTo>
                  <a:cubicBezTo>
                    <a:pt x="513969" y="0"/>
                    <a:pt x="521462" y="7620"/>
                    <a:pt x="521462" y="16891"/>
                  </a:cubicBezTo>
                  <a:lnTo>
                    <a:pt x="521462" y="90043"/>
                  </a:lnTo>
                  <a:cubicBezTo>
                    <a:pt x="521462" y="99441"/>
                    <a:pt x="513842" y="106934"/>
                    <a:pt x="50457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504571" y="73152"/>
                  </a:lnTo>
                  <a:lnTo>
                    <a:pt x="504571" y="90043"/>
                  </a:lnTo>
                  <a:lnTo>
                    <a:pt x="487680" y="90043"/>
                  </a:lnTo>
                  <a:lnTo>
                    <a:pt x="487680" y="16891"/>
                  </a:lnTo>
                  <a:lnTo>
                    <a:pt x="504571" y="16891"/>
                  </a:lnTo>
                  <a:lnTo>
                    <a:pt x="504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80160" y="2724912"/>
            <a:ext cx="5632704" cy="548640"/>
            <a:chOff x="0" y="0"/>
            <a:chExt cx="7510272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510272" cy="731520"/>
            </a:xfrm>
            <a:custGeom>
              <a:avLst/>
              <a:gdLst/>
              <a:ahLst/>
              <a:cxnLst/>
              <a:rect r="r" b="b" t="t" l="l"/>
              <a:pathLst>
                <a:path h="731520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046" r="0" b="-15004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7510272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59E0B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Module_A/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578359" y="3507743"/>
            <a:ext cx="391163" cy="80267"/>
            <a:chOff x="0" y="0"/>
            <a:chExt cx="521551" cy="10702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487680" cy="73152"/>
            </a:xfrm>
            <a:custGeom>
              <a:avLst/>
              <a:gdLst/>
              <a:ahLst/>
              <a:cxnLst/>
              <a:rect r="r" b="b" t="t" l="l"/>
              <a:pathLst>
                <a:path h="73152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8BAFC7">
                <a:alpha val="24706"/>
              </a:srgbClr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21462" cy="106936"/>
            </a:xfrm>
            <a:custGeom>
              <a:avLst/>
              <a:gdLst/>
              <a:ahLst/>
              <a:cxnLst/>
              <a:rect r="r" b="b" t="t" l="l"/>
              <a:pathLst>
                <a:path h="106936" w="521462">
                  <a:moveTo>
                    <a:pt x="16891" y="0"/>
                  </a:moveTo>
                  <a:lnTo>
                    <a:pt x="504571" y="0"/>
                  </a:lnTo>
                  <a:cubicBezTo>
                    <a:pt x="513969" y="0"/>
                    <a:pt x="521462" y="7620"/>
                    <a:pt x="521462" y="16891"/>
                  </a:cubicBezTo>
                  <a:lnTo>
                    <a:pt x="521462" y="90043"/>
                  </a:lnTo>
                  <a:cubicBezTo>
                    <a:pt x="521462" y="99441"/>
                    <a:pt x="513842" y="106934"/>
                    <a:pt x="50457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504571" y="73152"/>
                  </a:lnTo>
                  <a:lnTo>
                    <a:pt x="504571" y="90043"/>
                  </a:lnTo>
                  <a:lnTo>
                    <a:pt x="487680" y="90043"/>
                  </a:lnTo>
                  <a:lnTo>
                    <a:pt x="487680" y="16891"/>
                  </a:lnTo>
                  <a:lnTo>
                    <a:pt x="504571" y="16891"/>
                  </a:lnTo>
                  <a:lnTo>
                    <a:pt x="504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2048256" y="3337560"/>
            <a:ext cx="4864608" cy="548640"/>
            <a:chOff x="0" y="0"/>
            <a:chExt cx="6486144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486144" cy="731520"/>
            </a:xfrm>
            <a:custGeom>
              <a:avLst/>
              <a:gdLst/>
              <a:ahLst/>
              <a:cxnLst/>
              <a:rect r="r" b="b" t="t" l="l"/>
              <a:pathLst>
                <a:path h="731520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767" r="0" b="-12276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648614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59E0B"/>
                  </a:solidFill>
                  <a:latin typeface="Consolas"/>
                  <a:ea typeface="Consolas"/>
                  <a:cs typeface="Consolas"/>
                  <a:sym typeface="Consolas"/>
                </a:rPr>
                <a:t>  database/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858000" y="3337560"/>
            <a:ext cx="10789920" cy="548640"/>
            <a:chOff x="0" y="0"/>
            <a:chExt cx="1438656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4386561" cy="731520"/>
            </a:xfrm>
            <a:custGeom>
              <a:avLst/>
              <a:gdLst/>
              <a:ahLst/>
              <a:cxnLst/>
              <a:rect r="r" b="b" t="t" l="l"/>
              <a:pathLst>
                <a:path h="731520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3205" r="0" b="-33320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143865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bplustree.py · bruteforce.py · table.py · db_manager.py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578359" y="4120391"/>
            <a:ext cx="391163" cy="80267"/>
            <a:chOff x="0" y="0"/>
            <a:chExt cx="521551" cy="10702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487680" cy="73152"/>
            </a:xfrm>
            <a:custGeom>
              <a:avLst/>
              <a:gdLst/>
              <a:ahLst/>
              <a:cxnLst/>
              <a:rect r="r" b="b" t="t" l="l"/>
              <a:pathLst>
                <a:path h="73152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8BAFC7">
                <a:alpha val="24706"/>
              </a:srgbClr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21462" cy="106936"/>
            </a:xfrm>
            <a:custGeom>
              <a:avLst/>
              <a:gdLst/>
              <a:ahLst/>
              <a:cxnLst/>
              <a:rect r="r" b="b" t="t" l="l"/>
              <a:pathLst>
                <a:path h="106936" w="521462">
                  <a:moveTo>
                    <a:pt x="16891" y="0"/>
                  </a:moveTo>
                  <a:lnTo>
                    <a:pt x="504571" y="0"/>
                  </a:lnTo>
                  <a:cubicBezTo>
                    <a:pt x="513969" y="0"/>
                    <a:pt x="521462" y="7620"/>
                    <a:pt x="521462" y="16891"/>
                  </a:cubicBezTo>
                  <a:lnTo>
                    <a:pt x="521462" y="90043"/>
                  </a:lnTo>
                  <a:cubicBezTo>
                    <a:pt x="521462" y="99441"/>
                    <a:pt x="513842" y="106934"/>
                    <a:pt x="50457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504571" y="73152"/>
                  </a:lnTo>
                  <a:lnTo>
                    <a:pt x="504571" y="90043"/>
                  </a:lnTo>
                  <a:lnTo>
                    <a:pt x="487680" y="90043"/>
                  </a:lnTo>
                  <a:lnTo>
                    <a:pt x="487680" y="16891"/>
                  </a:lnTo>
                  <a:lnTo>
                    <a:pt x="504571" y="16891"/>
                  </a:lnTo>
                  <a:lnTo>
                    <a:pt x="504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2048256" y="3950208"/>
            <a:ext cx="4864608" cy="548640"/>
            <a:chOff x="0" y="0"/>
            <a:chExt cx="6486144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486144" cy="731520"/>
            </a:xfrm>
            <a:custGeom>
              <a:avLst/>
              <a:gdLst/>
              <a:ahLst/>
              <a:cxnLst/>
              <a:rect r="r" b="b" t="t" l="l"/>
              <a:pathLst>
                <a:path h="731520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767" r="0" b="-12276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648614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59E0B"/>
                  </a:solidFill>
                  <a:latin typeface="Consolas"/>
                  <a:ea typeface="Consolas"/>
                  <a:cs typeface="Consolas"/>
                  <a:sym typeface="Consolas"/>
                </a:rPr>
                <a:t>  integration/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858000" y="3950208"/>
            <a:ext cx="10789920" cy="548640"/>
            <a:chOff x="0" y="0"/>
            <a:chExt cx="14386560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4386561" cy="731520"/>
            </a:xfrm>
            <a:custGeom>
              <a:avLst/>
              <a:gdLst/>
              <a:ahLst/>
              <a:cxnLst/>
              <a:rect r="r" b="b" t="t" l="l"/>
              <a:pathLst>
                <a:path h="731520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3205" r="0" b="-33320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143865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blinddrop_index_manager · benchmark_detailed · render_bptree_v2 · parity demo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578359" y="4733039"/>
            <a:ext cx="391163" cy="80267"/>
            <a:chOff x="0" y="0"/>
            <a:chExt cx="521551" cy="10702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487680" cy="73152"/>
            </a:xfrm>
            <a:custGeom>
              <a:avLst/>
              <a:gdLst/>
              <a:ahLst/>
              <a:cxnLst/>
              <a:rect r="r" b="b" t="t" l="l"/>
              <a:pathLst>
                <a:path h="73152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8BAFC7">
                <a:alpha val="24706"/>
              </a:srgbClr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21462" cy="106936"/>
            </a:xfrm>
            <a:custGeom>
              <a:avLst/>
              <a:gdLst/>
              <a:ahLst/>
              <a:cxnLst/>
              <a:rect r="r" b="b" t="t" l="l"/>
              <a:pathLst>
                <a:path h="106936" w="521462">
                  <a:moveTo>
                    <a:pt x="16891" y="0"/>
                  </a:moveTo>
                  <a:lnTo>
                    <a:pt x="504571" y="0"/>
                  </a:lnTo>
                  <a:cubicBezTo>
                    <a:pt x="513969" y="0"/>
                    <a:pt x="521462" y="7620"/>
                    <a:pt x="521462" y="16891"/>
                  </a:cubicBezTo>
                  <a:lnTo>
                    <a:pt x="521462" y="90043"/>
                  </a:lnTo>
                  <a:cubicBezTo>
                    <a:pt x="521462" y="99441"/>
                    <a:pt x="513842" y="106934"/>
                    <a:pt x="50457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504571" y="73152"/>
                  </a:lnTo>
                  <a:lnTo>
                    <a:pt x="504571" y="90043"/>
                  </a:lnTo>
                  <a:lnTo>
                    <a:pt x="487680" y="90043"/>
                  </a:lnTo>
                  <a:lnTo>
                    <a:pt x="487680" y="16891"/>
                  </a:lnTo>
                  <a:lnTo>
                    <a:pt x="504571" y="16891"/>
                  </a:lnTo>
                  <a:lnTo>
                    <a:pt x="504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2048256" y="4562856"/>
            <a:ext cx="4864608" cy="548640"/>
            <a:chOff x="0" y="0"/>
            <a:chExt cx="6486144" cy="7315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486144" cy="731520"/>
            </a:xfrm>
            <a:custGeom>
              <a:avLst/>
              <a:gdLst/>
              <a:ahLst/>
              <a:cxnLst/>
              <a:rect r="r" b="b" t="t" l="l"/>
              <a:pathLst>
                <a:path h="731520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767" r="0" b="-122767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648614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CD34D"/>
                  </a:solidFill>
                  <a:latin typeface="Consolas"/>
                  <a:ea typeface="Consolas"/>
                  <a:cs typeface="Consolas"/>
                  <a:sym typeface="Consolas"/>
                </a:rPr>
                <a:t>  evidence/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858000" y="4562856"/>
            <a:ext cx="10789920" cy="548640"/>
            <a:chOff x="0" y="0"/>
            <a:chExt cx="14386560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4386561" cy="731520"/>
            </a:xfrm>
            <a:custGeom>
              <a:avLst/>
              <a:gdLst/>
              <a:ahLst/>
              <a:cxnLst/>
              <a:rect r="r" b="b" t="t" l="l"/>
              <a:pathLst>
                <a:path h="731520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3205" r="0" b="-33320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143865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benchmark JSON + PNG plots · parity outputs · console captures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578359" y="5345687"/>
            <a:ext cx="391163" cy="80267"/>
            <a:chOff x="0" y="0"/>
            <a:chExt cx="521551" cy="107023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487680" cy="73152"/>
            </a:xfrm>
            <a:custGeom>
              <a:avLst/>
              <a:gdLst/>
              <a:ahLst/>
              <a:cxnLst/>
              <a:rect r="r" b="b" t="t" l="l"/>
              <a:pathLst>
                <a:path h="73152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8BAFC7">
                <a:alpha val="24706"/>
              </a:srgbClr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21462" cy="106936"/>
            </a:xfrm>
            <a:custGeom>
              <a:avLst/>
              <a:gdLst/>
              <a:ahLst/>
              <a:cxnLst/>
              <a:rect r="r" b="b" t="t" l="l"/>
              <a:pathLst>
                <a:path h="106936" w="521462">
                  <a:moveTo>
                    <a:pt x="16891" y="0"/>
                  </a:moveTo>
                  <a:lnTo>
                    <a:pt x="504571" y="0"/>
                  </a:lnTo>
                  <a:cubicBezTo>
                    <a:pt x="513969" y="0"/>
                    <a:pt x="521462" y="7620"/>
                    <a:pt x="521462" y="16891"/>
                  </a:cubicBezTo>
                  <a:lnTo>
                    <a:pt x="521462" y="90043"/>
                  </a:lnTo>
                  <a:cubicBezTo>
                    <a:pt x="521462" y="99441"/>
                    <a:pt x="513842" y="106934"/>
                    <a:pt x="50457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504571" y="73152"/>
                  </a:lnTo>
                  <a:lnTo>
                    <a:pt x="504571" y="90043"/>
                  </a:lnTo>
                  <a:lnTo>
                    <a:pt x="487680" y="90043"/>
                  </a:lnTo>
                  <a:lnTo>
                    <a:pt x="487680" y="16891"/>
                  </a:lnTo>
                  <a:lnTo>
                    <a:pt x="504571" y="16891"/>
                  </a:lnTo>
                  <a:lnTo>
                    <a:pt x="504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2048256" y="5175504"/>
            <a:ext cx="4864608" cy="548640"/>
            <a:chOff x="0" y="0"/>
            <a:chExt cx="6486144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486144" cy="731520"/>
            </a:xfrm>
            <a:custGeom>
              <a:avLst/>
              <a:gdLst/>
              <a:ahLst/>
              <a:cxnLst/>
              <a:rect r="r" b="b" t="t" l="l"/>
              <a:pathLst>
                <a:path h="731520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767" r="0" b="-12276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648614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CD34D"/>
                  </a:solidFill>
                  <a:latin typeface="Consolas"/>
                  <a:ea typeface="Consolas"/>
                  <a:cs typeface="Consolas"/>
                  <a:sym typeface="Consolas"/>
                </a:rPr>
                <a:t>  report.ipynb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858000" y="5175504"/>
            <a:ext cx="10789920" cy="548640"/>
            <a:chOff x="0" y="0"/>
            <a:chExt cx="14386560" cy="731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4386561" cy="731520"/>
            </a:xfrm>
            <a:custGeom>
              <a:avLst/>
              <a:gdLst/>
              <a:ahLst/>
              <a:cxnLst/>
              <a:rect r="r" b="b" t="t" l="l"/>
              <a:pathLst>
                <a:path h="731520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3205" r="0" b="-33320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143865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Module A notebook report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810263" y="5958335"/>
            <a:ext cx="391163" cy="80267"/>
            <a:chOff x="0" y="0"/>
            <a:chExt cx="521551" cy="10702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487680" cy="73152"/>
            </a:xfrm>
            <a:custGeom>
              <a:avLst/>
              <a:gdLst/>
              <a:ahLst/>
              <a:cxnLst/>
              <a:rect r="r" b="b" t="t" l="l"/>
              <a:pathLst>
                <a:path h="73152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8BAFC7">
                <a:alpha val="24706"/>
              </a:srgbClr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21462" cy="106936"/>
            </a:xfrm>
            <a:custGeom>
              <a:avLst/>
              <a:gdLst/>
              <a:ahLst/>
              <a:cxnLst/>
              <a:rect r="r" b="b" t="t" l="l"/>
              <a:pathLst>
                <a:path h="106936" w="521462">
                  <a:moveTo>
                    <a:pt x="16891" y="0"/>
                  </a:moveTo>
                  <a:lnTo>
                    <a:pt x="504571" y="0"/>
                  </a:lnTo>
                  <a:cubicBezTo>
                    <a:pt x="513969" y="0"/>
                    <a:pt x="521462" y="7620"/>
                    <a:pt x="521462" y="16891"/>
                  </a:cubicBezTo>
                  <a:lnTo>
                    <a:pt x="521462" y="90043"/>
                  </a:lnTo>
                  <a:cubicBezTo>
                    <a:pt x="521462" y="99441"/>
                    <a:pt x="513842" y="106934"/>
                    <a:pt x="50457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504571" y="73152"/>
                  </a:lnTo>
                  <a:lnTo>
                    <a:pt x="504571" y="90043"/>
                  </a:lnTo>
                  <a:lnTo>
                    <a:pt x="487680" y="90043"/>
                  </a:lnTo>
                  <a:lnTo>
                    <a:pt x="487680" y="16891"/>
                  </a:lnTo>
                  <a:lnTo>
                    <a:pt x="504571" y="16891"/>
                  </a:lnTo>
                  <a:lnTo>
                    <a:pt x="504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280160" y="5788152"/>
            <a:ext cx="5632704" cy="548640"/>
            <a:chOff x="0" y="0"/>
            <a:chExt cx="7510272" cy="7315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510272" cy="731520"/>
            </a:xfrm>
            <a:custGeom>
              <a:avLst/>
              <a:gdLst/>
              <a:ahLst/>
              <a:cxnLst/>
              <a:rect r="r" b="b" t="t" l="l"/>
              <a:pathLst>
                <a:path h="731520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046" r="0" b="-150046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57150"/>
              <a:ext cx="7510272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97316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Module_B/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578359" y="6570983"/>
            <a:ext cx="391163" cy="80267"/>
            <a:chOff x="0" y="0"/>
            <a:chExt cx="521551" cy="107023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487680" cy="73152"/>
            </a:xfrm>
            <a:custGeom>
              <a:avLst/>
              <a:gdLst/>
              <a:ahLst/>
              <a:cxnLst/>
              <a:rect r="r" b="b" t="t" l="l"/>
              <a:pathLst>
                <a:path h="73152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8BAFC7">
                <a:alpha val="24706"/>
              </a:srgbClr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21462" cy="106936"/>
            </a:xfrm>
            <a:custGeom>
              <a:avLst/>
              <a:gdLst/>
              <a:ahLst/>
              <a:cxnLst/>
              <a:rect r="r" b="b" t="t" l="l"/>
              <a:pathLst>
                <a:path h="106936" w="521462">
                  <a:moveTo>
                    <a:pt x="16891" y="0"/>
                  </a:moveTo>
                  <a:lnTo>
                    <a:pt x="504571" y="0"/>
                  </a:lnTo>
                  <a:cubicBezTo>
                    <a:pt x="513969" y="0"/>
                    <a:pt x="521462" y="7620"/>
                    <a:pt x="521462" y="16891"/>
                  </a:cubicBezTo>
                  <a:lnTo>
                    <a:pt x="521462" y="90043"/>
                  </a:lnTo>
                  <a:cubicBezTo>
                    <a:pt x="521462" y="99441"/>
                    <a:pt x="513842" y="106934"/>
                    <a:pt x="50457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504571" y="73152"/>
                  </a:lnTo>
                  <a:lnTo>
                    <a:pt x="504571" y="90043"/>
                  </a:lnTo>
                  <a:lnTo>
                    <a:pt x="487680" y="90043"/>
                  </a:lnTo>
                  <a:lnTo>
                    <a:pt x="487680" y="16891"/>
                  </a:lnTo>
                  <a:lnTo>
                    <a:pt x="504571" y="16891"/>
                  </a:lnTo>
                  <a:lnTo>
                    <a:pt x="504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2048256" y="6400800"/>
            <a:ext cx="4864608" cy="548640"/>
            <a:chOff x="0" y="0"/>
            <a:chExt cx="6486144" cy="7315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486144" cy="731520"/>
            </a:xfrm>
            <a:custGeom>
              <a:avLst/>
              <a:gdLst/>
              <a:ahLst/>
              <a:cxnLst/>
              <a:rect r="r" b="b" t="t" l="l"/>
              <a:pathLst>
                <a:path h="731520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767" r="0" b="-122767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648614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97316"/>
                  </a:solidFill>
                  <a:latin typeface="Consolas"/>
                  <a:ea typeface="Consolas"/>
                  <a:cs typeface="Consolas"/>
                  <a:sym typeface="Consolas"/>
                </a:rPr>
                <a:t>  app/backend/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6858000" y="6400800"/>
            <a:ext cx="10789920" cy="548640"/>
            <a:chOff x="0" y="0"/>
            <a:chExt cx="14386560" cy="7315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4386561" cy="731520"/>
            </a:xfrm>
            <a:custGeom>
              <a:avLst/>
              <a:gdLst/>
              <a:ahLst/>
              <a:cxnLst/>
              <a:rect r="r" b="b" t="t" l="l"/>
              <a:pathLst>
                <a:path h="731520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3205" r="0" b="-333205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143865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src/routes · src/services · sql/ · reports/ · scripts/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578359" y="7183631"/>
            <a:ext cx="391163" cy="80267"/>
            <a:chOff x="0" y="0"/>
            <a:chExt cx="521551" cy="107023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487680" cy="73152"/>
            </a:xfrm>
            <a:custGeom>
              <a:avLst/>
              <a:gdLst/>
              <a:ahLst/>
              <a:cxnLst/>
              <a:rect r="r" b="b" t="t" l="l"/>
              <a:pathLst>
                <a:path h="73152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8BAFC7">
                <a:alpha val="24706"/>
              </a:srgbClr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21462" cy="106936"/>
            </a:xfrm>
            <a:custGeom>
              <a:avLst/>
              <a:gdLst/>
              <a:ahLst/>
              <a:cxnLst/>
              <a:rect r="r" b="b" t="t" l="l"/>
              <a:pathLst>
                <a:path h="106936" w="521462">
                  <a:moveTo>
                    <a:pt x="16891" y="0"/>
                  </a:moveTo>
                  <a:lnTo>
                    <a:pt x="504571" y="0"/>
                  </a:lnTo>
                  <a:cubicBezTo>
                    <a:pt x="513969" y="0"/>
                    <a:pt x="521462" y="7620"/>
                    <a:pt x="521462" y="16891"/>
                  </a:cubicBezTo>
                  <a:lnTo>
                    <a:pt x="521462" y="90043"/>
                  </a:lnTo>
                  <a:cubicBezTo>
                    <a:pt x="521462" y="99441"/>
                    <a:pt x="513842" y="106934"/>
                    <a:pt x="50457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504571" y="73152"/>
                  </a:lnTo>
                  <a:lnTo>
                    <a:pt x="504571" y="90043"/>
                  </a:lnTo>
                  <a:lnTo>
                    <a:pt x="487680" y="90043"/>
                  </a:lnTo>
                  <a:lnTo>
                    <a:pt x="487680" y="16891"/>
                  </a:lnTo>
                  <a:lnTo>
                    <a:pt x="504571" y="16891"/>
                  </a:lnTo>
                  <a:lnTo>
                    <a:pt x="504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2048256" y="7013448"/>
            <a:ext cx="4864608" cy="548640"/>
            <a:chOff x="0" y="0"/>
            <a:chExt cx="6486144" cy="7315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486144" cy="731520"/>
            </a:xfrm>
            <a:custGeom>
              <a:avLst/>
              <a:gdLst/>
              <a:ahLst/>
              <a:cxnLst/>
              <a:rect r="r" b="b" t="t" l="l"/>
              <a:pathLst>
                <a:path h="731520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767" r="0" b="-122767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648614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97316"/>
                  </a:solidFill>
                  <a:latin typeface="Consolas"/>
                  <a:ea typeface="Consolas"/>
                  <a:cs typeface="Consolas"/>
                  <a:sym typeface="Consolas"/>
                </a:rPr>
                <a:t>  app/frontend/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6858000" y="7013448"/>
            <a:ext cx="10789920" cy="548640"/>
            <a:chOff x="0" y="0"/>
            <a:chExt cx="14386560" cy="73152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4386561" cy="731520"/>
            </a:xfrm>
            <a:custGeom>
              <a:avLst/>
              <a:gdLst/>
              <a:ahLst/>
              <a:cxnLst/>
              <a:rect r="r" b="b" t="t" l="l"/>
              <a:pathLst>
                <a:path h="731520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3205" r="0" b="-333205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143865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index.html · app.js · styles.css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578359" y="7796279"/>
            <a:ext cx="391163" cy="80267"/>
            <a:chOff x="0" y="0"/>
            <a:chExt cx="521551" cy="107023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487680" cy="73152"/>
            </a:xfrm>
            <a:custGeom>
              <a:avLst/>
              <a:gdLst/>
              <a:ahLst/>
              <a:cxnLst/>
              <a:rect r="r" b="b" t="t" l="l"/>
              <a:pathLst>
                <a:path h="73152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8BAFC7">
                <a:alpha val="24706"/>
              </a:srgbClr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21462" cy="106936"/>
            </a:xfrm>
            <a:custGeom>
              <a:avLst/>
              <a:gdLst/>
              <a:ahLst/>
              <a:cxnLst/>
              <a:rect r="r" b="b" t="t" l="l"/>
              <a:pathLst>
                <a:path h="106936" w="521462">
                  <a:moveTo>
                    <a:pt x="16891" y="0"/>
                  </a:moveTo>
                  <a:lnTo>
                    <a:pt x="504571" y="0"/>
                  </a:lnTo>
                  <a:cubicBezTo>
                    <a:pt x="513969" y="0"/>
                    <a:pt x="521462" y="7620"/>
                    <a:pt x="521462" y="16891"/>
                  </a:cubicBezTo>
                  <a:lnTo>
                    <a:pt x="521462" y="90043"/>
                  </a:lnTo>
                  <a:cubicBezTo>
                    <a:pt x="521462" y="99441"/>
                    <a:pt x="513842" y="106934"/>
                    <a:pt x="50457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504571" y="73152"/>
                  </a:lnTo>
                  <a:lnTo>
                    <a:pt x="504571" y="90043"/>
                  </a:lnTo>
                  <a:lnTo>
                    <a:pt x="487680" y="90043"/>
                  </a:lnTo>
                  <a:lnTo>
                    <a:pt x="487680" y="16891"/>
                  </a:lnTo>
                  <a:lnTo>
                    <a:pt x="504571" y="16891"/>
                  </a:lnTo>
                  <a:lnTo>
                    <a:pt x="504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2048256" y="7626096"/>
            <a:ext cx="4864608" cy="548640"/>
            <a:chOff x="0" y="0"/>
            <a:chExt cx="6486144" cy="73152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6486144" cy="731520"/>
            </a:xfrm>
            <a:custGeom>
              <a:avLst/>
              <a:gdLst/>
              <a:ahLst/>
              <a:cxnLst/>
              <a:rect r="r" b="b" t="t" l="l"/>
              <a:pathLst>
                <a:path h="731520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767" r="0" b="-122767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47625"/>
              <a:ext cx="648614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F4444"/>
                  </a:solidFill>
                  <a:latin typeface="Consolas"/>
                  <a:ea typeface="Consolas"/>
                  <a:cs typeface="Consolas"/>
                  <a:sym typeface="Consolas"/>
                </a:rPr>
                <a:t>  evidence/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6858000" y="7626096"/>
            <a:ext cx="10789920" cy="548640"/>
            <a:chOff x="0" y="0"/>
            <a:chExt cx="14386560" cy="73152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4386561" cy="731520"/>
            </a:xfrm>
            <a:custGeom>
              <a:avLst/>
              <a:gdLst/>
              <a:ahLst/>
              <a:cxnLst/>
              <a:rect r="r" b="b" t="t" l="l"/>
              <a:pathLst>
                <a:path h="731520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3205" r="0" b="-333205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143865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API_EVIDENCE · DB_EVIDENCE · AUDIT_LOG_EVIDENCE · BENCHMARK_EVIDENCE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578359" y="8408927"/>
            <a:ext cx="391163" cy="80267"/>
            <a:chOff x="0" y="0"/>
            <a:chExt cx="521551" cy="107023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487680" cy="73152"/>
            </a:xfrm>
            <a:custGeom>
              <a:avLst/>
              <a:gdLst/>
              <a:ahLst/>
              <a:cxnLst/>
              <a:rect r="r" b="b" t="t" l="l"/>
              <a:pathLst>
                <a:path h="73152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8BAFC7">
                <a:alpha val="24706"/>
              </a:srgbClr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521462" cy="106936"/>
            </a:xfrm>
            <a:custGeom>
              <a:avLst/>
              <a:gdLst/>
              <a:ahLst/>
              <a:cxnLst/>
              <a:rect r="r" b="b" t="t" l="l"/>
              <a:pathLst>
                <a:path h="106936" w="521462">
                  <a:moveTo>
                    <a:pt x="16891" y="0"/>
                  </a:moveTo>
                  <a:lnTo>
                    <a:pt x="504571" y="0"/>
                  </a:lnTo>
                  <a:cubicBezTo>
                    <a:pt x="513969" y="0"/>
                    <a:pt x="521462" y="7620"/>
                    <a:pt x="521462" y="16891"/>
                  </a:cubicBezTo>
                  <a:lnTo>
                    <a:pt x="521462" y="90043"/>
                  </a:lnTo>
                  <a:cubicBezTo>
                    <a:pt x="521462" y="99441"/>
                    <a:pt x="513842" y="106934"/>
                    <a:pt x="50457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504571" y="73152"/>
                  </a:lnTo>
                  <a:lnTo>
                    <a:pt x="504571" y="90043"/>
                  </a:lnTo>
                  <a:lnTo>
                    <a:pt x="487680" y="90043"/>
                  </a:lnTo>
                  <a:lnTo>
                    <a:pt x="487680" y="16891"/>
                  </a:lnTo>
                  <a:lnTo>
                    <a:pt x="504571" y="16891"/>
                  </a:lnTo>
                  <a:lnTo>
                    <a:pt x="504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2048256" y="8238744"/>
            <a:ext cx="4864608" cy="548640"/>
            <a:chOff x="0" y="0"/>
            <a:chExt cx="6486144" cy="73152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6486144" cy="731520"/>
            </a:xfrm>
            <a:custGeom>
              <a:avLst/>
              <a:gdLst/>
              <a:ahLst/>
              <a:cxnLst/>
              <a:rect r="r" b="b" t="t" l="l"/>
              <a:pathLst>
                <a:path h="731520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767" r="0" b="-122767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47625"/>
              <a:ext cx="648614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F4444"/>
                  </a:solidFill>
                  <a:latin typeface="Consolas"/>
                  <a:ea typeface="Consolas"/>
                  <a:cs typeface="Consolas"/>
                  <a:sym typeface="Consolas"/>
                </a:rPr>
                <a:t>  logs/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6858000" y="8238744"/>
            <a:ext cx="10789920" cy="548640"/>
            <a:chOff x="0" y="0"/>
            <a:chExt cx="14386560" cy="73152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4386561" cy="731520"/>
            </a:xfrm>
            <a:custGeom>
              <a:avLst/>
              <a:gdLst/>
              <a:ahLst/>
              <a:cxnLst/>
              <a:rect r="r" b="b" t="t" l="l"/>
              <a:pathLst>
                <a:path h="731520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3205" r="0" b="-333205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47625"/>
              <a:ext cx="143865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audit.log (packaged tamper-evident chain)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578359" y="9021575"/>
            <a:ext cx="391163" cy="80267"/>
            <a:chOff x="0" y="0"/>
            <a:chExt cx="521551" cy="107023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6891" y="16891"/>
              <a:ext cx="487680" cy="73152"/>
            </a:xfrm>
            <a:custGeom>
              <a:avLst/>
              <a:gdLst/>
              <a:ahLst/>
              <a:cxnLst/>
              <a:rect r="r" b="b" t="t" l="l"/>
              <a:pathLst>
                <a:path h="73152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8BAFC7">
                <a:alpha val="24706"/>
              </a:srgbClr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521462" cy="106936"/>
            </a:xfrm>
            <a:custGeom>
              <a:avLst/>
              <a:gdLst/>
              <a:ahLst/>
              <a:cxnLst/>
              <a:rect r="r" b="b" t="t" l="l"/>
              <a:pathLst>
                <a:path h="106936" w="521462">
                  <a:moveTo>
                    <a:pt x="16891" y="0"/>
                  </a:moveTo>
                  <a:lnTo>
                    <a:pt x="504571" y="0"/>
                  </a:lnTo>
                  <a:cubicBezTo>
                    <a:pt x="513969" y="0"/>
                    <a:pt x="521462" y="7620"/>
                    <a:pt x="521462" y="16891"/>
                  </a:cubicBezTo>
                  <a:lnTo>
                    <a:pt x="521462" y="90043"/>
                  </a:lnTo>
                  <a:cubicBezTo>
                    <a:pt x="521462" y="99441"/>
                    <a:pt x="513842" y="106934"/>
                    <a:pt x="50457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504571" y="73152"/>
                  </a:lnTo>
                  <a:lnTo>
                    <a:pt x="504571" y="90043"/>
                  </a:lnTo>
                  <a:lnTo>
                    <a:pt x="487680" y="90043"/>
                  </a:lnTo>
                  <a:lnTo>
                    <a:pt x="487680" y="16891"/>
                  </a:lnTo>
                  <a:lnTo>
                    <a:pt x="504571" y="16891"/>
                  </a:lnTo>
                  <a:lnTo>
                    <a:pt x="504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2048256" y="8851392"/>
            <a:ext cx="4864608" cy="548640"/>
            <a:chOff x="0" y="0"/>
            <a:chExt cx="6486144" cy="73152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6486144" cy="731520"/>
            </a:xfrm>
            <a:custGeom>
              <a:avLst/>
              <a:gdLst/>
              <a:ahLst/>
              <a:cxnLst/>
              <a:rect r="r" b="b" t="t" l="l"/>
              <a:pathLst>
                <a:path h="731520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767" r="0" b="-122767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47625"/>
              <a:ext cx="648614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97316"/>
                  </a:solidFill>
                  <a:latin typeface="Consolas"/>
                  <a:ea typeface="Consolas"/>
                  <a:cs typeface="Consolas"/>
                  <a:sym typeface="Consolas"/>
                </a:rPr>
                <a:t>  sql/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6858000" y="8851392"/>
            <a:ext cx="10789920" cy="548640"/>
            <a:chOff x="0" y="0"/>
            <a:chExt cx="14386560" cy="73152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4386561" cy="731520"/>
            </a:xfrm>
            <a:custGeom>
              <a:avLst/>
              <a:gdLst/>
              <a:ahLst/>
              <a:cxnLst/>
              <a:rect r="r" b="b" t="t" l="l"/>
              <a:pathLst>
                <a:path h="731520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3205" r="0" b="-333205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47625"/>
              <a:ext cx="143865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init_schema.sql — rerunnable MySQL 8 schema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578359" y="9634223"/>
            <a:ext cx="391163" cy="80267"/>
            <a:chOff x="0" y="0"/>
            <a:chExt cx="521551" cy="107023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16891" y="16891"/>
              <a:ext cx="487680" cy="73152"/>
            </a:xfrm>
            <a:custGeom>
              <a:avLst/>
              <a:gdLst/>
              <a:ahLst/>
              <a:cxnLst/>
              <a:rect r="r" b="b" t="t" l="l"/>
              <a:pathLst>
                <a:path h="73152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8BAFC7">
                <a:alpha val="24706"/>
              </a:srgbClr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521462" cy="106936"/>
            </a:xfrm>
            <a:custGeom>
              <a:avLst/>
              <a:gdLst/>
              <a:ahLst/>
              <a:cxnLst/>
              <a:rect r="r" b="b" t="t" l="l"/>
              <a:pathLst>
                <a:path h="106936" w="521462">
                  <a:moveTo>
                    <a:pt x="16891" y="0"/>
                  </a:moveTo>
                  <a:lnTo>
                    <a:pt x="504571" y="0"/>
                  </a:lnTo>
                  <a:cubicBezTo>
                    <a:pt x="513969" y="0"/>
                    <a:pt x="521462" y="7620"/>
                    <a:pt x="521462" y="16891"/>
                  </a:cubicBezTo>
                  <a:lnTo>
                    <a:pt x="521462" y="90043"/>
                  </a:lnTo>
                  <a:cubicBezTo>
                    <a:pt x="521462" y="99441"/>
                    <a:pt x="513842" y="106934"/>
                    <a:pt x="50457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504571" y="73152"/>
                  </a:lnTo>
                  <a:lnTo>
                    <a:pt x="504571" y="90043"/>
                  </a:lnTo>
                  <a:lnTo>
                    <a:pt x="487680" y="90043"/>
                  </a:lnTo>
                  <a:lnTo>
                    <a:pt x="487680" y="16891"/>
                  </a:lnTo>
                  <a:lnTo>
                    <a:pt x="504571" y="16891"/>
                  </a:lnTo>
                  <a:lnTo>
                    <a:pt x="504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2048256" y="9464040"/>
            <a:ext cx="4864608" cy="548640"/>
            <a:chOff x="0" y="0"/>
            <a:chExt cx="6486144" cy="73152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6486144" cy="731520"/>
            </a:xfrm>
            <a:custGeom>
              <a:avLst/>
              <a:gdLst/>
              <a:ahLst/>
              <a:cxnLst/>
              <a:rect r="r" b="b" t="t" l="l"/>
              <a:pathLst>
                <a:path h="731520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767" r="0" b="-122767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47625"/>
              <a:ext cx="648614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CD34D"/>
                  </a:solidFill>
                  <a:latin typeface="Consolas"/>
                  <a:ea typeface="Consolas"/>
                  <a:cs typeface="Consolas"/>
                  <a:sym typeface="Consolas"/>
                </a:rPr>
                <a:t>  report.ipynb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6858000" y="9464040"/>
            <a:ext cx="10789920" cy="548640"/>
            <a:chOff x="0" y="0"/>
            <a:chExt cx="14386560" cy="73152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4386561" cy="731520"/>
            </a:xfrm>
            <a:custGeom>
              <a:avLst/>
              <a:gdLst/>
              <a:ahLst/>
              <a:cxnLst/>
              <a:rect r="r" b="b" t="t" l="l"/>
              <a:pathLst>
                <a:path h="731520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3205" r="0" b="-333205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47625"/>
              <a:ext cx="143865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Module B notebook report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499367" y="9533639"/>
            <a:ext cx="17289275" cy="537467"/>
            <a:chOff x="0" y="0"/>
            <a:chExt cx="23052367" cy="716623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16891" y="16891"/>
              <a:ext cx="23018497" cy="682752"/>
            </a:xfrm>
            <a:custGeom>
              <a:avLst/>
              <a:gdLst/>
              <a:ahLst/>
              <a:cxnLst/>
              <a:rect r="r" b="b" t="t" l="l"/>
              <a:pathLst>
                <a:path h="682752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080F1E"/>
            </a:solidFill>
          </p:spPr>
        </p:sp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23052278" cy="716536"/>
            </a:xfrm>
            <a:custGeom>
              <a:avLst/>
              <a:gdLst/>
              <a:ahLst/>
              <a:cxnLst/>
              <a:rect r="r" b="b" t="t" l="l"/>
              <a:pathLst>
                <a:path h="716536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699643"/>
                  </a:lnTo>
                  <a:cubicBezTo>
                    <a:pt x="23052278" y="709041"/>
                    <a:pt x="23044658" y="716534"/>
                    <a:pt x="23035388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23035388" y="682752"/>
                  </a:lnTo>
                  <a:lnTo>
                    <a:pt x="23035388" y="699643"/>
                  </a:lnTo>
                  <a:lnTo>
                    <a:pt x="23018497" y="699643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0F1E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731520" y="9546336"/>
            <a:ext cx="16824960" cy="512064"/>
            <a:chOff x="0" y="0"/>
            <a:chExt cx="22433280" cy="682752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22433280" cy="682752"/>
            </a:xfrm>
            <a:custGeom>
              <a:avLst/>
              <a:gdLst/>
              <a:ahLst/>
              <a:cxnLst/>
              <a:rect r="r" b="b" t="t" l="l"/>
              <a:pathLst>
                <a:path h="68275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0222" r="0" b="-590222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47625"/>
              <a:ext cx="224332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i="true">
                  <a:solidFill>
                    <a:srgbClr val="F59E0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Package is submission-oriented: every folder contains both runnable code AND reproducible proof artifacts side-by-side.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8283"/>
            <a:chOff x="0" y="0"/>
            <a:chExt cx="24417871" cy="2777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7624"/>
            </a:xfrm>
            <a:custGeom>
              <a:avLst/>
              <a:gdLst/>
              <a:ahLst/>
              <a:cxnLst/>
              <a:rect r="r" b="b" t="t" l="l"/>
              <a:pathLst>
                <a:path h="27762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0731"/>
                  </a:lnTo>
                  <a:cubicBezTo>
                    <a:pt x="24417782" y="270129"/>
                    <a:pt x="24410163" y="277622"/>
                    <a:pt x="2440089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4400890" y="243840"/>
                  </a:lnTo>
                  <a:lnTo>
                    <a:pt x="24400890" y="260731"/>
                  </a:lnTo>
                  <a:lnTo>
                    <a:pt x="24384000" y="2607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2064" y="274320"/>
            <a:ext cx="17373600" cy="914400"/>
            <a:chOff x="0" y="0"/>
            <a:chExt cx="2316480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64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31648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Core Modules &amp; Algorithms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99367" y="1413767"/>
            <a:ext cx="8584187" cy="8584187"/>
            <a:chOff x="0" y="0"/>
            <a:chExt cx="11445583" cy="114455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1411712" cy="11411712"/>
            </a:xfrm>
            <a:custGeom>
              <a:avLst/>
              <a:gdLst/>
              <a:ahLst/>
              <a:cxnLst/>
              <a:rect r="r" b="b" t="t" l="l"/>
              <a:pathLst>
                <a:path h="11411712" w="11411712">
                  <a:moveTo>
                    <a:pt x="0" y="0"/>
                  </a:moveTo>
                  <a:lnTo>
                    <a:pt x="11411712" y="0"/>
                  </a:lnTo>
                  <a:lnTo>
                    <a:pt x="11411712" y="11411712"/>
                  </a:lnTo>
                  <a:lnTo>
                    <a:pt x="0" y="11411712"/>
                  </a:lnTo>
                  <a:close/>
                </a:path>
              </a:pathLst>
            </a:custGeom>
            <a:solidFill>
              <a:srgbClr val="080F1E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445494" cy="11445494"/>
            </a:xfrm>
            <a:custGeom>
              <a:avLst/>
              <a:gdLst/>
              <a:ahLst/>
              <a:cxnLst/>
              <a:rect r="r" b="b" t="t" l="l"/>
              <a:pathLst>
                <a:path h="11445494" w="11445494">
                  <a:moveTo>
                    <a:pt x="16891" y="0"/>
                  </a:moveTo>
                  <a:lnTo>
                    <a:pt x="11428603" y="0"/>
                  </a:lnTo>
                  <a:cubicBezTo>
                    <a:pt x="11438001" y="0"/>
                    <a:pt x="11445494" y="7620"/>
                    <a:pt x="11445494" y="16891"/>
                  </a:cubicBezTo>
                  <a:lnTo>
                    <a:pt x="11445494" y="11428603"/>
                  </a:lnTo>
                  <a:cubicBezTo>
                    <a:pt x="11445494" y="11438001"/>
                    <a:pt x="11437874" y="11445494"/>
                    <a:pt x="11428603" y="11445494"/>
                  </a:cubicBezTo>
                  <a:lnTo>
                    <a:pt x="16891" y="11445494"/>
                  </a:lnTo>
                  <a:cubicBezTo>
                    <a:pt x="7493" y="11445494"/>
                    <a:pt x="0" y="11437874"/>
                    <a:pt x="0" y="114286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28603"/>
                  </a:lnTo>
                  <a:lnTo>
                    <a:pt x="16891" y="11428603"/>
                  </a:lnTo>
                  <a:lnTo>
                    <a:pt x="16891" y="11411712"/>
                  </a:lnTo>
                  <a:lnTo>
                    <a:pt x="11428603" y="11411712"/>
                  </a:lnTo>
                  <a:lnTo>
                    <a:pt x="11428603" y="11428603"/>
                  </a:lnTo>
                  <a:lnTo>
                    <a:pt x="11411712" y="11428603"/>
                  </a:lnTo>
                  <a:lnTo>
                    <a:pt x="11411712" y="16891"/>
                  </a:lnTo>
                  <a:lnTo>
                    <a:pt x="11428603" y="16891"/>
                  </a:lnTo>
                  <a:lnTo>
                    <a:pt x="114286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0F1E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40080" y="1499616"/>
            <a:ext cx="8229600" cy="512064"/>
            <a:chOff x="0" y="0"/>
            <a:chExt cx="10972800" cy="6827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72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3152" r="0" b="-26315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09728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399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A — B+ Tree Engine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94944" y="2103120"/>
            <a:ext cx="8138160" cy="475488"/>
            <a:chOff x="0" y="0"/>
            <a:chExt cx="10850880" cy="6339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850880" cy="633984"/>
            </a:xfrm>
            <a:custGeom>
              <a:avLst/>
              <a:gdLst/>
              <a:ahLst/>
              <a:cxnLst/>
              <a:rect r="r" b="b" t="t" l="l"/>
              <a:pathLst>
                <a:path h="633984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3493" r="0" b="-28349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085088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59E0B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BPlusTree  (bplustree.py)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94944" y="2578608"/>
            <a:ext cx="8193024" cy="475488"/>
            <a:chOff x="0" y="0"/>
            <a:chExt cx="10924032" cy="63398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24032" cy="633984"/>
            </a:xfrm>
            <a:custGeom>
              <a:avLst/>
              <a:gdLst/>
              <a:ahLst/>
              <a:cxnLst/>
              <a:rect r="r" b="b" t="t" l="l"/>
              <a:pathLst>
                <a:path h="633984" w="10924032">
                  <a:moveTo>
                    <a:pt x="0" y="0"/>
                  </a:moveTo>
                  <a:lnTo>
                    <a:pt x="10924032" y="0"/>
                  </a:lnTo>
                  <a:lnTo>
                    <a:pt x="1092403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742" r="0" b="-28574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92403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InternalNode + LeafNode classes — leaf linked list enables O(log n+k) range scan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94944" y="3090672"/>
            <a:ext cx="8193024" cy="475488"/>
            <a:chOff x="0" y="0"/>
            <a:chExt cx="10924032" cy="6339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24032" cy="633984"/>
            </a:xfrm>
            <a:custGeom>
              <a:avLst/>
              <a:gdLst/>
              <a:ahLst/>
              <a:cxnLst/>
              <a:rect r="r" b="b" t="t" l="l"/>
              <a:pathLst>
                <a:path h="633984" w="10924032">
                  <a:moveTo>
                    <a:pt x="0" y="0"/>
                  </a:moveTo>
                  <a:lnTo>
                    <a:pt x="10924032" y="0"/>
                  </a:lnTo>
                  <a:lnTo>
                    <a:pt x="1092403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742" r="0" b="-28574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92403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split() on overflow · borrow()/merge() on underflow during delete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94944" y="3602736"/>
            <a:ext cx="8193024" cy="475488"/>
            <a:chOff x="0" y="0"/>
            <a:chExt cx="10924032" cy="63398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24032" cy="633984"/>
            </a:xfrm>
            <a:custGeom>
              <a:avLst/>
              <a:gdLst/>
              <a:ahLst/>
              <a:cxnLst/>
              <a:rect r="r" b="b" t="t" l="l"/>
              <a:pathLst>
                <a:path h="633984" w="10924032">
                  <a:moveTo>
                    <a:pt x="0" y="0"/>
                  </a:moveTo>
                  <a:lnTo>
                    <a:pt x="10924032" y="0"/>
                  </a:lnTo>
                  <a:lnTo>
                    <a:pt x="1092403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742" r="0" b="-28574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092403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Configurable order — tested with realistic dataset sizes up to 21,500 rows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94944" y="3986784"/>
            <a:ext cx="8138160" cy="475488"/>
            <a:chOff x="0" y="0"/>
            <a:chExt cx="10850880" cy="63398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850880" cy="633984"/>
            </a:xfrm>
            <a:custGeom>
              <a:avLst/>
              <a:gdLst/>
              <a:ahLst/>
              <a:cxnLst/>
              <a:rect r="r" b="b" t="t" l="l"/>
              <a:pathLst>
                <a:path h="633984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3493" r="0" b="-28349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085088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6B6C8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PostingListIndex  (blinddrop_index_manager.py)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94944" y="4462272"/>
            <a:ext cx="8193024" cy="475488"/>
            <a:chOff x="0" y="0"/>
            <a:chExt cx="10924032" cy="63398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24032" cy="633984"/>
            </a:xfrm>
            <a:custGeom>
              <a:avLst/>
              <a:gdLst/>
              <a:ahLst/>
              <a:cxnLst/>
              <a:rect r="r" b="b" t="t" l="l"/>
              <a:pathLst>
                <a:path h="633984" w="10924032">
                  <a:moveTo>
                    <a:pt x="0" y="0"/>
                  </a:moveTo>
                  <a:lnTo>
                    <a:pt x="10924032" y="0"/>
                  </a:lnTo>
                  <a:lnTo>
                    <a:pt x="1092403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742" r="0" b="-28574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092403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Wraps B+ Tree for one-to-many keys (e.g., vault_id → file_id[] list)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94944" y="4974336"/>
            <a:ext cx="8193024" cy="475488"/>
            <a:chOff x="0" y="0"/>
            <a:chExt cx="10924032" cy="63398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24032" cy="633984"/>
            </a:xfrm>
            <a:custGeom>
              <a:avLst/>
              <a:gdLst/>
              <a:ahLst/>
              <a:cxnLst/>
              <a:rect r="r" b="b" t="t" l="l"/>
              <a:pathLst>
                <a:path h="633984" w="10924032">
                  <a:moveTo>
                    <a:pt x="0" y="0"/>
                  </a:moveTo>
                  <a:lnTo>
                    <a:pt x="10924032" y="0"/>
                  </a:lnTo>
                  <a:lnTo>
                    <a:pt x="1092403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742" r="0" b="-28574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092403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Handles duplicate logical keys across BlindDrop tables naturally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94944" y="5522976"/>
            <a:ext cx="8138160" cy="475488"/>
            <a:chOff x="0" y="0"/>
            <a:chExt cx="10850880" cy="63398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850880" cy="633984"/>
            </a:xfrm>
            <a:custGeom>
              <a:avLst/>
              <a:gdLst/>
              <a:ahLst/>
              <a:cxnLst/>
              <a:rect r="r" b="b" t="t" l="l"/>
              <a:pathLst>
                <a:path h="633984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3493" r="0" b="-28349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1085088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97316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BlindDropParityManager  (db_index_parity_manager.py)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94944" y="5998464"/>
            <a:ext cx="8193024" cy="475488"/>
            <a:chOff x="0" y="0"/>
            <a:chExt cx="10924032" cy="63398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924032" cy="633984"/>
            </a:xfrm>
            <a:custGeom>
              <a:avLst/>
              <a:gdLst/>
              <a:ahLst/>
              <a:cxnLst/>
              <a:rect r="r" b="b" t="t" l="l"/>
              <a:pathLst>
                <a:path h="633984" w="10924032">
                  <a:moveTo>
                    <a:pt x="0" y="0"/>
                  </a:moveTo>
                  <a:lnTo>
                    <a:pt x="10924032" y="0"/>
                  </a:lnTo>
                  <a:lnTo>
                    <a:pt x="1092403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742" r="0" b="-28574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092403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DB-authoritative commit simulation with forced-failure rollback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94944" y="6510528"/>
            <a:ext cx="8193024" cy="475488"/>
            <a:chOff x="0" y="0"/>
            <a:chExt cx="10924032" cy="63398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24032" cy="633984"/>
            </a:xfrm>
            <a:custGeom>
              <a:avLst/>
              <a:gdLst/>
              <a:ahLst/>
              <a:cxnLst/>
              <a:rect r="r" b="b" t="t" l="l"/>
              <a:pathLst>
                <a:path h="633984" w="10924032">
                  <a:moveTo>
                    <a:pt x="0" y="0"/>
                  </a:moveTo>
                  <a:lnTo>
                    <a:pt x="10924032" y="0"/>
                  </a:lnTo>
                  <a:lnTo>
                    <a:pt x="1092403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742" r="0" b="-28574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092403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Divergence detection · lazy read-path repair · full rebuild from DB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94944" y="7022592"/>
            <a:ext cx="8193024" cy="475488"/>
            <a:chOff x="0" y="0"/>
            <a:chExt cx="10924032" cy="63398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24032" cy="633984"/>
            </a:xfrm>
            <a:custGeom>
              <a:avLst/>
              <a:gdLst/>
              <a:ahLst/>
              <a:cxnLst/>
              <a:rect r="r" b="b" t="t" l="l"/>
              <a:pathLst>
                <a:path h="633984" w="10924032">
                  <a:moveTo>
                    <a:pt x="0" y="0"/>
                  </a:moveTo>
                  <a:lnTo>
                    <a:pt x="10924032" y="0"/>
                  </a:lnTo>
                  <a:lnTo>
                    <a:pt x="1092403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742" r="0" b="-28574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092403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Parity proof: all 8 scenarios PASS against real exported snapshot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94944" y="7461504"/>
            <a:ext cx="8138160" cy="475488"/>
            <a:chOff x="0" y="0"/>
            <a:chExt cx="10850880" cy="63398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850880" cy="633984"/>
            </a:xfrm>
            <a:custGeom>
              <a:avLst/>
              <a:gdLst/>
              <a:ahLst/>
              <a:cxnLst/>
              <a:rect r="r" b="b" t="t" l="l"/>
              <a:pathLst>
                <a:path h="633984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3493" r="0" b="-28349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1085088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8B5CF6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Visualizer  (render_bptree_v2.py)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94944" y="7936992"/>
            <a:ext cx="8193024" cy="475488"/>
            <a:chOff x="0" y="0"/>
            <a:chExt cx="10924032" cy="63398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924032" cy="633984"/>
            </a:xfrm>
            <a:custGeom>
              <a:avLst/>
              <a:gdLst/>
              <a:ahLst/>
              <a:cxnLst/>
              <a:rect r="r" b="b" t="t" l="l"/>
              <a:pathLst>
                <a:path h="633984" w="10924032">
                  <a:moveTo>
                    <a:pt x="0" y="0"/>
                  </a:moveTo>
                  <a:lnTo>
                    <a:pt x="10924032" y="0"/>
                  </a:lnTo>
                  <a:lnTo>
                    <a:pt x="1092403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742" r="0" b="-28574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092403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Graphviz DOT generation per B+ Tree with render_manifest.json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94944" y="8449056"/>
            <a:ext cx="8193024" cy="475488"/>
            <a:chOff x="0" y="0"/>
            <a:chExt cx="10924032" cy="63398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924032" cy="633984"/>
            </a:xfrm>
            <a:custGeom>
              <a:avLst/>
              <a:gdLst/>
              <a:ahLst/>
              <a:cxnLst/>
              <a:rect r="r" b="b" t="t" l="l"/>
              <a:pathLst>
                <a:path h="633984" w="10924032">
                  <a:moveTo>
                    <a:pt x="0" y="0"/>
                  </a:moveTo>
                  <a:lnTo>
                    <a:pt x="10924032" y="0"/>
                  </a:lnTo>
                  <a:lnTo>
                    <a:pt x="1092403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742" r="0" b="-285742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092403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19 trees rendered covering all BlindDrop table index paths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405623" y="1413767"/>
            <a:ext cx="8346443" cy="8584187"/>
            <a:chOff x="0" y="0"/>
            <a:chExt cx="11128591" cy="1144558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11094720" cy="11411712"/>
            </a:xfrm>
            <a:custGeom>
              <a:avLst/>
              <a:gdLst/>
              <a:ahLst/>
              <a:cxnLst/>
              <a:rect r="r" b="b" t="t" l="l"/>
              <a:pathLst>
                <a:path h="11411712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1411712"/>
                  </a:lnTo>
                  <a:lnTo>
                    <a:pt x="0" y="11411712"/>
                  </a:lnTo>
                  <a:close/>
                </a:path>
              </a:pathLst>
            </a:custGeom>
            <a:solidFill>
              <a:srgbClr val="080F1E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1128501" cy="11445494"/>
            </a:xfrm>
            <a:custGeom>
              <a:avLst/>
              <a:gdLst/>
              <a:ahLst/>
              <a:cxnLst/>
              <a:rect r="r" b="b" t="t" l="l"/>
              <a:pathLst>
                <a:path h="11445494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1428603"/>
                  </a:lnTo>
                  <a:cubicBezTo>
                    <a:pt x="11128501" y="11438001"/>
                    <a:pt x="11120882" y="11445494"/>
                    <a:pt x="11111611" y="11445494"/>
                  </a:cubicBezTo>
                  <a:lnTo>
                    <a:pt x="16891" y="11445494"/>
                  </a:lnTo>
                  <a:cubicBezTo>
                    <a:pt x="7493" y="11445494"/>
                    <a:pt x="0" y="11437874"/>
                    <a:pt x="0" y="114286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28603"/>
                  </a:lnTo>
                  <a:lnTo>
                    <a:pt x="16891" y="11428603"/>
                  </a:lnTo>
                  <a:lnTo>
                    <a:pt x="16891" y="11411712"/>
                  </a:lnTo>
                  <a:lnTo>
                    <a:pt x="11111611" y="11411712"/>
                  </a:lnTo>
                  <a:lnTo>
                    <a:pt x="11111611" y="11428603"/>
                  </a:lnTo>
                  <a:lnTo>
                    <a:pt x="11094720" y="11428603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0F1E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546336" y="1499616"/>
            <a:ext cx="8010144" cy="512064"/>
            <a:chOff x="0" y="0"/>
            <a:chExt cx="10680192" cy="68275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680192" cy="682752"/>
            </a:xfrm>
            <a:custGeom>
              <a:avLst/>
              <a:gdLst/>
              <a:ahLst/>
              <a:cxnLst/>
              <a:rect r="r" b="b" t="t" l="l"/>
              <a:pathLst>
                <a:path h="682752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801" r="0" b="-254801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10680192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399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B — Backend Services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546336" y="2103120"/>
            <a:ext cx="8010144" cy="475488"/>
            <a:chOff x="0" y="0"/>
            <a:chExt cx="10680192" cy="63398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680192" cy="633984"/>
            </a:xfrm>
            <a:custGeom>
              <a:avLst/>
              <a:gdLst/>
              <a:ahLst/>
              <a:cxnLst/>
              <a:rect r="r" b="b" t="t" l="l"/>
              <a:pathLst>
                <a:path h="633984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247" r="0" b="-278247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10680192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97316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portfolioIntegrity.js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546336" y="2578608"/>
            <a:ext cx="8010144" cy="475488"/>
            <a:chOff x="0" y="0"/>
            <a:chExt cx="10680192" cy="63398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680192" cy="633984"/>
            </a:xfrm>
            <a:custGeom>
              <a:avLst/>
              <a:gdLst/>
              <a:ahLst/>
              <a:cxnLst/>
              <a:rect r="r" b="b" t="t" l="l"/>
              <a:pathLst>
                <a:path h="633984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247" r="0" b="-278247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1068019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SHA-256 over (vault_id+owner_vault_id+title+body) = integrity_hash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546336" y="3090672"/>
            <a:ext cx="8010144" cy="475488"/>
            <a:chOff x="0" y="0"/>
            <a:chExt cx="10680192" cy="63398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680192" cy="633984"/>
            </a:xfrm>
            <a:custGeom>
              <a:avLst/>
              <a:gdLst/>
              <a:ahLst/>
              <a:cxnLst/>
              <a:rect r="r" b="b" t="t" l="l"/>
              <a:pathLst>
                <a:path h="633984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247" r="0" b="-278247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1068019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Passive check on every GET list — tampered rows withheld &amp; counted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546336" y="3602736"/>
            <a:ext cx="8010144" cy="475488"/>
            <a:chOff x="0" y="0"/>
            <a:chExt cx="10680192" cy="63398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680192" cy="633984"/>
            </a:xfrm>
            <a:custGeom>
              <a:avLst/>
              <a:gdLst/>
              <a:ahLst/>
              <a:cxnLst/>
              <a:rect r="r" b="b" t="t" l="l"/>
              <a:pathLst>
                <a:path h="633984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247" r="0" b="-278247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1068019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Admin endpoint recomputes all hashes and reports mismatches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546336" y="4023360"/>
            <a:ext cx="8010144" cy="475488"/>
            <a:chOff x="0" y="0"/>
            <a:chExt cx="10680192" cy="63398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680192" cy="633984"/>
            </a:xfrm>
            <a:custGeom>
              <a:avLst/>
              <a:gdLst/>
              <a:ahLst/>
              <a:cxnLst/>
              <a:rect r="r" b="b" t="t" l="l"/>
              <a:pathLst>
                <a:path h="633984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247" r="0" b="-278247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10680192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8B5CF6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fileAuditLogger.js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546336" y="4498848"/>
            <a:ext cx="8010144" cy="475488"/>
            <a:chOff x="0" y="0"/>
            <a:chExt cx="10680192" cy="63398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680192" cy="633984"/>
            </a:xfrm>
            <a:custGeom>
              <a:avLst/>
              <a:gdLst/>
              <a:ahLst/>
              <a:cxnLst/>
              <a:rect r="r" b="b" t="t" l="l"/>
              <a:pathLst>
                <a:path h="633984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247" r="0" b="-278247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1068019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Append-only JSON-line events with previousHash → entryHash chain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546336" y="5010912"/>
            <a:ext cx="8010144" cy="475488"/>
            <a:chOff x="0" y="0"/>
            <a:chExt cx="10680192" cy="63398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680192" cy="633984"/>
            </a:xfrm>
            <a:custGeom>
              <a:avLst/>
              <a:gdLst/>
              <a:ahLst/>
              <a:cxnLst/>
              <a:rect r="r" b="b" t="t" l="l"/>
              <a:pathLst>
                <a:path h="633984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247" r="0" b="-278247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1068019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Captures: create/update/delete/read.denied/unauthorized-check events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546336" y="5522976"/>
            <a:ext cx="8010144" cy="475488"/>
            <a:chOff x="0" y="0"/>
            <a:chExt cx="10680192" cy="633984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680192" cy="633984"/>
            </a:xfrm>
            <a:custGeom>
              <a:avLst/>
              <a:gdLst/>
              <a:ahLst/>
              <a:cxnLst/>
              <a:rect r="r" b="b" t="t" l="l"/>
              <a:pathLst>
                <a:path h="633984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247" r="0" b="-278247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10680192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F4444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security.js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546336" y="5998464"/>
            <a:ext cx="8010144" cy="475488"/>
            <a:chOff x="0" y="0"/>
            <a:chExt cx="10680192" cy="63398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0680192" cy="633984"/>
            </a:xfrm>
            <a:custGeom>
              <a:avLst/>
              <a:gdLst/>
              <a:ahLst/>
              <a:cxnLst/>
              <a:rect r="r" b="b" t="t" l="l"/>
              <a:pathLst>
                <a:path h="633984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247" r="0" b="-278247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1068019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Adaptive rate limiting: weighted failure tracking per session/IP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546336" y="6510528"/>
            <a:ext cx="8010144" cy="475488"/>
            <a:chOff x="0" y="0"/>
            <a:chExt cx="10680192" cy="63398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0680192" cy="633984"/>
            </a:xfrm>
            <a:custGeom>
              <a:avLst/>
              <a:gdLst/>
              <a:ahLst/>
              <a:cxnLst/>
              <a:rect r="r" b="b" t="t" l="l"/>
              <a:pathLst>
                <a:path h="633984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247" r="0" b="-278247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1068019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CAPTCHA lifecycle: challenge issued → solved → window reuse → expired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9546336" y="7022592"/>
            <a:ext cx="8010144" cy="475488"/>
            <a:chOff x="0" y="0"/>
            <a:chExt cx="10680192" cy="633984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0680192" cy="633984"/>
            </a:xfrm>
            <a:custGeom>
              <a:avLst/>
              <a:gdLst/>
              <a:ahLst/>
              <a:cxnLst/>
              <a:rect r="r" b="b" t="t" l="l"/>
              <a:pathLst>
                <a:path h="633984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247" r="0" b="-278247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1068019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Temporary IP block after threshold — state in memory (per-process)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9546336" y="7461504"/>
            <a:ext cx="8010144" cy="475488"/>
            <a:chOff x="0" y="0"/>
            <a:chExt cx="10680192" cy="633984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0680192" cy="633984"/>
            </a:xfrm>
            <a:custGeom>
              <a:avLst/>
              <a:gdLst/>
              <a:ahLst/>
              <a:cxnLst/>
              <a:rect r="r" b="b" t="t" l="l"/>
              <a:pathLst>
                <a:path h="633984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247" r="0" b="-278247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47625"/>
              <a:ext cx="10680192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6B6C8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authSession.js  +  middleware/authSession.js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546336" y="7936992"/>
            <a:ext cx="8010144" cy="475488"/>
            <a:chOff x="0" y="0"/>
            <a:chExt cx="10680192" cy="633984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0680192" cy="633984"/>
            </a:xfrm>
            <a:custGeom>
              <a:avLst/>
              <a:gdLst/>
              <a:ahLst/>
              <a:cxnLst/>
              <a:rect r="r" b="b" t="t" l="l"/>
              <a:pathLst>
                <a:path h="633984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247" r="0" b="-278247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1068019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Session token extracted from cookie / Bearer / query param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9546336" y="8449056"/>
            <a:ext cx="8010144" cy="475488"/>
            <a:chOff x="0" y="0"/>
            <a:chExt cx="10680192" cy="633984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0680192" cy="633984"/>
            </a:xfrm>
            <a:custGeom>
              <a:avLst/>
              <a:gdLst/>
              <a:ahLst/>
              <a:cxnLst/>
              <a:rect r="r" b="b" t="t" l="l"/>
              <a:pathLst>
                <a:path h="633984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247" r="0" b="-278247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1068019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Validates against MySQL; rejects with 401 on expired/revoked state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9546336" y="8961120"/>
            <a:ext cx="8010144" cy="475488"/>
            <a:chOff x="0" y="0"/>
            <a:chExt cx="10680192" cy="633984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0680192" cy="633984"/>
            </a:xfrm>
            <a:custGeom>
              <a:avLst/>
              <a:gdLst/>
              <a:ahLst/>
              <a:cxnLst/>
              <a:rect r="r" b="b" t="t" l="l"/>
              <a:pathLst>
                <a:path h="633984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247" r="0" b="-278247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1068019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Attaches req.authSession with role — used by requireAdmin guard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8283"/>
            <a:chOff x="0" y="0"/>
            <a:chExt cx="24417871" cy="2777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2DD4B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7624"/>
            </a:xfrm>
            <a:custGeom>
              <a:avLst/>
              <a:gdLst/>
              <a:ahLst/>
              <a:cxnLst/>
              <a:rect r="r" b="b" t="t" l="l"/>
              <a:pathLst>
                <a:path h="27762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0731"/>
                  </a:lnTo>
                  <a:cubicBezTo>
                    <a:pt x="24417782" y="270129"/>
                    <a:pt x="24410163" y="277622"/>
                    <a:pt x="2440089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4400890" y="243840"/>
                  </a:lnTo>
                  <a:lnTo>
                    <a:pt x="24400890" y="260731"/>
                  </a:lnTo>
                  <a:lnTo>
                    <a:pt x="24384000" y="2607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2064" y="274320"/>
            <a:ext cx="17373600" cy="914400"/>
            <a:chOff x="0" y="0"/>
            <a:chExt cx="2316480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64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31648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End-to-End Execution Flow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12064" y="1426464"/>
            <a:ext cx="8631936" cy="512064"/>
            <a:chOff x="0" y="0"/>
            <a:chExt cx="11509248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509248" cy="682752"/>
            </a:xfrm>
            <a:custGeom>
              <a:avLst/>
              <a:gdLst/>
              <a:ahLst/>
              <a:cxnLst/>
              <a:rect r="r" b="b" t="t" l="l"/>
              <a:pathLst>
                <a:path h="682752" w="11509248">
                  <a:moveTo>
                    <a:pt x="0" y="0"/>
                  </a:moveTo>
                  <a:lnTo>
                    <a:pt x="11509248" y="0"/>
                  </a:lnTo>
                  <a:lnTo>
                    <a:pt x="115092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462" r="0" b="-27846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150924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600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PRODUCT + MODULE B FLOW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99367" y="2035559"/>
            <a:ext cx="8657339" cy="1232411"/>
            <a:chOff x="0" y="0"/>
            <a:chExt cx="11543119" cy="16432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1509248" cy="1609344"/>
            </a:xfrm>
            <a:custGeom>
              <a:avLst/>
              <a:gdLst/>
              <a:ahLst/>
              <a:cxnLst/>
              <a:rect r="r" b="b" t="t" l="l"/>
              <a:pathLst>
                <a:path h="1609344" w="11509248">
                  <a:moveTo>
                    <a:pt x="0" y="0"/>
                  </a:moveTo>
                  <a:lnTo>
                    <a:pt x="11509248" y="0"/>
                  </a:lnTo>
                  <a:lnTo>
                    <a:pt x="11509248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543030" cy="1643126"/>
            </a:xfrm>
            <a:custGeom>
              <a:avLst/>
              <a:gdLst/>
              <a:ahLst/>
              <a:cxnLst/>
              <a:rect r="r" b="b" t="t" l="l"/>
              <a:pathLst>
                <a:path h="1643126" w="11543030">
                  <a:moveTo>
                    <a:pt x="16891" y="0"/>
                  </a:moveTo>
                  <a:lnTo>
                    <a:pt x="11526139" y="0"/>
                  </a:lnTo>
                  <a:cubicBezTo>
                    <a:pt x="11535537" y="0"/>
                    <a:pt x="11543030" y="7620"/>
                    <a:pt x="11543030" y="16891"/>
                  </a:cubicBezTo>
                  <a:lnTo>
                    <a:pt x="11543030" y="1626235"/>
                  </a:lnTo>
                  <a:cubicBezTo>
                    <a:pt x="11543030" y="1635633"/>
                    <a:pt x="11535410" y="1643126"/>
                    <a:pt x="11526139" y="1643126"/>
                  </a:cubicBezTo>
                  <a:lnTo>
                    <a:pt x="16891" y="1643126"/>
                  </a:lnTo>
                  <a:cubicBezTo>
                    <a:pt x="7493" y="1643126"/>
                    <a:pt x="0" y="1635506"/>
                    <a:pt x="0" y="1626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26235"/>
                  </a:lnTo>
                  <a:lnTo>
                    <a:pt x="16891" y="1626235"/>
                  </a:lnTo>
                  <a:lnTo>
                    <a:pt x="16891" y="1609344"/>
                  </a:lnTo>
                  <a:lnTo>
                    <a:pt x="11526139" y="1609344"/>
                  </a:lnTo>
                  <a:lnTo>
                    <a:pt x="11526139" y="1626235"/>
                  </a:lnTo>
                  <a:lnTo>
                    <a:pt x="11509248" y="1626235"/>
                  </a:lnTo>
                  <a:lnTo>
                    <a:pt x="11509248" y="16891"/>
                  </a:lnTo>
                  <a:lnTo>
                    <a:pt x="11526139" y="16891"/>
                  </a:lnTo>
                  <a:lnTo>
                    <a:pt x="11526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90807" y="2218439"/>
            <a:ext cx="830075" cy="830075"/>
            <a:chOff x="0" y="0"/>
            <a:chExt cx="1106767" cy="11067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06805" cy="1106678"/>
            </a:xfrm>
            <a:custGeom>
              <a:avLst/>
              <a:gdLst/>
              <a:ahLst/>
              <a:cxnLst/>
              <a:rect r="r" b="b" t="t" l="l"/>
              <a:pathLst>
                <a:path h="1106678" w="1106805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lnTo>
                    <a:pt x="553339" y="16891"/>
                  </a:lnTo>
                  <a:lnTo>
                    <a:pt x="553339" y="0"/>
                  </a:lnTo>
                  <a:cubicBezTo>
                    <a:pt x="859028" y="0"/>
                    <a:pt x="1106805" y="247777"/>
                    <a:pt x="1106805" y="553339"/>
                  </a:cubicBezTo>
                  <a:lnTo>
                    <a:pt x="1089787" y="553339"/>
                  </a:lnTo>
                  <a:lnTo>
                    <a:pt x="1106678" y="553339"/>
                  </a:lnTo>
                  <a:cubicBezTo>
                    <a:pt x="1106678" y="858901"/>
                    <a:pt x="858901" y="1106678"/>
                    <a:pt x="553339" y="1106678"/>
                  </a:cubicBezTo>
                  <a:lnTo>
                    <a:pt x="553339" y="1089787"/>
                  </a:lnTo>
                  <a:lnTo>
                    <a:pt x="553339" y="1106678"/>
                  </a:lnTo>
                  <a:cubicBezTo>
                    <a:pt x="247777" y="1106805"/>
                    <a:pt x="0" y="859028"/>
                    <a:pt x="0" y="553339"/>
                  </a:cubicBezTo>
                  <a:lnTo>
                    <a:pt x="16891" y="553339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0" y="553339"/>
                  </a:lnTo>
                  <a:moveTo>
                    <a:pt x="33909" y="553339"/>
                  </a:moveTo>
                  <a:cubicBezTo>
                    <a:pt x="33909" y="562737"/>
                    <a:pt x="26289" y="570230"/>
                    <a:pt x="17018" y="570230"/>
                  </a:cubicBezTo>
                  <a:cubicBezTo>
                    <a:pt x="7747" y="570230"/>
                    <a:pt x="0" y="562737"/>
                    <a:pt x="0" y="553339"/>
                  </a:cubicBezTo>
                  <a:cubicBezTo>
                    <a:pt x="0" y="543941"/>
                    <a:pt x="7620" y="536448"/>
                    <a:pt x="16891" y="536448"/>
                  </a:cubicBezTo>
                  <a:cubicBezTo>
                    <a:pt x="26162" y="536448"/>
                    <a:pt x="33782" y="544068"/>
                    <a:pt x="33782" y="553339"/>
                  </a:cubicBezTo>
                  <a:cubicBezTo>
                    <a:pt x="33782" y="840232"/>
                    <a:pt x="266319" y="1072896"/>
                    <a:pt x="553339" y="1072896"/>
                  </a:cubicBezTo>
                  <a:cubicBezTo>
                    <a:pt x="840232" y="1072896"/>
                    <a:pt x="1072896" y="840359"/>
                    <a:pt x="1072896" y="553339"/>
                  </a:cubicBezTo>
                  <a:cubicBezTo>
                    <a:pt x="1072896" y="266446"/>
                    <a:pt x="840359" y="33782"/>
                    <a:pt x="553339" y="33782"/>
                  </a:cubicBezTo>
                  <a:lnTo>
                    <a:pt x="553339" y="16891"/>
                  </a:lnTo>
                  <a:lnTo>
                    <a:pt x="553339" y="33909"/>
                  </a:lnTo>
                  <a:cubicBezTo>
                    <a:pt x="266446" y="33909"/>
                    <a:pt x="33909" y="266446"/>
                    <a:pt x="33909" y="553339"/>
                  </a:cubicBez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03504" y="2231136"/>
            <a:ext cx="804672" cy="804672"/>
            <a:chOff x="0" y="0"/>
            <a:chExt cx="1072896" cy="10728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072896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09344" y="2121408"/>
            <a:ext cx="7278624" cy="512064"/>
            <a:chOff x="0" y="0"/>
            <a:chExt cx="9704832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704832" cy="682752"/>
            </a:xfrm>
            <a:custGeom>
              <a:avLst/>
              <a:gdLst/>
              <a:ahLst/>
              <a:cxnLst/>
              <a:rect r="r" b="b" t="t" l="l"/>
              <a:pathLst>
                <a:path h="682752" w="9704832">
                  <a:moveTo>
                    <a:pt x="0" y="0"/>
                  </a:moveTo>
                  <a:lnTo>
                    <a:pt x="9704832" y="0"/>
                  </a:lnTo>
                  <a:lnTo>
                    <a:pt x="97048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965" r="0" b="-22696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9704832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Vault Creation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09344" y="2633472"/>
            <a:ext cx="7278624" cy="512064"/>
            <a:chOff x="0" y="0"/>
            <a:chExt cx="9704832" cy="68275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704832" cy="682752"/>
            </a:xfrm>
            <a:custGeom>
              <a:avLst/>
              <a:gdLst/>
              <a:ahLst/>
              <a:cxnLst/>
              <a:rect r="r" b="b" t="t" l="l"/>
              <a:pathLst>
                <a:path h="682752" w="9704832">
                  <a:moveTo>
                    <a:pt x="0" y="0"/>
                  </a:moveTo>
                  <a:lnTo>
                    <a:pt x="9704832" y="0"/>
                  </a:lnTo>
                  <a:lnTo>
                    <a:pt x="97048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965" r="0" b="-22696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70483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POST /api/vaults → generates outerToken (public) + MAIN innerToken (secret)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38279" y="3260855"/>
            <a:ext cx="98555" cy="153419"/>
            <a:chOff x="0" y="0"/>
            <a:chExt cx="131407" cy="20455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97536" cy="170688"/>
            </a:xfrm>
            <a:custGeom>
              <a:avLst/>
              <a:gdLst/>
              <a:ahLst/>
              <a:cxnLst/>
              <a:rect r="r" b="b" t="t" l="l"/>
              <a:pathLst>
                <a:path h="170688" w="97536">
                  <a:moveTo>
                    <a:pt x="0" y="0"/>
                  </a:moveTo>
                  <a:lnTo>
                    <a:pt x="97536" y="0"/>
                  </a:lnTo>
                  <a:lnTo>
                    <a:pt x="97536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8BAFC7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1318" cy="204472"/>
            </a:xfrm>
            <a:custGeom>
              <a:avLst/>
              <a:gdLst/>
              <a:ahLst/>
              <a:cxnLst/>
              <a:rect r="r" b="b" t="t" l="l"/>
              <a:pathLst>
                <a:path h="204472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87579"/>
                  </a:lnTo>
                  <a:cubicBezTo>
                    <a:pt x="131318" y="196977"/>
                    <a:pt x="123698" y="204470"/>
                    <a:pt x="114427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14427" y="170688"/>
                  </a:lnTo>
                  <a:lnTo>
                    <a:pt x="114427" y="187579"/>
                  </a:lnTo>
                  <a:lnTo>
                    <a:pt x="97536" y="187579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499367" y="3388871"/>
            <a:ext cx="8657339" cy="1232411"/>
            <a:chOff x="0" y="0"/>
            <a:chExt cx="11543119" cy="164321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11509248" cy="1609344"/>
            </a:xfrm>
            <a:custGeom>
              <a:avLst/>
              <a:gdLst/>
              <a:ahLst/>
              <a:cxnLst/>
              <a:rect r="r" b="b" t="t" l="l"/>
              <a:pathLst>
                <a:path h="1609344" w="11509248">
                  <a:moveTo>
                    <a:pt x="0" y="0"/>
                  </a:moveTo>
                  <a:lnTo>
                    <a:pt x="11509248" y="0"/>
                  </a:lnTo>
                  <a:lnTo>
                    <a:pt x="11509248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543030" cy="1643126"/>
            </a:xfrm>
            <a:custGeom>
              <a:avLst/>
              <a:gdLst/>
              <a:ahLst/>
              <a:cxnLst/>
              <a:rect r="r" b="b" t="t" l="l"/>
              <a:pathLst>
                <a:path h="1643126" w="11543030">
                  <a:moveTo>
                    <a:pt x="16891" y="0"/>
                  </a:moveTo>
                  <a:lnTo>
                    <a:pt x="11526139" y="0"/>
                  </a:lnTo>
                  <a:cubicBezTo>
                    <a:pt x="11535537" y="0"/>
                    <a:pt x="11543030" y="7620"/>
                    <a:pt x="11543030" y="16891"/>
                  </a:cubicBezTo>
                  <a:lnTo>
                    <a:pt x="11543030" y="1626235"/>
                  </a:lnTo>
                  <a:cubicBezTo>
                    <a:pt x="11543030" y="1635633"/>
                    <a:pt x="11535410" y="1643126"/>
                    <a:pt x="11526139" y="1643126"/>
                  </a:cubicBezTo>
                  <a:lnTo>
                    <a:pt x="16891" y="1643126"/>
                  </a:lnTo>
                  <a:cubicBezTo>
                    <a:pt x="7493" y="1643126"/>
                    <a:pt x="0" y="1635506"/>
                    <a:pt x="0" y="1626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26235"/>
                  </a:lnTo>
                  <a:lnTo>
                    <a:pt x="16891" y="1626235"/>
                  </a:lnTo>
                  <a:lnTo>
                    <a:pt x="16891" y="1609344"/>
                  </a:lnTo>
                  <a:lnTo>
                    <a:pt x="11526139" y="1609344"/>
                  </a:lnTo>
                  <a:lnTo>
                    <a:pt x="11526139" y="1626235"/>
                  </a:lnTo>
                  <a:lnTo>
                    <a:pt x="11509248" y="1626235"/>
                  </a:lnTo>
                  <a:lnTo>
                    <a:pt x="11509248" y="16891"/>
                  </a:lnTo>
                  <a:lnTo>
                    <a:pt x="11526139" y="16891"/>
                  </a:lnTo>
                  <a:lnTo>
                    <a:pt x="11526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590807" y="3571751"/>
            <a:ext cx="830075" cy="830075"/>
            <a:chOff x="0" y="0"/>
            <a:chExt cx="1106767" cy="110676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06805" cy="1106678"/>
            </a:xfrm>
            <a:custGeom>
              <a:avLst/>
              <a:gdLst/>
              <a:ahLst/>
              <a:cxnLst/>
              <a:rect r="r" b="b" t="t" l="l"/>
              <a:pathLst>
                <a:path h="1106678" w="1106805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lnTo>
                    <a:pt x="553339" y="16891"/>
                  </a:lnTo>
                  <a:lnTo>
                    <a:pt x="553339" y="0"/>
                  </a:lnTo>
                  <a:cubicBezTo>
                    <a:pt x="859028" y="0"/>
                    <a:pt x="1106805" y="247777"/>
                    <a:pt x="1106805" y="553339"/>
                  </a:cubicBezTo>
                  <a:lnTo>
                    <a:pt x="1089787" y="553339"/>
                  </a:lnTo>
                  <a:lnTo>
                    <a:pt x="1106678" y="553339"/>
                  </a:lnTo>
                  <a:cubicBezTo>
                    <a:pt x="1106678" y="858901"/>
                    <a:pt x="858901" y="1106678"/>
                    <a:pt x="553339" y="1106678"/>
                  </a:cubicBezTo>
                  <a:lnTo>
                    <a:pt x="553339" y="1089787"/>
                  </a:lnTo>
                  <a:lnTo>
                    <a:pt x="553339" y="1106678"/>
                  </a:lnTo>
                  <a:cubicBezTo>
                    <a:pt x="247777" y="1106805"/>
                    <a:pt x="0" y="859028"/>
                    <a:pt x="0" y="553339"/>
                  </a:cubicBezTo>
                  <a:lnTo>
                    <a:pt x="16891" y="553339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0" y="553339"/>
                  </a:lnTo>
                  <a:moveTo>
                    <a:pt x="33909" y="553339"/>
                  </a:moveTo>
                  <a:cubicBezTo>
                    <a:pt x="33909" y="562737"/>
                    <a:pt x="26289" y="570230"/>
                    <a:pt x="17018" y="570230"/>
                  </a:cubicBezTo>
                  <a:cubicBezTo>
                    <a:pt x="7747" y="570230"/>
                    <a:pt x="0" y="562737"/>
                    <a:pt x="0" y="553339"/>
                  </a:cubicBezTo>
                  <a:cubicBezTo>
                    <a:pt x="0" y="543941"/>
                    <a:pt x="7620" y="536448"/>
                    <a:pt x="16891" y="536448"/>
                  </a:cubicBezTo>
                  <a:cubicBezTo>
                    <a:pt x="26162" y="536448"/>
                    <a:pt x="33782" y="544068"/>
                    <a:pt x="33782" y="553339"/>
                  </a:cubicBezTo>
                  <a:cubicBezTo>
                    <a:pt x="33782" y="840232"/>
                    <a:pt x="266319" y="1072896"/>
                    <a:pt x="553339" y="1072896"/>
                  </a:cubicBezTo>
                  <a:cubicBezTo>
                    <a:pt x="840232" y="1072896"/>
                    <a:pt x="1072896" y="840359"/>
                    <a:pt x="1072896" y="553339"/>
                  </a:cubicBezTo>
                  <a:cubicBezTo>
                    <a:pt x="1072896" y="266446"/>
                    <a:pt x="840359" y="33782"/>
                    <a:pt x="553339" y="33782"/>
                  </a:cubicBezTo>
                  <a:lnTo>
                    <a:pt x="553339" y="16891"/>
                  </a:lnTo>
                  <a:lnTo>
                    <a:pt x="553339" y="33909"/>
                  </a:lnTo>
                  <a:cubicBezTo>
                    <a:pt x="266446" y="33909"/>
                    <a:pt x="33909" y="266446"/>
                    <a:pt x="33909" y="553339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03504" y="3584448"/>
            <a:ext cx="804672" cy="804672"/>
            <a:chOff x="0" y="0"/>
            <a:chExt cx="1072896" cy="107289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1072896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609344" y="3474720"/>
            <a:ext cx="7278624" cy="512064"/>
            <a:chOff x="0" y="0"/>
            <a:chExt cx="9704832" cy="6827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704832" cy="682752"/>
            </a:xfrm>
            <a:custGeom>
              <a:avLst/>
              <a:gdLst/>
              <a:ahLst/>
              <a:cxnLst/>
              <a:rect r="r" b="b" t="t" l="l"/>
              <a:pathLst>
                <a:path h="682752" w="9704832">
                  <a:moveTo>
                    <a:pt x="0" y="0"/>
                  </a:moveTo>
                  <a:lnTo>
                    <a:pt x="9704832" y="0"/>
                  </a:lnTo>
                  <a:lnTo>
                    <a:pt x="97048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965" r="0" b="-22696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9704832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File Upload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609344" y="3986784"/>
            <a:ext cx="7278624" cy="512064"/>
            <a:chOff x="0" y="0"/>
            <a:chExt cx="9704832" cy="68275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704832" cy="682752"/>
            </a:xfrm>
            <a:custGeom>
              <a:avLst/>
              <a:gdLst/>
              <a:ahLst/>
              <a:cxnLst/>
              <a:rect r="r" b="b" t="t" l="l"/>
              <a:pathLst>
                <a:path h="682752" w="9704832">
                  <a:moveTo>
                    <a:pt x="0" y="0"/>
                  </a:moveTo>
                  <a:lnTo>
                    <a:pt x="9704832" y="0"/>
                  </a:lnTo>
                  <a:lnTo>
                    <a:pt x="97048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965" r="0" b="-22696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970483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POST /api/files → multer validates MIME → Drive stores blob → DB stores metadata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38279" y="4614167"/>
            <a:ext cx="98555" cy="153419"/>
            <a:chOff x="0" y="0"/>
            <a:chExt cx="131407" cy="20455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97536" cy="170688"/>
            </a:xfrm>
            <a:custGeom>
              <a:avLst/>
              <a:gdLst/>
              <a:ahLst/>
              <a:cxnLst/>
              <a:rect r="r" b="b" t="t" l="l"/>
              <a:pathLst>
                <a:path h="170688" w="97536">
                  <a:moveTo>
                    <a:pt x="0" y="0"/>
                  </a:moveTo>
                  <a:lnTo>
                    <a:pt x="97536" y="0"/>
                  </a:lnTo>
                  <a:lnTo>
                    <a:pt x="97536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8BAFC7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31318" cy="204472"/>
            </a:xfrm>
            <a:custGeom>
              <a:avLst/>
              <a:gdLst/>
              <a:ahLst/>
              <a:cxnLst/>
              <a:rect r="r" b="b" t="t" l="l"/>
              <a:pathLst>
                <a:path h="204472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87579"/>
                  </a:lnTo>
                  <a:cubicBezTo>
                    <a:pt x="131318" y="196977"/>
                    <a:pt x="123698" y="204470"/>
                    <a:pt x="114427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14427" y="170688"/>
                  </a:lnTo>
                  <a:lnTo>
                    <a:pt x="114427" y="187579"/>
                  </a:lnTo>
                  <a:lnTo>
                    <a:pt x="97536" y="187579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499367" y="4742183"/>
            <a:ext cx="8657339" cy="1232411"/>
            <a:chOff x="0" y="0"/>
            <a:chExt cx="11543119" cy="164321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1509248" cy="1609344"/>
            </a:xfrm>
            <a:custGeom>
              <a:avLst/>
              <a:gdLst/>
              <a:ahLst/>
              <a:cxnLst/>
              <a:rect r="r" b="b" t="t" l="l"/>
              <a:pathLst>
                <a:path h="1609344" w="11509248">
                  <a:moveTo>
                    <a:pt x="0" y="0"/>
                  </a:moveTo>
                  <a:lnTo>
                    <a:pt x="11509248" y="0"/>
                  </a:lnTo>
                  <a:lnTo>
                    <a:pt x="11509248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1543030" cy="1643126"/>
            </a:xfrm>
            <a:custGeom>
              <a:avLst/>
              <a:gdLst/>
              <a:ahLst/>
              <a:cxnLst/>
              <a:rect r="r" b="b" t="t" l="l"/>
              <a:pathLst>
                <a:path h="1643126" w="11543030">
                  <a:moveTo>
                    <a:pt x="16891" y="0"/>
                  </a:moveTo>
                  <a:lnTo>
                    <a:pt x="11526139" y="0"/>
                  </a:lnTo>
                  <a:cubicBezTo>
                    <a:pt x="11535537" y="0"/>
                    <a:pt x="11543030" y="7620"/>
                    <a:pt x="11543030" y="16891"/>
                  </a:cubicBezTo>
                  <a:lnTo>
                    <a:pt x="11543030" y="1626235"/>
                  </a:lnTo>
                  <a:cubicBezTo>
                    <a:pt x="11543030" y="1635633"/>
                    <a:pt x="11535410" y="1643126"/>
                    <a:pt x="11526139" y="1643126"/>
                  </a:cubicBezTo>
                  <a:lnTo>
                    <a:pt x="16891" y="1643126"/>
                  </a:lnTo>
                  <a:cubicBezTo>
                    <a:pt x="7493" y="1643126"/>
                    <a:pt x="0" y="1635506"/>
                    <a:pt x="0" y="1626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26235"/>
                  </a:lnTo>
                  <a:lnTo>
                    <a:pt x="16891" y="1626235"/>
                  </a:lnTo>
                  <a:lnTo>
                    <a:pt x="16891" y="1609344"/>
                  </a:lnTo>
                  <a:lnTo>
                    <a:pt x="11526139" y="1609344"/>
                  </a:lnTo>
                  <a:lnTo>
                    <a:pt x="11526139" y="1626235"/>
                  </a:lnTo>
                  <a:lnTo>
                    <a:pt x="11509248" y="1626235"/>
                  </a:lnTo>
                  <a:lnTo>
                    <a:pt x="11509248" y="16891"/>
                  </a:lnTo>
                  <a:lnTo>
                    <a:pt x="11526139" y="16891"/>
                  </a:lnTo>
                  <a:lnTo>
                    <a:pt x="11526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590807" y="4925063"/>
            <a:ext cx="830075" cy="830075"/>
            <a:chOff x="0" y="0"/>
            <a:chExt cx="1106767" cy="1106767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106805" cy="1106678"/>
            </a:xfrm>
            <a:custGeom>
              <a:avLst/>
              <a:gdLst/>
              <a:ahLst/>
              <a:cxnLst/>
              <a:rect r="r" b="b" t="t" l="l"/>
              <a:pathLst>
                <a:path h="1106678" w="1106805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lnTo>
                    <a:pt x="553339" y="16891"/>
                  </a:lnTo>
                  <a:lnTo>
                    <a:pt x="553339" y="0"/>
                  </a:lnTo>
                  <a:cubicBezTo>
                    <a:pt x="859028" y="0"/>
                    <a:pt x="1106805" y="247777"/>
                    <a:pt x="1106805" y="553339"/>
                  </a:cubicBezTo>
                  <a:lnTo>
                    <a:pt x="1089787" y="553339"/>
                  </a:lnTo>
                  <a:lnTo>
                    <a:pt x="1106678" y="553339"/>
                  </a:lnTo>
                  <a:cubicBezTo>
                    <a:pt x="1106678" y="858901"/>
                    <a:pt x="858901" y="1106678"/>
                    <a:pt x="553339" y="1106678"/>
                  </a:cubicBezTo>
                  <a:lnTo>
                    <a:pt x="553339" y="1089787"/>
                  </a:lnTo>
                  <a:lnTo>
                    <a:pt x="553339" y="1106678"/>
                  </a:lnTo>
                  <a:cubicBezTo>
                    <a:pt x="247777" y="1106805"/>
                    <a:pt x="0" y="859028"/>
                    <a:pt x="0" y="553339"/>
                  </a:cubicBezTo>
                  <a:lnTo>
                    <a:pt x="16891" y="553339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0" y="553339"/>
                  </a:lnTo>
                  <a:moveTo>
                    <a:pt x="33909" y="553339"/>
                  </a:moveTo>
                  <a:cubicBezTo>
                    <a:pt x="33909" y="562737"/>
                    <a:pt x="26289" y="570230"/>
                    <a:pt x="17018" y="570230"/>
                  </a:cubicBezTo>
                  <a:cubicBezTo>
                    <a:pt x="7747" y="570230"/>
                    <a:pt x="0" y="562737"/>
                    <a:pt x="0" y="553339"/>
                  </a:cubicBezTo>
                  <a:cubicBezTo>
                    <a:pt x="0" y="543941"/>
                    <a:pt x="7620" y="536448"/>
                    <a:pt x="16891" y="536448"/>
                  </a:cubicBezTo>
                  <a:cubicBezTo>
                    <a:pt x="26162" y="536448"/>
                    <a:pt x="33782" y="544068"/>
                    <a:pt x="33782" y="553339"/>
                  </a:cubicBezTo>
                  <a:cubicBezTo>
                    <a:pt x="33782" y="840232"/>
                    <a:pt x="266319" y="1072896"/>
                    <a:pt x="553339" y="1072896"/>
                  </a:cubicBezTo>
                  <a:cubicBezTo>
                    <a:pt x="840232" y="1072896"/>
                    <a:pt x="1072896" y="840359"/>
                    <a:pt x="1072896" y="553339"/>
                  </a:cubicBezTo>
                  <a:cubicBezTo>
                    <a:pt x="1072896" y="266446"/>
                    <a:pt x="840359" y="33782"/>
                    <a:pt x="553339" y="33782"/>
                  </a:cubicBezTo>
                  <a:lnTo>
                    <a:pt x="553339" y="16891"/>
                  </a:lnTo>
                  <a:lnTo>
                    <a:pt x="553339" y="33909"/>
                  </a:lnTo>
                  <a:cubicBezTo>
                    <a:pt x="266446" y="33909"/>
                    <a:pt x="33909" y="266446"/>
                    <a:pt x="33909" y="553339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03504" y="4937760"/>
            <a:ext cx="804672" cy="804672"/>
            <a:chOff x="0" y="0"/>
            <a:chExt cx="1072896" cy="107289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1072896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609344" y="4828032"/>
            <a:ext cx="7278624" cy="512064"/>
            <a:chOff x="0" y="0"/>
            <a:chExt cx="9704832" cy="68275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704832" cy="682752"/>
            </a:xfrm>
            <a:custGeom>
              <a:avLst/>
              <a:gdLst/>
              <a:ahLst/>
              <a:cxnLst/>
              <a:rect r="r" b="b" t="t" l="l"/>
              <a:pathLst>
                <a:path h="682752" w="9704832">
                  <a:moveTo>
                    <a:pt x="0" y="0"/>
                  </a:moveTo>
                  <a:lnTo>
                    <a:pt x="9704832" y="0"/>
                  </a:lnTo>
                  <a:lnTo>
                    <a:pt x="97048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965" r="0" b="-22696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9704832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Token Access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609344" y="5340096"/>
            <a:ext cx="7278624" cy="512064"/>
            <a:chOff x="0" y="0"/>
            <a:chExt cx="9704832" cy="68275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704832" cy="682752"/>
            </a:xfrm>
            <a:custGeom>
              <a:avLst/>
              <a:gdLst/>
              <a:ahLst/>
              <a:cxnLst/>
              <a:rect r="r" b="b" t="t" l="l"/>
              <a:pathLst>
                <a:path h="682752" w="9704832">
                  <a:moveTo>
                    <a:pt x="0" y="0"/>
                  </a:moveTo>
                  <a:lnTo>
                    <a:pt x="9704832" y="0"/>
                  </a:lnTo>
                  <a:lnTo>
                    <a:pt x="97048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965" r="0" b="-22696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970483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Outer token lookup → PBKDF2 inner hash verify → role resolved (MAIN/SUB)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38279" y="5967479"/>
            <a:ext cx="98555" cy="153419"/>
            <a:chOff x="0" y="0"/>
            <a:chExt cx="131407" cy="20455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97536" cy="170688"/>
            </a:xfrm>
            <a:custGeom>
              <a:avLst/>
              <a:gdLst/>
              <a:ahLst/>
              <a:cxnLst/>
              <a:rect r="r" b="b" t="t" l="l"/>
              <a:pathLst>
                <a:path h="170688" w="97536">
                  <a:moveTo>
                    <a:pt x="0" y="0"/>
                  </a:moveTo>
                  <a:lnTo>
                    <a:pt x="97536" y="0"/>
                  </a:lnTo>
                  <a:lnTo>
                    <a:pt x="97536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8BAFC7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31318" cy="204472"/>
            </a:xfrm>
            <a:custGeom>
              <a:avLst/>
              <a:gdLst/>
              <a:ahLst/>
              <a:cxnLst/>
              <a:rect r="r" b="b" t="t" l="l"/>
              <a:pathLst>
                <a:path h="204472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87579"/>
                  </a:lnTo>
                  <a:cubicBezTo>
                    <a:pt x="131318" y="196977"/>
                    <a:pt x="123698" y="204470"/>
                    <a:pt x="114427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14427" y="170688"/>
                  </a:lnTo>
                  <a:lnTo>
                    <a:pt x="114427" y="187579"/>
                  </a:lnTo>
                  <a:lnTo>
                    <a:pt x="97536" y="187579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499367" y="6095495"/>
            <a:ext cx="8657339" cy="1232411"/>
            <a:chOff x="0" y="0"/>
            <a:chExt cx="11543119" cy="164321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11509248" cy="1609344"/>
            </a:xfrm>
            <a:custGeom>
              <a:avLst/>
              <a:gdLst/>
              <a:ahLst/>
              <a:cxnLst/>
              <a:rect r="r" b="b" t="t" l="l"/>
              <a:pathLst>
                <a:path h="1609344" w="11509248">
                  <a:moveTo>
                    <a:pt x="0" y="0"/>
                  </a:moveTo>
                  <a:lnTo>
                    <a:pt x="11509248" y="0"/>
                  </a:lnTo>
                  <a:lnTo>
                    <a:pt x="11509248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1543030" cy="1643126"/>
            </a:xfrm>
            <a:custGeom>
              <a:avLst/>
              <a:gdLst/>
              <a:ahLst/>
              <a:cxnLst/>
              <a:rect r="r" b="b" t="t" l="l"/>
              <a:pathLst>
                <a:path h="1643126" w="11543030">
                  <a:moveTo>
                    <a:pt x="16891" y="0"/>
                  </a:moveTo>
                  <a:lnTo>
                    <a:pt x="11526139" y="0"/>
                  </a:lnTo>
                  <a:cubicBezTo>
                    <a:pt x="11535537" y="0"/>
                    <a:pt x="11543030" y="7620"/>
                    <a:pt x="11543030" y="16891"/>
                  </a:cubicBezTo>
                  <a:lnTo>
                    <a:pt x="11543030" y="1626235"/>
                  </a:lnTo>
                  <a:cubicBezTo>
                    <a:pt x="11543030" y="1635633"/>
                    <a:pt x="11535410" y="1643126"/>
                    <a:pt x="11526139" y="1643126"/>
                  </a:cubicBezTo>
                  <a:lnTo>
                    <a:pt x="16891" y="1643126"/>
                  </a:lnTo>
                  <a:cubicBezTo>
                    <a:pt x="7493" y="1643126"/>
                    <a:pt x="0" y="1635506"/>
                    <a:pt x="0" y="1626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26235"/>
                  </a:lnTo>
                  <a:lnTo>
                    <a:pt x="16891" y="1626235"/>
                  </a:lnTo>
                  <a:lnTo>
                    <a:pt x="16891" y="1609344"/>
                  </a:lnTo>
                  <a:lnTo>
                    <a:pt x="11526139" y="1609344"/>
                  </a:lnTo>
                  <a:lnTo>
                    <a:pt x="11526139" y="1626235"/>
                  </a:lnTo>
                  <a:lnTo>
                    <a:pt x="11509248" y="1626235"/>
                  </a:lnTo>
                  <a:lnTo>
                    <a:pt x="11509248" y="16891"/>
                  </a:lnTo>
                  <a:lnTo>
                    <a:pt x="11526139" y="16891"/>
                  </a:lnTo>
                  <a:lnTo>
                    <a:pt x="11526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590807" y="6278375"/>
            <a:ext cx="830075" cy="830075"/>
            <a:chOff x="0" y="0"/>
            <a:chExt cx="1106767" cy="1106767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106805" cy="1106678"/>
            </a:xfrm>
            <a:custGeom>
              <a:avLst/>
              <a:gdLst/>
              <a:ahLst/>
              <a:cxnLst/>
              <a:rect r="r" b="b" t="t" l="l"/>
              <a:pathLst>
                <a:path h="1106678" w="1106805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lnTo>
                    <a:pt x="553339" y="16891"/>
                  </a:lnTo>
                  <a:lnTo>
                    <a:pt x="553339" y="0"/>
                  </a:lnTo>
                  <a:cubicBezTo>
                    <a:pt x="859028" y="0"/>
                    <a:pt x="1106805" y="247777"/>
                    <a:pt x="1106805" y="553339"/>
                  </a:cubicBezTo>
                  <a:lnTo>
                    <a:pt x="1089787" y="553339"/>
                  </a:lnTo>
                  <a:lnTo>
                    <a:pt x="1106678" y="553339"/>
                  </a:lnTo>
                  <a:cubicBezTo>
                    <a:pt x="1106678" y="858901"/>
                    <a:pt x="858901" y="1106678"/>
                    <a:pt x="553339" y="1106678"/>
                  </a:cubicBezTo>
                  <a:lnTo>
                    <a:pt x="553339" y="1089787"/>
                  </a:lnTo>
                  <a:lnTo>
                    <a:pt x="553339" y="1106678"/>
                  </a:lnTo>
                  <a:cubicBezTo>
                    <a:pt x="247777" y="1106805"/>
                    <a:pt x="0" y="859028"/>
                    <a:pt x="0" y="553339"/>
                  </a:cubicBezTo>
                  <a:lnTo>
                    <a:pt x="16891" y="553339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0" y="553339"/>
                  </a:lnTo>
                  <a:moveTo>
                    <a:pt x="33909" y="553339"/>
                  </a:moveTo>
                  <a:cubicBezTo>
                    <a:pt x="33909" y="562737"/>
                    <a:pt x="26289" y="570230"/>
                    <a:pt x="17018" y="570230"/>
                  </a:cubicBezTo>
                  <a:cubicBezTo>
                    <a:pt x="7747" y="570230"/>
                    <a:pt x="0" y="562737"/>
                    <a:pt x="0" y="553339"/>
                  </a:cubicBezTo>
                  <a:cubicBezTo>
                    <a:pt x="0" y="543941"/>
                    <a:pt x="7620" y="536448"/>
                    <a:pt x="16891" y="536448"/>
                  </a:cubicBezTo>
                  <a:cubicBezTo>
                    <a:pt x="26162" y="536448"/>
                    <a:pt x="33782" y="544068"/>
                    <a:pt x="33782" y="553339"/>
                  </a:cubicBezTo>
                  <a:cubicBezTo>
                    <a:pt x="33782" y="840232"/>
                    <a:pt x="266319" y="1072896"/>
                    <a:pt x="553339" y="1072896"/>
                  </a:cubicBezTo>
                  <a:cubicBezTo>
                    <a:pt x="840232" y="1072896"/>
                    <a:pt x="1072896" y="840359"/>
                    <a:pt x="1072896" y="553339"/>
                  </a:cubicBezTo>
                  <a:cubicBezTo>
                    <a:pt x="1072896" y="266446"/>
                    <a:pt x="840359" y="33782"/>
                    <a:pt x="553339" y="33782"/>
                  </a:cubicBezTo>
                  <a:lnTo>
                    <a:pt x="553339" y="16891"/>
                  </a:lnTo>
                  <a:lnTo>
                    <a:pt x="553339" y="33909"/>
                  </a:lnTo>
                  <a:cubicBezTo>
                    <a:pt x="266446" y="33909"/>
                    <a:pt x="33909" y="266446"/>
                    <a:pt x="33909" y="553339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603504" y="6291072"/>
            <a:ext cx="804672" cy="804672"/>
            <a:chOff x="0" y="0"/>
            <a:chExt cx="1072896" cy="107289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1072896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609344" y="6181344"/>
            <a:ext cx="7278624" cy="512064"/>
            <a:chOff x="0" y="0"/>
            <a:chExt cx="9704832" cy="68275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704832" cy="682752"/>
            </a:xfrm>
            <a:custGeom>
              <a:avLst/>
              <a:gdLst/>
              <a:ahLst/>
              <a:cxnLst/>
              <a:rect r="r" b="b" t="t" l="l"/>
              <a:pathLst>
                <a:path h="682752" w="9704832">
                  <a:moveTo>
                    <a:pt x="0" y="0"/>
                  </a:moveTo>
                  <a:lnTo>
                    <a:pt x="9704832" y="0"/>
                  </a:lnTo>
                  <a:lnTo>
                    <a:pt x="97048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965" r="0" b="-226965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9704832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Session Issued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609344" y="6693408"/>
            <a:ext cx="7278624" cy="512064"/>
            <a:chOff x="0" y="0"/>
            <a:chExt cx="9704832" cy="68275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704832" cy="682752"/>
            </a:xfrm>
            <a:custGeom>
              <a:avLst/>
              <a:gdLst/>
              <a:ahLst/>
              <a:cxnLst/>
              <a:rect r="r" b="b" t="t" l="l"/>
              <a:pathLst>
                <a:path h="682752" w="9704832">
                  <a:moveTo>
                    <a:pt x="0" y="0"/>
                  </a:moveTo>
                  <a:lnTo>
                    <a:pt x="9704832" y="0"/>
                  </a:lnTo>
                  <a:lnTo>
                    <a:pt x="97048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965" r="0" b="-226965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970483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Admin MAIN→UUID session → authSession middleware revalidates on every call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38279" y="7320791"/>
            <a:ext cx="98555" cy="153419"/>
            <a:chOff x="0" y="0"/>
            <a:chExt cx="131407" cy="204559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97536" cy="170688"/>
            </a:xfrm>
            <a:custGeom>
              <a:avLst/>
              <a:gdLst/>
              <a:ahLst/>
              <a:cxnLst/>
              <a:rect r="r" b="b" t="t" l="l"/>
              <a:pathLst>
                <a:path h="170688" w="97536">
                  <a:moveTo>
                    <a:pt x="0" y="0"/>
                  </a:moveTo>
                  <a:lnTo>
                    <a:pt x="97536" y="0"/>
                  </a:lnTo>
                  <a:lnTo>
                    <a:pt x="97536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8BAFC7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31318" cy="204472"/>
            </a:xfrm>
            <a:custGeom>
              <a:avLst/>
              <a:gdLst/>
              <a:ahLst/>
              <a:cxnLst/>
              <a:rect r="r" b="b" t="t" l="l"/>
              <a:pathLst>
                <a:path h="204472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87579"/>
                  </a:lnTo>
                  <a:cubicBezTo>
                    <a:pt x="131318" y="196977"/>
                    <a:pt x="123698" y="204470"/>
                    <a:pt x="114427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14427" y="170688"/>
                  </a:lnTo>
                  <a:lnTo>
                    <a:pt x="114427" y="187579"/>
                  </a:lnTo>
                  <a:lnTo>
                    <a:pt x="97536" y="187579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499367" y="7448807"/>
            <a:ext cx="8657339" cy="1232411"/>
            <a:chOff x="0" y="0"/>
            <a:chExt cx="11543119" cy="1643215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11509248" cy="1609344"/>
            </a:xfrm>
            <a:custGeom>
              <a:avLst/>
              <a:gdLst/>
              <a:ahLst/>
              <a:cxnLst/>
              <a:rect r="r" b="b" t="t" l="l"/>
              <a:pathLst>
                <a:path h="1609344" w="11509248">
                  <a:moveTo>
                    <a:pt x="0" y="0"/>
                  </a:moveTo>
                  <a:lnTo>
                    <a:pt x="11509248" y="0"/>
                  </a:lnTo>
                  <a:lnTo>
                    <a:pt x="11509248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1543030" cy="1643126"/>
            </a:xfrm>
            <a:custGeom>
              <a:avLst/>
              <a:gdLst/>
              <a:ahLst/>
              <a:cxnLst/>
              <a:rect r="r" b="b" t="t" l="l"/>
              <a:pathLst>
                <a:path h="1643126" w="11543030">
                  <a:moveTo>
                    <a:pt x="16891" y="0"/>
                  </a:moveTo>
                  <a:lnTo>
                    <a:pt x="11526139" y="0"/>
                  </a:lnTo>
                  <a:cubicBezTo>
                    <a:pt x="11535537" y="0"/>
                    <a:pt x="11543030" y="7620"/>
                    <a:pt x="11543030" y="16891"/>
                  </a:cubicBezTo>
                  <a:lnTo>
                    <a:pt x="11543030" y="1626235"/>
                  </a:lnTo>
                  <a:cubicBezTo>
                    <a:pt x="11543030" y="1635633"/>
                    <a:pt x="11535410" y="1643126"/>
                    <a:pt x="11526139" y="1643126"/>
                  </a:cubicBezTo>
                  <a:lnTo>
                    <a:pt x="16891" y="1643126"/>
                  </a:lnTo>
                  <a:cubicBezTo>
                    <a:pt x="7493" y="1643126"/>
                    <a:pt x="0" y="1635506"/>
                    <a:pt x="0" y="1626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26235"/>
                  </a:lnTo>
                  <a:lnTo>
                    <a:pt x="16891" y="1626235"/>
                  </a:lnTo>
                  <a:lnTo>
                    <a:pt x="16891" y="1609344"/>
                  </a:lnTo>
                  <a:lnTo>
                    <a:pt x="11526139" y="1609344"/>
                  </a:lnTo>
                  <a:lnTo>
                    <a:pt x="11526139" y="1626235"/>
                  </a:lnTo>
                  <a:lnTo>
                    <a:pt x="11509248" y="1626235"/>
                  </a:lnTo>
                  <a:lnTo>
                    <a:pt x="11509248" y="16891"/>
                  </a:lnTo>
                  <a:lnTo>
                    <a:pt x="11526139" y="16891"/>
                  </a:lnTo>
                  <a:lnTo>
                    <a:pt x="11526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590807" y="7631687"/>
            <a:ext cx="830075" cy="830075"/>
            <a:chOff x="0" y="0"/>
            <a:chExt cx="1106767" cy="1106767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106805" cy="1106678"/>
            </a:xfrm>
            <a:custGeom>
              <a:avLst/>
              <a:gdLst/>
              <a:ahLst/>
              <a:cxnLst/>
              <a:rect r="r" b="b" t="t" l="l"/>
              <a:pathLst>
                <a:path h="1106678" w="1106805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lnTo>
                    <a:pt x="553339" y="16891"/>
                  </a:lnTo>
                  <a:lnTo>
                    <a:pt x="553339" y="0"/>
                  </a:lnTo>
                  <a:cubicBezTo>
                    <a:pt x="859028" y="0"/>
                    <a:pt x="1106805" y="247777"/>
                    <a:pt x="1106805" y="553339"/>
                  </a:cubicBezTo>
                  <a:lnTo>
                    <a:pt x="1089787" y="553339"/>
                  </a:lnTo>
                  <a:lnTo>
                    <a:pt x="1106678" y="553339"/>
                  </a:lnTo>
                  <a:cubicBezTo>
                    <a:pt x="1106678" y="858901"/>
                    <a:pt x="858901" y="1106678"/>
                    <a:pt x="553339" y="1106678"/>
                  </a:cubicBezTo>
                  <a:lnTo>
                    <a:pt x="553339" y="1089787"/>
                  </a:lnTo>
                  <a:lnTo>
                    <a:pt x="553339" y="1106678"/>
                  </a:lnTo>
                  <a:cubicBezTo>
                    <a:pt x="247777" y="1106805"/>
                    <a:pt x="0" y="859028"/>
                    <a:pt x="0" y="553339"/>
                  </a:cubicBezTo>
                  <a:lnTo>
                    <a:pt x="16891" y="553339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0" y="553339"/>
                  </a:lnTo>
                  <a:moveTo>
                    <a:pt x="33909" y="553339"/>
                  </a:moveTo>
                  <a:cubicBezTo>
                    <a:pt x="33909" y="562737"/>
                    <a:pt x="26289" y="570230"/>
                    <a:pt x="17018" y="570230"/>
                  </a:cubicBezTo>
                  <a:cubicBezTo>
                    <a:pt x="7747" y="570230"/>
                    <a:pt x="0" y="562737"/>
                    <a:pt x="0" y="553339"/>
                  </a:cubicBezTo>
                  <a:cubicBezTo>
                    <a:pt x="0" y="543941"/>
                    <a:pt x="7620" y="536448"/>
                    <a:pt x="16891" y="536448"/>
                  </a:cubicBezTo>
                  <a:cubicBezTo>
                    <a:pt x="26162" y="536448"/>
                    <a:pt x="33782" y="544068"/>
                    <a:pt x="33782" y="553339"/>
                  </a:cubicBezTo>
                  <a:cubicBezTo>
                    <a:pt x="33782" y="840232"/>
                    <a:pt x="266319" y="1072896"/>
                    <a:pt x="553339" y="1072896"/>
                  </a:cubicBezTo>
                  <a:cubicBezTo>
                    <a:pt x="840232" y="1072896"/>
                    <a:pt x="1072896" y="840359"/>
                    <a:pt x="1072896" y="553339"/>
                  </a:cubicBezTo>
                  <a:cubicBezTo>
                    <a:pt x="1072896" y="266446"/>
                    <a:pt x="840359" y="33782"/>
                    <a:pt x="553339" y="33782"/>
                  </a:cubicBezTo>
                  <a:lnTo>
                    <a:pt x="553339" y="16891"/>
                  </a:lnTo>
                  <a:lnTo>
                    <a:pt x="553339" y="33909"/>
                  </a:lnTo>
                  <a:cubicBezTo>
                    <a:pt x="266446" y="33909"/>
                    <a:pt x="33909" y="266446"/>
                    <a:pt x="33909" y="553339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603504" y="7644384"/>
            <a:ext cx="804672" cy="804672"/>
            <a:chOff x="0" y="0"/>
            <a:chExt cx="1072896" cy="1072896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47625"/>
              <a:ext cx="1072896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609344" y="7534656"/>
            <a:ext cx="7278624" cy="512064"/>
            <a:chOff x="0" y="0"/>
            <a:chExt cx="9704832" cy="68275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9704832" cy="682752"/>
            </a:xfrm>
            <a:custGeom>
              <a:avLst/>
              <a:gdLst/>
              <a:ahLst/>
              <a:cxnLst/>
              <a:rect r="r" b="b" t="t" l="l"/>
              <a:pathLst>
                <a:path h="682752" w="9704832">
                  <a:moveTo>
                    <a:pt x="0" y="0"/>
                  </a:moveTo>
                  <a:lnTo>
                    <a:pt x="9704832" y="0"/>
                  </a:lnTo>
                  <a:lnTo>
                    <a:pt x="97048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965" r="0" b="-226965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9704832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8B5C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Portfolio CRUD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609344" y="8046720"/>
            <a:ext cx="7278624" cy="512064"/>
            <a:chOff x="0" y="0"/>
            <a:chExt cx="9704832" cy="68275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9704832" cy="682752"/>
            </a:xfrm>
            <a:custGeom>
              <a:avLst/>
              <a:gdLst/>
              <a:ahLst/>
              <a:cxnLst/>
              <a:rect r="r" b="b" t="t" l="l"/>
              <a:pathLst>
                <a:path h="682752" w="9704832">
                  <a:moveTo>
                    <a:pt x="0" y="0"/>
                  </a:moveTo>
                  <a:lnTo>
                    <a:pt x="9704832" y="0"/>
                  </a:lnTo>
                  <a:lnTo>
                    <a:pt x="97048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965" r="0" b="-226965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970483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RBAC guard → integrity check → DB write → audit log (JSON-line + hash chain)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38279" y="8674103"/>
            <a:ext cx="98555" cy="153419"/>
            <a:chOff x="0" y="0"/>
            <a:chExt cx="131407" cy="204559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6891" y="16891"/>
              <a:ext cx="97536" cy="170688"/>
            </a:xfrm>
            <a:custGeom>
              <a:avLst/>
              <a:gdLst/>
              <a:ahLst/>
              <a:cxnLst/>
              <a:rect r="r" b="b" t="t" l="l"/>
              <a:pathLst>
                <a:path h="170688" w="97536">
                  <a:moveTo>
                    <a:pt x="0" y="0"/>
                  </a:moveTo>
                  <a:lnTo>
                    <a:pt x="97536" y="0"/>
                  </a:lnTo>
                  <a:lnTo>
                    <a:pt x="97536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8BAFC7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31318" cy="204472"/>
            </a:xfrm>
            <a:custGeom>
              <a:avLst/>
              <a:gdLst/>
              <a:ahLst/>
              <a:cxnLst/>
              <a:rect r="r" b="b" t="t" l="l"/>
              <a:pathLst>
                <a:path h="204472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87579"/>
                  </a:lnTo>
                  <a:cubicBezTo>
                    <a:pt x="131318" y="196977"/>
                    <a:pt x="123698" y="204470"/>
                    <a:pt x="114427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14427" y="170688"/>
                  </a:lnTo>
                  <a:lnTo>
                    <a:pt x="114427" y="187579"/>
                  </a:lnTo>
                  <a:lnTo>
                    <a:pt x="97536" y="187579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499367" y="8802119"/>
            <a:ext cx="8657339" cy="1232411"/>
            <a:chOff x="0" y="0"/>
            <a:chExt cx="11543119" cy="1643215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11509248" cy="1609344"/>
            </a:xfrm>
            <a:custGeom>
              <a:avLst/>
              <a:gdLst/>
              <a:ahLst/>
              <a:cxnLst/>
              <a:rect r="r" b="b" t="t" l="l"/>
              <a:pathLst>
                <a:path h="1609344" w="11509248">
                  <a:moveTo>
                    <a:pt x="0" y="0"/>
                  </a:moveTo>
                  <a:lnTo>
                    <a:pt x="11509248" y="0"/>
                  </a:lnTo>
                  <a:lnTo>
                    <a:pt x="11509248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1543030" cy="1643126"/>
            </a:xfrm>
            <a:custGeom>
              <a:avLst/>
              <a:gdLst/>
              <a:ahLst/>
              <a:cxnLst/>
              <a:rect r="r" b="b" t="t" l="l"/>
              <a:pathLst>
                <a:path h="1643126" w="11543030">
                  <a:moveTo>
                    <a:pt x="16891" y="0"/>
                  </a:moveTo>
                  <a:lnTo>
                    <a:pt x="11526139" y="0"/>
                  </a:lnTo>
                  <a:cubicBezTo>
                    <a:pt x="11535537" y="0"/>
                    <a:pt x="11543030" y="7620"/>
                    <a:pt x="11543030" y="16891"/>
                  </a:cubicBezTo>
                  <a:lnTo>
                    <a:pt x="11543030" y="1626235"/>
                  </a:lnTo>
                  <a:cubicBezTo>
                    <a:pt x="11543030" y="1635633"/>
                    <a:pt x="11535410" y="1643126"/>
                    <a:pt x="11526139" y="1643126"/>
                  </a:cubicBezTo>
                  <a:lnTo>
                    <a:pt x="16891" y="1643126"/>
                  </a:lnTo>
                  <a:cubicBezTo>
                    <a:pt x="7493" y="1643126"/>
                    <a:pt x="0" y="1635506"/>
                    <a:pt x="0" y="1626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26235"/>
                  </a:lnTo>
                  <a:lnTo>
                    <a:pt x="16891" y="1626235"/>
                  </a:lnTo>
                  <a:lnTo>
                    <a:pt x="16891" y="1609344"/>
                  </a:lnTo>
                  <a:lnTo>
                    <a:pt x="11526139" y="1609344"/>
                  </a:lnTo>
                  <a:lnTo>
                    <a:pt x="11526139" y="1626235"/>
                  </a:lnTo>
                  <a:lnTo>
                    <a:pt x="11509248" y="1626235"/>
                  </a:lnTo>
                  <a:lnTo>
                    <a:pt x="11509248" y="16891"/>
                  </a:lnTo>
                  <a:lnTo>
                    <a:pt x="11526139" y="16891"/>
                  </a:lnTo>
                  <a:lnTo>
                    <a:pt x="11526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590807" y="8984999"/>
            <a:ext cx="830075" cy="830075"/>
            <a:chOff x="0" y="0"/>
            <a:chExt cx="1106767" cy="1106767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6891" y="16891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EF4444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106805" cy="1106678"/>
            </a:xfrm>
            <a:custGeom>
              <a:avLst/>
              <a:gdLst/>
              <a:ahLst/>
              <a:cxnLst/>
              <a:rect r="r" b="b" t="t" l="l"/>
              <a:pathLst>
                <a:path h="1106678" w="1106805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lnTo>
                    <a:pt x="553339" y="16891"/>
                  </a:lnTo>
                  <a:lnTo>
                    <a:pt x="553339" y="0"/>
                  </a:lnTo>
                  <a:cubicBezTo>
                    <a:pt x="859028" y="0"/>
                    <a:pt x="1106805" y="247777"/>
                    <a:pt x="1106805" y="553339"/>
                  </a:cubicBezTo>
                  <a:lnTo>
                    <a:pt x="1089787" y="553339"/>
                  </a:lnTo>
                  <a:lnTo>
                    <a:pt x="1106678" y="553339"/>
                  </a:lnTo>
                  <a:cubicBezTo>
                    <a:pt x="1106678" y="858901"/>
                    <a:pt x="858901" y="1106678"/>
                    <a:pt x="553339" y="1106678"/>
                  </a:cubicBezTo>
                  <a:lnTo>
                    <a:pt x="553339" y="1089787"/>
                  </a:lnTo>
                  <a:lnTo>
                    <a:pt x="553339" y="1106678"/>
                  </a:lnTo>
                  <a:cubicBezTo>
                    <a:pt x="247777" y="1106805"/>
                    <a:pt x="0" y="859028"/>
                    <a:pt x="0" y="553339"/>
                  </a:cubicBezTo>
                  <a:lnTo>
                    <a:pt x="16891" y="553339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0" y="553339"/>
                  </a:lnTo>
                  <a:moveTo>
                    <a:pt x="33909" y="553339"/>
                  </a:moveTo>
                  <a:cubicBezTo>
                    <a:pt x="33909" y="562737"/>
                    <a:pt x="26289" y="570230"/>
                    <a:pt x="17018" y="570230"/>
                  </a:cubicBezTo>
                  <a:cubicBezTo>
                    <a:pt x="7747" y="570230"/>
                    <a:pt x="0" y="562737"/>
                    <a:pt x="0" y="553339"/>
                  </a:cubicBezTo>
                  <a:cubicBezTo>
                    <a:pt x="0" y="543941"/>
                    <a:pt x="7620" y="536448"/>
                    <a:pt x="16891" y="536448"/>
                  </a:cubicBezTo>
                  <a:cubicBezTo>
                    <a:pt x="26162" y="536448"/>
                    <a:pt x="33782" y="544068"/>
                    <a:pt x="33782" y="553339"/>
                  </a:cubicBezTo>
                  <a:cubicBezTo>
                    <a:pt x="33782" y="840232"/>
                    <a:pt x="266319" y="1072896"/>
                    <a:pt x="553339" y="1072896"/>
                  </a:cubicBezTo>
                  <a:cubicBezTo>
                    <a:pt x="840232" y="1072896"/>
                    <a:pt x="1072896" y="840359"/>
                    <a:pt x="1072896" y="553339"/>
                  </a:cubicBezTo>
                  <a:cubicBezTo>
                    <a:pt x="1072896" y="266446"/>
                    <a:pt x="840359" y="33782"/>
                    <a:pt x="553339" y="33782"/>
                  </a:cubicBezTo>
                  <a:lnTo>
                    <a:pt x="553339" y="16891"/>
                  </a:lnTo>
                  <a:lnTo>
                    <a:pt x="553339" y="33909"/>
                  </a:lnTo>
                  <a:cubicBezTo>
                    <a:pt x="266446" y="33909"/>
                    <a:pt x="33909" y="266446"/>
                    <a:pt x="33909" y="553339"/>
                  </a:cubicBez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603504" y="8997696"/>
            <a:ext cx="804672" cy="804672"/>
            <a:chOff x="0" y="0"/>
            <a:chExt cx="1072896" cy="107289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47625"/>
              <a:ext cx="1072896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609344" y="8887968"/>
            <a:ext cx="7278624" cy="512064"/>
            <a:chOff x="0" y="0"/>
            <a:chExt cx="9704832" cy="682752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9704832" cy="682752"/>
            </a:xfrm>
            <a:custGeom>
              <a:avLst/>
              <a:gdLst/>
              <a:ahLst/>
              <a:cxnLst/>
              <a:rect r="r" b="b" t="t" l="l"/>
              <a:pathLst>
                <a:path h="682752" w="9704832">
                  <a:moveTo>
                    <a:pt x="0" y="0"/>
                  </a:moveTo>
                  <a:lnTo>
                    <a:pt x="9704832" y="0"/>
                  </a:lnTo>
                  <a:lnTo>
                    <a:pt x="97048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965" r="0" b="-226965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47625"/>
              <a:ext cx="9704832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Download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609344" y="9400032"/>
            <a:ext cx="7278624" cy="512064"/>
            <a:chOff x="0" y="0"/>
            <a:chExt cx="9704832" cy="682752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9704832" cy="682752"/>
            </a:xfrm>
            <a:custGeom>
              <a:avLst/>
              <a:gdLst/>
              <a:ahLst/>
              <a:cxnLst/>
              <a:rect r="r" b="b" t="t" l="l"/>
              <a:pathLst>
                <a:path h="682752" w="9704832">
                  <a:moveTo>
                    <a:pt x="0" y="0"/>
                  </a:moveTo>
                  <a:lnTo>
                    <a:pt x="9704832" y="0"/>
                  </a:lnTo>
                  <a:lnTo>
                    <a:pt x="97048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965" r="0" b="-226965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970483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Token validates → file fetched from Drive → audit logged → marked consumed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9509760" y="1426464"/>
            <a:ext cx="8321040" cy="512064"/>
            <a:chOff x="0" y="0"/>
            <a:chExt cx="11094720" cy="682752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1094720" cy="682752"/>
            </a:xfrm>
            <a:custGeom>
              <a:avLst/>
              <a:gdLst/>
              <a:ahLst/>
              <a:cxnLst/>
              <a:rect r="r" b="b" t="t" l="l"/>
              <a:pathLst>
                <a:path h="682752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6631" r="0" b="-266631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110947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600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A PIPELINE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9497063" y="2035559"/>
            <a:ext cx="8346443" cy="1232411"/>
            <a:chOff x="0" y="0"/>
            <a:chExt cx="11128591" cy="1643215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16891" y="16891"/>
              <a:ext cx="11094720" cy="1609344"/>
            </a:xfrm>
            <a:custGeom>
              <a:avLst/>
              <a:gdLst/>
              <a:ahLst/>
              <a:cxnLst/>
              <a:rect r="r" b="b" t="t" l="l"/>
              <a:pathLst>
                <a:path h="1609344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1128501" cy="1643126"/>
            </a:xfrm>
            <a:custGeom>
              <a:avLst/>
              <a:gdLst/>
              <a:ahLst/>
              <a:cxnLst/>
              <a:rect r="r" b="b" t="t" l="l"/>
              <a:pathLst>
                <a:path h="1643126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626235"/>
                  </a:lnTo>
                  <a:cubicBezTo>
                    <a:pt x="11128501" y="1635633"/>
                    <a:pt x="11120882" y="1643126"/>
                    <a:pt x="11111611" y="1643126"/>
                  </a:cubicBezTo>
                  <a:lnTo>
                    <a:pt x="16891" y="1643126"/>
                  </a:lnTo>
                  <a:cubicBezTo>
                    <a:pt x="7493" y="1643126"/>
                    <a:pt x="0" y="1635506"/>
                    <a:pt x="0" y="1626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26235"/>
                  </a:lnTo>
                  <a:lnTo>
                    <a:pt x="16891" y="1626235"/>
                  </a:lnTo>
                  <a:lnTo>
                    <a:pt x="16891" y="1609344"/>
                  </a:lnTo>
                  <a:lnTo>
                    <a:pt x="11111611" y="1609344"/>
                  </a:lnTo>
                  <a:lnTo>
                    <a:pt x="11111611" y="1626235"/>
                  </a:lnTo>
                  <a:lnTo>
                    <a:pt x="11094720" y="1626235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9600438" y="2212086"/>
            <a:ext cx="842772" cy="842772"/>
            <a:chOff x="0" y="0"/>
            <a:chExt cx="1123696" cy="1123696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25400" y="2540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F97316">
                <a:alpha val="8627"/>
              </a:srgbClr>
            </a:solidFill>
          </p:spPr>
        </p:sp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1123696" cy="1123696"/>
            </a:xfrm>
            <a:custGeom>
              <a:avLst/>
              <a:gdLst/>
              <a:ahLst/>
              <a:cxnLst/>
              <a:rect r="r" b="b" t="t" l="l"/>
              <a:pathLst>
                <a:path h="1123696" w="1123696">
                  <a:moveTo>
                    <a:pt x="0" y="561848"/>
                  </a:moveTo>
                  <a:cubicBezTo>
                    <a:pt x="0" y="251587"/>
                    <a:pt x="251587" y="0"/>
                    <a:pt x="561848" y="0"/>
                  </a:cubicBezTo>
                  <a:lnTo>
                    <a:pt x="561848" y="25400"/>
                  </a:lnTo>
                  <a:lnTo>
                    <a:pt x="561848" y="0"/>
                  </a:lnTo>
                  <a:cubicBezTo>
                    <a:pt x="872109" y="0"/>
                    <a:pt x="1123696" y="251587"/>
                    <a:pt x="1123696" y="561848"/>
                  </a:cubicBezTo>
                  <a:lnTo>
                    <a:pt x="1098296" y="561848"/>
                  </a:lnTo>
                  <a:lnTo>
                    <a:pt x="1123696" y="561848"/>
                  </a:lnTo>
                  <a:cubicBezTo>
                    <a:pt x="1123696" y="872109"/>
                    <a:pt x="872109" y="1123696"/>
                    <a:pt x="561848" y="1123696"/>
                  </a:cubicBezTo>
                  <a:lnTo>
                    <a:pt x="561848" y="1098296"/>
                  </a:lnTo>
                  <a:lnTo>
                    <a:pt x="561848" y="1123696"/>
                  </a:lnTo>
                  <a:cubicBezTo>
                    <a:pt x="251587" y="1123696"/>
                    <a:pt x="0" y="872109"/>
                    <a:pt x="0" y="561848"/>
                  </a:cubicBezTo>
                  <a:lnTo>
                    <a:pt x="25400" y="561848"/>
                  </a:lnTo>
                  <a:lnTo>
                    <a:pt x="50800" y="561848"/>
                  </a:lnTo>
                  <a:lnTo>
                    <a:pt x="25400" y="561848"/>
                  </a:lnTo>
                  <a:lnTo>
                    <a:pt x="0" y="561848"/>
                  </a:lnTo>
                  <a:moveTo>
                    <a:pt x="50800" y="561848"/>
                  </a:moveTo>
                  <a:cubicBezTo>
                    <a:pt x="50800" y="575818"/>
                    <a:pt x="39370" y="587248"/>
                    <a:pt x="25400" y="587248"/>
                  </a:cubicBezTo>
                  <a:cubicBezTo>
                    <a:pt x="11430" y="587248"/>
                    <a:pt x="0" y="575818"/>
                    <a:pt x="0" y="561848"/>
                  </a:cubicBezTo>
                  <a:cubicBezTo>
                    <a:pt x="0" y="547878"/>
                    <a:pt x="11430" y="536448"/>
                    <a:pt x="25400" y="536448"/>
                  </a:cubicBezTo>
                  <a:cubicBezTo>
                    <a:pt x="39370" y="536448"/>
                    <a:pt x="50800" y="547878"/>
                    <a:pt x="50800" y="561848"/>
                  </a:cubicBezTo>
                  <a:cubicBezTo>
                    <a:pt x="50800" y="844042"/>
                    <a:pt x="279654" y="1072896"/>
                    <a:pt x="561848" y="1072896"/>
                  </a:cubicBezTo>
                  <a:cubicBezTo>
                    <a:pt x="844042" y="1072896"/>
                    <a:pt x="1072896" y="844042"/>
                    <a:pt x="1072896" y="561848"/>
                  </a:cubicBezTo>
                  <a:cubicBezTo>
                    <a:pt x="1072896" y="279654"/>
                    <a:pt x="844042" y="50800"/>
                    <a:pt x="561848" y="50800"/>
                  </a:cubicBezTo>
                  <a:lnTo>
                    <a:pt x="561848" y="25400"/>
                  </a:lnTo>
                  <a:lnTo>
                    <a:pt x="561848" y="50800"/>
                  </a:lnTo>
                  <a:cubicBezTo>
                    <a:pt x="279654" y="50800"/>
                    <a:pt x="50800" y="279654"/>
                    <a:pt x="50800" y="561848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9619488" y="2231136"/>
            <a:ext cx="804672" cy="804672"/>
            <a:chOff x="0" y="0"/>
            <a:chExt cx="1072896" cy="1072896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47625"/>
              <a:ext cx="1072896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0607040" y="2121408"/>
            <a:ext cx="6986016" cy="512064"/>
            <a:chOff x="0" y="0"/>
            <a:chExt cx="9314688" cy="682752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9314688" cy="682752"/>
            </a:xfrm>
            <a:custGeom>
              <a:avLst/>
              <a:gdLst/>
              <a:ahLst/>
              <a:cxnLst/>
              <a:rect r="r" b="b" t="t" l="l"/>
              <a:pathLst>
                <a:path h="682752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831" r="0" b="-215831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47625"/>
              <a:ext cx="9314688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Load Snapshot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0607040" y="2633472"/>
            <a:ext cx="6986016" cy="512064"/>
            <a:chOff x="0" y="0"/>
            <a:chExt cx="9314688" cy="682752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9314688" cy="682752"/>
            </a:xfrm>
            <a:custGeom>
              <a:avLst/>
              <a:gdLst/>
              <a:ahLst/>
              <a:cxnLst/>
              <a:rect r="r" b="b" t="t" l="l"/>
              <a:pathLst>
                <a:path h="682752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831" r="0" b="-215831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38100"/>
              <a:ext cx="931468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database_export.json → 120 vaults, 500 files, 1200 auth_attempts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1764775" y="3260855"/>
            <a:ext cx="98555" cy="153419"/>
            <a:chOff x="0" y="0"/>
            <a:chExt cx="131407" cy="204559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16891" y="16891"/>
              <a:ext cx="97536" cy="170688"/>
            </a:xfrm>
            <a:custGeom>
              <a:avLst/>
              <a:gdLst/>
              <a:ahLst/>
              <a:cxnLst/>
              <a:rect r="r" b="b" t="t" l="l"/>
              <a:pathLst>
                <a:path h="170688" w="97536">
                  <a:moveTo>
                    <a:pt x="0" y="0"/>
                  </a:moveTo>
                  <a:lnTo>
                    <a:pt x="97536" y="0"/>
                  </a:lnTo>
                  <a:lnTo>
                    <a:pt x="97536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8BAFC7"/>
            </a:solidFill>
          </p:spPr>
        </p:sp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31318" cy="204472"/>
            </a:xfrm>
            <a:custGeom>
              <a:avLst/>
              <a:gdLst/>
              <a:ahLst/>
              <a:cxnLst/>
              <a:rect r="r" b="b" t="t" l="l"/>
              <a:pathLst>
                <a:path h="204472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87579"/>
                  </a:lnTo>
                  <a:cubicBezTo>
                    <a:pt x="131318" y="196977"/>
                    <a:pt x="123698" y="204470"/>
                    <a:pt x="114427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14427" y="170688"/>
                  </a:lnTo>
                  <a:lnTo>
                    <a:pt x="114427" y="187579"/>
                  </a:lnTo>
                  <a:lnTo>
                    <a:pt x="97536" y="187579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497063" y="3388871"/>
            <a:ext cx="8346443" cy="1232411"/>
            <a:chOff x="0" y="0"/>
            <a:chExt cx="11128591" cy="1643215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16891" y="16891"/>
              <a:ext cx="11094720" cy="1609344"/>
            </a:xfrm>
            <a:custGeom>
              <a:avLst/>
              <a:gdLst/>
              <a:ahLst/>
              <a:cxnLst/>
              <a:rect r="r" b="b" t="t" l="l"/>
              <a:pathLst>
                <a:path h="1609344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11128501" cy="1643126"/>
            </a:xfrm>
            <a:custGeom>
              <a:avLst/>
              <a:gdLst/>
              <a:ahLst/>
              <a:cxnLst/>
              <a:rect r="r" b="b" t="t" l="l"/>
              <a:pathLst>
                <a:path h="1643126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626235"/>
                  </a:lnTo>
                  <a:cubicBezTo>
                    <a:pt x="11128501" y="1635633"/>
                    <a:pt x="11120882" y="1643126"/>
                    <a:pt x="11111611" y="1643126"/>
                  </a:cubicBezTo>
                  <a:lnTo>
                    <a:pt x="16891" y="1643126"/>
                  </a:lnTo>
                  <a:cubicBezTo>
                    <a:pt x="7493" y="1643126"/>
                    <a:pt x="0" y="1635506"/>
                    <a:pt x="0" y="1626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26235"/>
                  </a:lnTo>
                  <a:lnTo>
                    <a:pt x="16891" y="1626235"/>
                  </a:lnTo>
                  <a:lnTo>
                    <a:pt x="16891" y="1609344"/>
                  </a:lnTo>
                  <a:lnTo>
                    <a:pt x="11111611" y="1609344"/>
                  </a:lnTo>
                  <a:lnTo>
                    <a:pt x="11111611" y="1626235"/>
                  </a:lnTo>
                  <a:lnTo>
                    <a:pt x="11094720" y="1626235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9600438" y="3565398"/>
            <a:ext cx="842772" cy="842772"/>
            <a:chOff x="0" y="0"/>
            <a:chExt cx="1123696" cy="1123696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25400" y="2540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06B6C8">
                <a:alpha val="8627"/>
              </a:srgbClr>
            </a:solidFill>
          </p:spPr>
        </p:sp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1123696" cy="1123696"/>
            </a:xfrm>
            <a:custGeom>
              <a:avLst/>
              <a:gdLst/>
              <a:ahLst/>
              <a:cxnLst/>
              <a:rect r="r" b="b" t="t" l="l"/>
              <a:pathLst>
                <a:path h="1123696" w="1123696">
                  <a:moveTo>
                    <a:pt x="0" y="561848"/>
                  </a:moveTo>
                  <a:cubicBezTo>
                    <a:pt x="0" y="251587"/>
                    <a:pt x="251587" y="0"/>
                    <a:pt x="561848" y="0"/>
                  </a:cubicBezTo>
                  <a:lnTo>
                    <a:pt x="561848" y="25400"/>
                  </a:lnTo>
                  <a:lnTo>
                    <a:pt x="561848" y="0"/>
                  </a:lnTo>
                  <a:cubicBezTo>
                    <a:pt x="872109" y="0"/>
                    <a:pt x="1123696" y="251587"/>
                    <a:pt x="1123696" y="561848"/>
                  </a:cubicBezTo>
                  <a:lnTo>
                    <a:pt x="1098296" y="561848"/>
                  </a:lnTo>
                  <a:lnTo>
                    <a:pt x="1123696" y="561848"/>
                  </a:lnTo>
                  <a:cubicBezTo>
                    <a:pt x="1123696" y="872109"/>
                    <a:pt x="872109" y="1123696"/>
                    <a:pt x="561848" y="1123696"/>
                  </a:cubicBezTo>
                  <a:lnTo>
                    <a:pt x="561848" y="1098296"/>
                  </a:lnTo>
                  <a:lnTo>
                    <a:pt x="561848" y="1123696"/>
                  </a:lnTo>
                  <a:cubicBezTo>
                    <a:pt x="251587" y="1123696"/>
                    <a:pt x="0" y="872109"/>
                    <a:pt x="0" y="561848"/>
                  </a:cubicBezTo>
                  <a:lnTo>
                    <a:pt x="25400" y="561848"/>
                  </a:lnTo>
                  <a:lnTo>
                    <a:pt x="50800" y="561848"/>
                  </a:lnTo>
                  <a:lnTo>
                    <a:pt x="25400" y="561848"/>
                  </a:lnTo>
                  <a:lnTo>
                    <a:pt x="0" y="561848"/>
                  </a:lnTo>
                  <a:moveTo>
                    <a:pt x="50800" y="561848"/>
                  </a:moveTo>
                  <a:cubicBezTo>
                    <a:pt x="50800" y="575818"/>
                    <a:pt x="39370" y="587248"/>
                    <a:pt x="25400" y="587248"/>
                  </a:cubicBezTo>
                  <a:cubicBezTo>
                    <a:pt x="11430" y="587248"/>
                    <a:pt x="0" y="575818"/>
                    <a:pt x="0" y="561848"/>
                  </a:cubicBezTo>
                  <a:cubicBezTo>
                    <a:pt x="0" y="547878"/>
                    <a:pt x="11430" y="536448"/>
                    <a:pt x="25400" y="536448"/>
                  </a:cubicBezTo>
                  <a:cubicBezTo>
                    <a:pt x="39370" y="536448"/>
                    <a:pt x="50800" y="547878"/>
                    <a:pt x="50800" y="561848"/>
                  </a:cubicBezTo>
                  <a:cubicBezTo>
                    <a:pt x="50800" y="844042"/>
                    <a:pt x="279654" y="1072896"/>
                    <a:pt x="561848" y="1072896"/>
                  </a:cubicBezTo>
                  <a:cubicBezTo>
                    <a:pt x="844042" y="1072896"/>
                    <a:pt x="1072896" y="844042"/>
                    <a:pt x="1072896" y="561848"/>
                  </a:cubicBezTo>
                  <a:cubicBezTo>
                    <a:pt x="1072896" y="279654"/>
                    <a:pt x="844042" y="50800"/>
                    <a:pt x="561848" y="50800"/>
                  </a:cubicBezTo>
                  <a:lnTo>
                    <a:pt x="561848" y="25400"/>
                  </a:lnTo>
                  <a:lnTo>
                    <a:pt x="561848" y="50800"/>
                  </a:lnTo>
                  <a:cubicBezTo>
                    <a:pt x="279654" y="50800"/>
                    <a:pt x="50800" y="279654"/>
                    <a:pt x="50800" y="561848"/>
                  </a:cubicBez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9619488" y="3584448"/>
            <a:ext cx="804672" cy="804672"/>
            <a:chOff x="0" y="0"/>
            <a:chExt cx="1072896" cy="1072896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47625"/>
              <a:ext cx="1072896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10607040" y="3474720"/>
            <a:ext cx="6986016" cy="512064"/>
            <a:chOff x="0" y="0"/>
            <a:chExt cx="9314688" cy="682752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9314688" cy="682752"/>
            </a:xfrm>
            <a:custGeom>
              <a:avLst/>
              <a:gdLst/>
              <a:ahLst/>
              <a:cxnLst/>
              <a:rect r="r" b="b" t="t" l="l"/>
              <a:pathLst>
                <a:path h="682752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831" r="0" b="-215831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47625"/>
              <a:ext cx="9314688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Build Indexes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10607040" y="3986784"/>
            <a:ext cx="6986016" cy="512064"/>
            <a:chOff x="0" y="0"/>
            <a:chExt cx="9314688" cy="682752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9314688" cy="682752"/>
            </a:xfrm>
            <a:custGeom>
              <a:avLst/>
              <a:gdLst/>
              <a:ahLst/>
              <a:cxnLst/>
              <a:rect r="r" b="b" t="t" l="l"/>
              <a:pathLst>
                <a:path h="682752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831" r="0" b="-215831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38100"/>
              <a:ext cx="931468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 domain paths → BlindDropIndexManager → B+ Tree instances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11764775" y="4614167"/>
            <a:ext cx="98555" cy="153419"/>
            <a:chOff x="0" y="0"/>
            <a:chExt cx="131407" cy="204559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16891" y="16891"/>
              <a:ext cx="97536" cy="170688"/>
            </a:xfrm>
            <a:custGeom>
              <a:avLst/>
              <a:gdLst/>
              <a:ahLst/>
              <a:cxnLst/>
              <a:rect r="r" b="b" t="t" l="l"/>
              <a:pathLst>
                <a:path h="170688" w="97536">
                  <a:moveTo>
                    <a:pt x="0" y="0"/>
                  </a:moveTo>
                  <a:lnTo>
                    <a:pt x="97536" y="0"/>
                  </a:lnTo>
                  <a:lnTo>
                    <a:pt x="97536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8BAFC7"/>
            </a:solidFill>
          </p:spPr>
        </p:sp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131318" cy="204472"/>
            </a:xfrm>
            <a:custGeom>
              <a:avLst/>
              <a:gdLst/>
              <a:ahLst/>
              <a:cxnLst/>
              <a:rect r="r" b="b" t="t" l="l"/>
              <a:pathLst>
                <a:path h="204472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87579"/>
                  </a:lnTo>
                  <a:cubicBezTo>
                    <a:pt x="131318" y="196977"/>
                    <a:pt x="123698" y="204470"/>
                    <a:pt x="114427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14427" y="170688"/>
                  </a:lnTo>
                  <a:lnTo>
                    <a:pt x="114427" y="187579"/>
                  </a:lnTo>
                  <a:lnTo>
                    <a:pt x="97536" y="187579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9497063" y="4742183"/>
            <a:ext cx="8346443" cy="1232411"/>
            <a:chOff x="0" y="0"/>
            <a:chExt cx="11128591" cy="1643215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16891" y="16891"/>
              <a:ext cx="11094720" cy="1609344"/>
            </a:xfrm>
            <a:custGeom>
              <a:avLst/>
              <a:gdLst/>
              <a:ahLst/>
              <a:cxnLst/>
              <a:rect r="r" b="b" t="t" l="l"/>
              <a:pathLst>
                <a:path h="1609344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11128501" cy="1643126"/>
            </a:xfrm>
            <a:custGeom>
              <a:avLst/>
              <a:gdLst/>
              <a:ahLst/>
              <a:cxnLst/>
              <a:rect r="r" b="b" t="t" l="l"/>
              <a:pathLst>
                <a:path h="1643126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626235"/>
                  </a:lnTo>
                  <a:cubicBezTo>
                    <a:pt x="11128501" y="1635633"/>
                    <a:pt x="11120882" y="1643126"/>
                    <a:pt x="11111611" y="1643126"/>
                  </a:cubicBezTo>
                  <a:lnTo>
                    <a:pt x="16891" y="1643126"/>
                  </a:lnTo>
                  <a:cubicBezTo>
                    <a:pt x="7493" y="1643126"/>
                    <a:pt x="0" y="1635506"/>
                    <a:pt x="0" y="1626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26235"/>
                  </a:lnTo>
                  <a:lnTo>
                    <a:pt x="16891" y="1626235"/>
                  </a:lnTo>
                  <a:lnTo>
                    <a:pt x="16891" y="1609344"/>
                  </a:lnTo>
                  <a:lnTo>
                    <a:pt x="11111611" y="1609344"/>
                  </a:lnTo>
                  <a:lnTo>
                    <a:pt x="11111611" y="1626235"/>
                  </a:lnTo>
                  <a:lnTo>
                    <a:pt x="11094720" y="1626235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58" id="158"/>
          <p:cNvGrpSpPr/>
          <p:nvPr/>
        </p:nvGrpSpPr>
        <p:grpSpPr>
          <a:xfrm rot="0">
            <a:off x="9600438" y="4918710"/>
            <a:ext cx="842772" cy="842772"/>
            <a:chOff x="0" y="0"/>
            <a:chExt cx="1123696" cy="112369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25400" y="2540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F59E0B">
                <a:alpha val="8627"/>
              </a:srgbClr>
            </a:solidFill>
          </p:spPr>
        </p:sp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1123696" cy="1123696"/>
            </a:xfrm>
            <a:custGeom>
              <a:avLst/>
              <a:gdLst/>
              <a:ahLst/>
              <a:cxnLst/>
              <a:rect r="r" b="b" t="t" l="l"/>
              <a:pathLst>
                <a:path h="1123696" w="1123696">
                  <a:moveTo>
                    <a:pt x="0" y="561848"/>
                  </a:moveTo>
                  <a:cubicBezTo>
                    <a:pt x="0" y="251587"/>
                    <a:pt x="251587" y="0"/>
                    <a:pt x="561848" y="0"/>
                  </a:cubicBezTo>
                  <a:lnTo>
                    <a:pt x="561848" y="25400"/>
                  </a:lnTo>
                  <a:lnTo>
                    <a:pt x="561848" y="0"/>
                  </a:lnTo>
                  <a:cubicBezTo>
                    <a:pt x="872109" y="0"/>
                    <a:pt x="1123696" y="251587"/>
                    <a:pt x="1123696" y="561848"/>
                  </a:cubicBezTo>
                  <a:lnTo>
                    <a:pt x="1098296" y="561848"/>
                  </a:lnTo>
                  <a:lnTo>
                    <a:pt x="1123696" y="561848"/>
                  </a:lnTo>
                  <a:cubicBezTo>
                    <a:pt x="1123696" y="872109"/>
                    <a:pt x="872109" y="1123696"/>
                    <a:pt x="561848" y="1123696"/>
                  </a:cubicBezTo>
                  <a:lnTo>
                    <a:pt x="561848" y="1098296"/>
                  </a:lnTo>
                  <a:lnTo>
                    <a:pt x="561848" y="1123696"/>
                  </a:lnTo>
                  <a:cubicBezTo>
                    <a:pt x="251587" y="1123696"/>
                    <a:pt x="0" y="872109"/>
                    <a:pt x="0" y="561848"/>
                  </a:cubicBezTo>
                  <a:lnTo>
                    <a:pt x="25400" y="561848"/>
                  </a:lnTo>
                  <a:lnTo>
                    <a:pt x="50800" y="561848"/>
                  </a:lnTo>
                  <a:lnTo>
                    <a:pt x="25400" y="561848"/>
                  </a:lnTo>
                  <a:lnTo>
                    <a:pt x="0" y="561848"/>
                  </a:lnTo>
                  <a:moveTo>
                    <a:pt x="50800" y="561848"/>
                  </a:moveTo>
                  <a:cubicBezTo>
                    <a:pt x="50800" y="575818"/>
                    <a:pt x="39370" y="587248"/>
                    <a:pt x="25400" y="587248"/>
                  </a:cubicBezTo>
                  <a:cubicBezTo>
                    <a:pt x="11430" y="587248"/>
                    <a:pt x="0" y="575818"/>
                    <a:pt x="0" y="561848"/>
                  </a:cubicBezTo>
                  <a:cubicBezTo>
                    <a:pt x="0" y="547878"/>
                    <a:pt x="11430" y="536448"/>
                    <a:pt x="25400" y="536448"/>
                  </a:cubicBezTo>
                  <a:cubicBezTo>
                    <a:pt x="39370" y="536448"/>
                    <a:pt x="50800" y="547878"/>
                    <a:pt x="50800" y="561848"/>
                  </a:cubicBezTo>
                  <a:cubicBezTo>
                    <a:pt x="50800" y="844042"/>
                    <a:pt x="279654" y="1072896"/>
                    <a:pt x="561848" y="1072896"/>
                  </a:cubicBezTo>
                  <a:cubicBezTo>
                    <a:pt x="844042" y="1072896"/>
                    <a:pt x="1072896" y="844042"/>
                    <a:pt x="1072896" y="561848"/>
                  </a:cubicBezTo>
                  <a:cubicBezTo>
                    <a:pt x="1072896" y="279654"/>
                    <a:pt x="844042" y="50800"/>
                    <a:pt x="561848" y="50800"/>
                  </a:cubicBezTo>
                  <a:lnTo>
                    <a:pt x="561848" y="25400"/>
                  </a:lnTo>
                  <a:lnTo>
                    <a:pt x="561848" y="50800"/>
                  </a:lnTo>
                  <a:cubicBezTo>
                    <a:pt x="279654" y="50800"/>
                    <a:pt x="50800" y="279654"/>
                    <a:pt x="50800" y="561848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61" id="161"/>
          <p:cNvGrpSpPr/>
          <p:nvPr/>
        </p:nvGrpSpPr>
        <p:grpSpPr>
          <a:xfrm rot="0">
            <a:off x="9619488" y="4937760"/>
            <a:ext cx="804672" cy="804672"/>
            <a:chOff x="0" y="0"/>
            <a:chExt cx="1072896" cy="1072896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63" id="163"/>
            <p:cNvSpPr txBox="true"/>
            <p:nvPr/>
          </p:nvSpPr>
          <p:spPr>
            <a:xfrm>
              <a:off x="0" y="-47625"/>
              <a:ext cx="1072896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</a:t>
              </a:r>
            </a:p>
          </p:txBody>
        </p:sp>
      </p:grpSp>
      <p:grpSp>
        <p:nvGrpSpPr>
          <p:cNvPr name="Group 164" id="164"/>
          <p:cNvGrpSpPr/>
          <p:nvPr/>
        </p:nvGrpSpPr>
        <p:grpSpPr>
          <a:xfrm rot="0">
            <a:off x="10607040" y="4828032"/>
            <a:ext cx="6986016" cy="512064"/>
            <a:chOff x="0" y="0"/>
            <a:chExt cx="9314688" cy="682752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9314688" cy="682752"/>
            </a:xfrm>
            <a:custGeom>
              <a:avLst/>
              <a:gdLst/>
              <a:ahLst/>
              <a:cxnLst/>
              <a:rect r="r" b="b" t="t" l="l"/>
              <a:pathLst>
                <a:path h="682752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831" r="0" b="-215831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47625"/>
              <a:ext cx="9314688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Parity Check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10607040" y="5340096"/>
            <a:ext cx="6986016" cy="512064"/>
            <a:chOff x="0" y="0"/>
            <a:chExt cx="9314688" cy="682752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9314688" cy="682752"/>
            </a:xfrm>
            <a:custGeom>
              <a:avLst/>
              <a:gdLst/>
              <a:ahLst/>
              <a:cxnLst/>
              <a:rect r="r" b="b" t="t" l="l"/>
              <a:pathLst>
                <a:path h="682752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831" r="0" b="-215831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38100"/>
              <a:ext cx="931468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DB-commit simulation → forced failure rollback → divergence test → repair</a:t>
              </a:r>
            </a:p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11764775" y="5967479"/>
            <a:ext cx="98555" cy="153419"/>
            <a:chOff x="0" y="0"/>
            <a:chExt cx="131407" cy="204559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16891" y="16891"/>
              <a:ext cx="97536" cy="170688"/>
            </a:xfrm>
            <a:custGeom>
              <a:avLst/>
              <a:gdLst/>
              <a:ahLst/>
              <a:cxnLst/>
              <a:rect r="r" b="b" t="t" l="l"/>
              <a:pathLst>
                <a:path h="170688" w="97536">
                  <a:moveTo>
                    <a:pt x="0" y="0"/>
                  </a:moveTo>
                  <a:lnTo>
                    <a:pt x="97536" y="0"/>
                  </a:lnTo>
                  <a:lnTo>
                    <a:pt x="97536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8BAFC7"/>
            </a:solidFill>
          </p:spPr>
        </p:sp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131318" cy="204472"/>
            </a:xfrm>
            <a:custGeom>
              <a:avLst/>
              <a:gdLst/>
              <a:ahLst/>
              <a:cxnLst/>
              <a:rect r="r" b="b" t="t" l="l"/>
              <a:pathLst>
                <a:path h="204472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87579"/>
                  </a:lnTo>
                  <a:cubicBezTo>
                    <a:pt x="131318" y="196977"/>
                    <a:pt x="123698" y="204470"/>
                    <a:pt x="114427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14427" y="170688"/>
                  </a:lnTo>
                  <a:lnTo>
                    <a:pt x="114427" y="187579"/>
                  </a:lnTo>
                  <a:lnTo>
                    <a:pt x="97536" y="187579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173" id="173"/>
          <p:cNvGrpSpPr/>
          <p:nvPr/>
        </p:nvGrpSpPr>
        <p:grpSpPr>
          <a:xfrm rot="0">
            <a:off x="9497063" y="6095495"/>
            <a:ext cx="8346443" cy="1232411"/>
            <a:chOff x="0" y="0"/>
            <a:chExt cx="11128591" cy="1643215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16891" y="16891"/>
              <a:ext cx="11094720" cy="1609344"/>
            </a:xfrm>
            <a:custGeom>
              <a:avLst/>
              <a:gdLst/>
              <a:ahLst/>
              <a:cxnLst/>
              <a:rect r="r" b="b" t="t" l="l"/>
              <a:pathLst>
                <a:path h="1609344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11128501" cy="1643126"/>
            </a:xfrm>
            <a:custGeom>
              <a:avLst/>
              <a:gdLst/>
              <a:ahLst/>
              <a:cxnLst/>
              <a:rect r="r" b="b" t="t" l="l"/>
              <a:pathLst>
                <a:path h="1643126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626235"/>
                  </a:lnTo>
                  <a:cubicBezTo>
                    <a:pt x="11128501" y="1635633"/>
                    <a:pt x="11120882" y="1643126"/>
                    <a:pt x="11111611" y="1643126"/>
                  </a:cubicBezTo>
                  <a:lnTo>
                    <a:pt x="16891" y="1643126"/>
                  </a:lnTo>
                  <a:cubicBezTo>
                    <a:pt x="7493" y="1643126"/>
                    <a:pt x="0" y="1635506"/>
                    <a:pt x="0" y="1626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26235"/>
                  </a:lnTo>
                  <a:lnTo>
                    <a:pt x="16891" y="1626235"/>
                  </a:lnTo>
                  <a:lnTo>
                    <a:pt x="16891" y="1609344"/>
                  </a:lnTo>
                  <a:lnTo>
                    <a:pt x="11111611" y="1609344"/>
                  </a:lnTo>
                  <a:lnTo>
                    <a:pt x="11111611" y="1626235"/>
                  </a:lnTo>
                  <a:lnTo>
                    <a:pt x="11094720" y="1626235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9600438" y="6272022"/>
            <a:ext cx="842772" cy="842772"/>
            <a:chOff x="0" y="0"/>
            <a:chExt cx="1123696" cy="1123696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25400" y="2540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8B5CF6">
                <a:alpha val="8627"/>
              </a:srgbClr>
            </a:solidFill>
          </p:spPr>
        </p:sp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1123696" cy="1123696"/>
            </a:xfrm>
            <a:custGeom>
              <a:avLst/>
              <a:gdLst/>
              <a:ahLst/>
              <a:cxnLst/>
              <a:rect r="r" b="b" t="t" l="l"/>
              <a:pathLst>
                <a:path h="1123696" w="1123696">
                  <a:moveTo>
                    <a:pt x="0" y="561848"/>
                  </a:moveTo>
                  <a:cubicBezTo>
                    <a:pt x="0" y="251587"/>
                    <a:pt x="251587" y="0"/>
                    <a:pt x="561848" y="0"/>
                  </a:cubicBezTo>
                  <a:lnTo>
                    <a:pt x="561848" y="25400"/>
                  </a:lnTo>
                  <a:lnTo>
                    <a:pt x="561848" y="0"/>
                  </a:lnTo>
                  <a:cubicBezTo>
                    <a:pt x="872109" y="0"/>
                    <a:pt x="1123696" y="251587"/>
                    <a:pt x="1123696" y="561848"/>
                  </a:cubicBezTo>
                  <a:lnTo>
                    <a:pt x="1098296" y="561848"/>
                  </a:lnTo>
                  <a:lnTo>
                    <a:pt x="1123696" y="561848"/>
                  </a:lnTo>
                  <a:cubicBezTo>
                    <a:pt x="1123696" y="872109"/>
                    <a:pt x="872109" y="1123696"/>
                    <a:pt x="561848" y="1123696"/>
                  </a:cubicBezTo>
                  <a:lnTo>
                    <a:pt x="561848" y="1098296"/>
                  </a:lnTo>
                  <a:lnTo>
                    <a:pt x="561848" y="1123696"/>
                  </a:lnTo>
                  <a:cubicBezTo>
                    <a:pt x="251587" y="1123696"/>
                    <a:pt x="0" y="872109"/>
                    <a:pt x="0" y="561848"/>
                  </a:cubicBezTo>
                  <a:lnTo>
                    <a:pt x="25400" y="561848"/>
                  </a:lnTo>
                  <a:lnTo>
                    <a:pt x="50800" y="561848"/>
                  </a:lnTo>
                  <a:lnTo>
                    <a:pt x="25400" y="561848"/>
                  </a:lnTo>
                  <a:lnTo>
                    <a:pt x="0" y="561848"/>
                  </a:lnTo>
                  <a:moveTo>
                    <a:pt x="50800" y="561848"/>
                  </a:moveTo>
                  <a:cubicBezTo>
                    <a:pt x="50800" y="575818"/>
                    <a:pt x="39370" y="587248"/>
                    <a:pt x="25400" y="587248"/>
                  </a:cubicBezTo>
                  <a:cubicBezTo>
                    <a:pt x="11430" y="587248"/>
                    <a:pt x="0" y="575818"/>
                    <a:pt x="0" y="561848"/>
                  </a:cubicBezTo>
                  <a:cubicBezTo>
                    <a:pt x="0" y="547878"/>
                    <a:pt x="11430" y="536448"/>
                    <a:pt x="25400" y="536448"/>
                  </a:cubicBezTo>
                  <a:cubicBezTo>
                    <a:pt x="39370" y="536448"/>
                    <a:pt x="50800" y="547878"/>
                    <a:pt x="50800" y="561848"/>
                  </a:cubicBezTo>
                  <a:cubicBezTo>
                    <a:pt x="50800" y="844042"/>
                    <a:pt x="279654" y="1072896"/>
                    <a:pt x="561848" y="1072896"/>
                  </a:cubicBezTo>
                  <a:cubicBezTo>
                    <a:pt x="844042" y="1072896"/>
                    <a:pt x="1072896" y="844042"/>
                    <a:pt x="1072896" y="561848"/>
                  </a:cubicBezTo>
                  <a:cubicBezTo>
                    <a:pt x="1072896" y="279654"/>
                    <a:pt x="844042" y="50800"/>
                    <a:pt x="561848" y="50800"/>
                  </a:cubicBezTo>
                  <a:lnTo>
                    <a:pt x="561848" y="25400"/>
                  </a:lnTo>
                  <a:lnTo>
                    <a:pt x="561848" y="50800"/>
                  </a:lnTo>
                  <a:cubicBezTo>
                    <a:pt x="279654" y="50800"/>
                    <a:pt x="50800" y="279654"/>
                    <a:pt x="50800" y="561848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179" id="179"/>
          <p:cNvGrpSpPr/>
          <p:nvPr/>
        </p:nvGrpSpPr>
        <p:grpSpPr>
          <a:xfrm rot="0">
            <a:off x="9619488" y="6291072"/>
            <a:ext cx="804672" cy="804672"/>
            <a:chOff x="0" y="0"/>
            <a:chExt cx="1072896" cy="1072896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81" id="181"/>
            <p:cNvSpPr txBox="true"/>
            <p:nvPr/>
          </p:nvSpPr>
          <p:spPr>
            <a:xfrm>
              <a:off x="0" y="-47625"/>
              <a:ext cx="1072896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8B5C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</a:t>
              </a:r>
            </a:p>
          </p:txBody>
        </p:sp>
      </p:grpSp>
      <p:grpSp>
        <p:nvGrpSpPr>
          <p:cNvPr name="Group 182" id="182"/>
          <p:cNvGrpSpPr/>
          <p:nvPr/>
        </p:nvGrpSpPr>
        <p:grpSpPr>
          <a:xfrm rot="0">
            <a:off x="10607040" y="6181344"/>
            <a:ext cx="6986016" cy="512064"/>
            <a:chOff x="0" y="0"/>
            <a:chExt cx="9314688" cy="682752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9314688" cy="682752"/>
            </a:xfrm>
            <a:custGeom>
              <a:avLst/>
              <a:gdLst/>
              <a:ahLst/>
              <a:cxnLst/>
              <a:rect r="r" b="b" t="t" l="l"/>
              <a:pathLst>
                <a:path h="682752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831" r="0" b="-215831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-47625"/>
              <a:ext cx="9314688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8B5C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Benchmark Sweep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10607040" y="6693408"/>
            <a:ext cx="6986016" cy="512064"/>
            <a:chOff x="0" y="0"/>
            <a:chExt cx="9314688" cy="682752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9314688" cy="682752"/>
            </a:xfrm>
            <a:custGeom>
              <a:avLst/>
              <a:gdLst/>
              <a:ahLst/>
              <a:cxnLst/>
              <a:rect r="r" b="b" t="t" l="l"/>
              <a:pathLst>
                <a:path h="682752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831" r="0" b="-21583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-38100"/>
              <a:ext cx="931468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500→19,500 rows × 20 points; 500→21,500 × 22 pts detailed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11764775" y="7320791"/>
            <a:ext cx="98555" cy="153419"/>
            <a:chOff x="0" y="0"/>
            <a:chExt cx="131407" cy="204559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16891" y="16891"/>
              <a:ext cx="97536" cy="170688"/>
            </a:xfrm>
            <a:custGeom>
              <a:avLst/>
              <a:gdLst/>
              <a:ahLst/>
              <a:cxnLst/>
              <a:rect r="r" b="b" t="t" l="l"/>
              <a:pathLst>
                <a:path h="170688" w="97536">
                  <a:moveTo>
                    <a:pt x="0" y="0"/>
                  </a:moveTo>
                  <a:lnTo>
                    <a:pt x="97536" y="0"/>
                  </a:lnTo>
                  <a:lnTo>
                    <a:pt x="97536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8BAFC7"/>
            </a:solidFill>
          </p:spPr>
        </p:sp>
        <p:sp>
          <p:nvSpPr>
            <p:cNvPr name="Freeform 190" id="190"/>
            <p:cNvSpPr/>
            <p:nvPr/>
          </p:nvSpPr>
          <p:spPr>
            <a:xfrm flipH="false" flipV="false" rot="0">
              <a:off x="0" y="0"/>
              <a:ext cx="131318" cy="204472"/>
            </a:xfrm>
            <a:custGeom>
              <a:avLst/>
              <a:gdLst/>
              <a:ahLst/>
              <a:cxnLst/>
              <a:rect r="r" b="b" t="t" l="l"/>
              <a:pathLst>
                <a:path h="204472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87579"/>
                  </a:lnTo>
                  <a:cubicBezTo>
                    <a:pt x="131318" y="196977"/>
                    <a:pt x="123698" y="204470"/>
                    <a:pt x="114427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14427" y="170688"/>
                  </a:lnTo>
                  <a:lnTo>
                    <a:pt x="114427" y="187579"/>
                  </a:lnTo>
                  <a:lnTo>
                    <a:pt x="97536" y="187579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191" id="191"/>
          <p:cNvGrpSpPr/>
          <p:nvPr/>
        </p:nvGrpSpPr>
        <p:grpSpPr>
          <a:xfrm rot="0">
            <a:off x="9497063" y="7448807"/>
            <a:ext cx="8346443" cy="1232411"/>
            <a:chOff x="0" y="0"/>
            <a:chExt cx="11128591" cy="1643215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16891" y="16891"/>
              <a:ext cx="11094720" cy="1609344"/>
            </a:xfrm>
            <a:custGeom>
              <a:avLst/>
              <a:gdLst/>
              <a:ahLst/>
              <a:cxnLst/>
              <a:rect r="r" b="b" t="t" l="l"/>
              <a:pathLst>
                <a:path h="1609344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11128501" cy="1643126"/>
            </a:xfrm>
            <a:custGeom>
              <a:avLst/>
              <a:gdLst/>
              <a:ahLst/>
              <a:cxnLst/>
              <a:rect r="r" b="b" t="t" l="l"/>
              <a:pathLst>
                <a:path h="1643126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626235"/>
                  </a:lnTo>
                  <a:cubicBezTo>
                    <a:pt x="11128501" y="1635633"/>
                    <a:pt x="11120882" y="1643126"/>
                    <a:pt x="11111611" y="1643126"/>
                  </a:cubicBezTo>
                  <a:lnTo>
                    <a:pt x="16891" y="1643126"/>
                  </a:lnTo>
                  <a:cubicBezTo>
                    <a:pt x="7493" y="1643126"/>
                    <a:pt x="0" y="1635506"/>
                    <a:pt x="0" y="1626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26235"/>
                  </a:lnTo>
                  <a:lnTo>
                    <a:pt x="16891" y="1626235"/>
                  </a:lnTo>
                  <a:lnTo>
                    <a:pt x="16891" y="1609344"/>
                  </a:lnTo>
                  <a:lnTo>
                    <a:pt x="11111611" y="1609344"/>
                  </a:lnTo>
                  <a:lnTo>
                    <a:pt x="11111611" y="1626235"/>
                  </a:lnTo>
                  <a:lnTo>
                    <a:pt x="11094720" y="1626235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9600438" y="7625334"/>
            <a:ext cx="842772" cy="842772"/>
            <a:chOff x="0" y="0"/>
            <a:chExt cx="1123696" cy="1123696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25400" y="2540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2DD4BF">
                <a:alpha val="8627"/>
              </a:srgbClr>
            </a:solidFill>
          </p:spPr>
        </p:sp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1123696" cy="1123696"/>
            </a:xfrm>
            <a:custGeom>
              <a:avLst/>
              <a:gdLst/>
              <a:ahLst/>
              <a:cxnLst/>
              <a:rect r="r" b="b" t="t" l="l"/>
              <a:pathLst>
                <a:path h="1123696" w="1123696">
                  <a:moveTo>
                    <a:pt x="0" y="561848"/>
                  </a:moveTo>
                  <a:cubicBezTo>
                    <a:pt x="0" y="251587"/>
                    <a:pt x="251587" y="0"/>
                    <a:pt x="561848" y="0"/>
                  </a:cubicBezTo>
                  <a:lnTo>
                    <a:pt x="561848" y="25400"/>
                  </a:lnTo>
                  <a:lnTo>
                    <a:pt x="561848" y="0"/>
                  </a:lnTo>
                  <a:cubicBezTo>
                    <a:pt x="872109" y="0"/>
                    <a:pt x="1123696" y="251587"/>
                    <a:pt x="1123696" y="561848"/>
                  </a:cubicBezTo>
                  <a:lnTo>
                    <a:pt x="1098296" y="561848"/>
                  </a:lnTo>
                  <a:lnTo>
                    <a:pt x="1123696" y="561848"/>
                  </a:lnTo>
                  <a:cubicBezTo>
                    <a:pt x="1123696" y="872109"/>
                    <a:pt x="872109" y="1123696"/>
                    <a:pt x="561848" y="1123696"/>
                  </a:cubicBezTo>
                  <a:lnTo>
                    <a:pt x="561848" y="1098296"/>
                  </a:lnTo>
                  <a:lnTo>
                    <a:pt x="561848" y="1123696"/>
                  </a:lnTo>
                  <a:cubicBezTo>
                    <a:pt x="251587" y="1123696"/>
                    <a:pt x="0" y="872109"/>
                    <a:pt x="0" y="561848"/>
                  </a:cubicBezTo>
                  <a:lnTo>
                    <a:pt x="25400" y="561848"/>
                  </a:lnTo>
                  <a:lnTo>
                    <a:pt x="50800" y="561848"/>
                  </a:lnTo>
                  <a:lnTo>
                    <a:pt x="25400" y="561848"/>
                  </a:lnTo>
                  <a:lnTo>
                    <a:pt x="0" y="561848"/>
                  </a:lnTo>
                  <a:moveTo>
                    <a:pt x="50800" y="561848"/>
                  </a:moveTo>
                  <a:cubicBezTo>
                    <a:pt x="50800" y="575818"/>
                    <a:pt x="39370" y="587248"/>
                    <a:pt x="25400" y="587248"/>
                  </a:cubicBezTo>
                  <a:cubicBezTo>
                    <a:pt x="11430" y="587248"/>
                    <a:pt x="0" y="575818"/>
                    <a:pt x="0" y="561848"/>
                  </a:cubicBezTo>
                  <a:cubicBezTo>
                    <a:pt x="0" y="547878"/>
                    <a:pt x="11430" y="536448"/>
                    <a:pt x="25400" y="536448"/>
                  </a:cubicBezTo>
                  <a:cubicBezTo>
                    <a:pt x="39370" y="536448"/>
                    <a:pt x="50800" y="547878"/>
                    <a:pt x="50800" y="561848"/>
                  </a:cubicBezTo>
                  <a:cubicBezTo>
                    <a:pt x="50800" y="844042"/>
                    <a:pt x="279654" y="1072896"/>
                    <a:pt x="561848" y="1072896"/>
                  </a:cubicBezTo>
                  <a:cubicBezTo>
                    <a:pt x="844042" y="1072896"/>
                    <a:pt x="1072896" y="844042"/>
                    <a:pt x="1072896" y="561848"/>
                  </a:cubicBezTo>
                  <a:cubicBezTo>
                    <a:pt x="1072896" y="279654"/>
                    <a:pt x="844042" y="50800"/>
                    <a:pt x="561848" y="50800"/>
                  </a:cubicBezTo>
                  <a:lnTo>
                    <a:pt x="561848" y="25400"/>
                  </a:lnTo>
                  <a:lnTo>
                    <a:pt x="561848" y="50800"/>
                  </a:lnTo>
                  <a:cubicBezTo>
                    <a:pt x="279654" y="50800"/>
                    <a:pt x="50800" y="279654"/>
                    <a:pt x="50800" y="561848"/>
                  </a:cubicBez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197" id="197"/>
          <p:cNvGrpSpPr/>
          <p:nvPr/>
        </p:nvGrpSpPr>
        <p:grpSpPr>
          <a:xfrm rot="0">
            <a:off x="9619488" y="7644384"/>
            <a:ext cx="804672" cy="804672"/>
            <a:chOff x="0" y="0"/>
            <a:chExt cx="1072896" cy="1072896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-47625"/>
              <a:ext cx="1072896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2DD4B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10607040" y="7534656"/>
            <a:ext cx="6986016" cy="512064"/>
            <a:chOff x="0" y="0"/>
            <a:chExt cx="9314688" cy="682752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9314688" cy="682752"/>
            </a:xfrm>
            <a:custGeom>
              <a:avLst/>
              <a:gdLst/>
              <a:ahLst/>
              <a:cxnLst/>
              <a:rect r="r" b="b" t="t" l="l"/>
              <a:pathLst>
                <a:path h="682752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831" r="0" b="-21583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-47625"/>
              <a:ext cx="9314688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2DD4B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Render Trees</a:t>
              </a:r>
            </a:p>
          </p:txBody>
        </p:sp>
      </p:grpSp>
      <p:grpSp>
        <p:nvGrpSpPr>
          <p:cNvPr name="Group 203" id="203"/>
          <p:cNvGrpSpPr/>
          <p:nvPr/>
        </p:nvGrpSpPr>
        <p:grpSpPr>
          <a:xfrm rot="0">
            <a:off x="10607040" y="8046720"/>
            <a:ext cx="6986016" cy="512064"/>
            <a:chOff x="0" y="0"/>
            <a:chExt cx="9314688" cy="682752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0" y="0"/>
              <a:ext cx="9314688" cy="682752"/>
            </a:xfrm>
            <a:custGeom>
              <a:avLst/>
              <a:gdLst/>
              <a:ahLst/>
              <a:cxnLst/>
              <a:rect r="r" b="b" t="t" l="l"/>
              <a:pathLst>
                <a:path h="682752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831" r="0" b="-215831"/>
              </a:stretch>
            </a:blipFill>
          </p:spPr>
        </p:sp>
        <p:sp>
          <p:nvSpPr>
            <p:cNvPr name="TextBox 205" id="205"/>
            <p:cNvSpPr txBox="true"/>
            <p:nvPr/>
          </p:nvSpPr>
          <p:spPr>
            <a:xfrm>
              <a:off x="0" y="-38100"/>
              <a:ext cx="931468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render_bptree_v2.py → 19 Graphviz PNGs + render_manifest.json</a:t>
              </a:r>
            </a:p>
          </p:txBody>
        </p:sp>
      </p:grpSp>
      <p:grpSp>
        <p:nvGrpSpPr>
          <p:cNvPr name="Group 206" id="206"/>
          <p:cNvGrpSpPr/>
          <p:nvPr/>
        </p:nvGrpSpPr>
        <p:grpSpPr>
          <a:xfrm rot="0">
            <a:off x="11764775" y="8674103"/>
            <a:ext cx="98555" cy="153419"/>
            <a:chOff x="0" y="0"/>
            <a:chExt cx="131407" cy="204559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16891" y="16891"/>
              <a:ext cx="97536" cy="170688"/>
            </a:xfrm>
            <a:custGeom>
              <a:avLst/>
              <a:gdLst/>
              <a:ahLst/>
              <a:cxnLst/>
              <a:rect r="r" b="b" t="t" l="l"/>
              <a:pathLst>
                <a:path h="170688" w="97536">
                  <a:moveTo>
                    <a:pt x="0" y="0"/>
                  </a:moveTo>
                  <a:lnTo>
                    <a:pt x="97536" y="0"/>
                  </a:lnTo>
                  <a:lnTo>
                    <a:pt x="97536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8BAFC7"/>
            </a:solidFill>
          </p:spPr>
        </p:sp>
        <p:sp>
          <p:nvSpPr>
            <p:cNvPr name="Freeform 208" id="208"/>
            <p:cNvSpPr/>
            <p:nvPr/>
          </p:nvSpPr>
          <p:spPr>
            <a:xfrm flipH="false" flipV="false" rot="0">
              <a:off x="0" y="0"/>
              <a:ext cx="131318" cy="204472"/>
            </a:xfrm>
            <a:custGeom>
              <a:avLst/>
              <a:gdLst/>
              <a:ahLst/>
              <a:cxnLst/>
              <a:rect r="r" b="b" t="t" l="l"/>
              <a:pathLst>
                <a:path h="204472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87579"/>
                  </a:lnTo>
                  <a:cubicBezTo>
                    <a:pt x="131318" y="196977"/>
                    <a:pt x="123698" y="204470"/>
                    <a:pt x="114427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14427" y="170688"/>
                  </a:lnTo>
                  <a:lnTo>
                    <a:pt x="114427" y="187579"/>
                  </a:lnTo>
                  <a:lnTo>
                    <a:pt x="97536" y="187579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209" id="209"/>
          <p:cNvGrpSpPr/>
          <p:nvPr/>
        </p:nvGrpSpPr>
        <p:grpSpPr>
          <a:xfrm rot="0">
            <a:off x="9497063" y="8802119"/>
            <a:ext cx="8346443" cy="1232411"/>
            <a:chOff x="0" y="0"/>
            <a:chExt cx="11128591" cy="1643215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16891" y="16891"/>
              <a:ext cx="11094720" cy="1609344"/>
            </a:xfrm>
            <a:custGeom>
              <a:avLst/>
              <a:gdLst/>
              <a:ahLst/>
              <a:cxnLst/>
              <a:rect r="r" b="b" t="t" l="l"/>
              <a:pathLst>
                <a:path h="1609344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211" id="211"/>
            <p:cNvSpPr/>
            <p:nvPr/>
          </p:nvSpPr>
          <p:spPr>
            <a:xfrm flipH="false" flipV="false" rot="0">
              <a:off x="0" y="0"/>
              <a:ext cx="11128501" cy="1643126"/>
            </a:xfrm>
            <a:custGeom>
              <a:avLst/>
              <a:gdLst/>
              <a:ahLst/>
              <a:cxnLst/>
              <a:rect r="r" b="b" t="t" l="l"/>
              <a:pathLst>
                <a:path h="1643126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626235"/>
                  </a:lnTo>
                  <a:cubicBezTo>
                    <a:pt x="11128501" y="1635633"/>
                    <a:pt x="11120882" y="1643126"/>
                    <a:pt x="11111611" y="1643126"/>
                  </a:cubicBezTo>
                  <a:lnTo>
                    <a:pt x="16891" y="1643126"/>
                  </a:lnTo>
                  <a:cubicBezTo>
                    <a:pt x="7493" y="1643126"/>
                    <a:pt x="0" y="1635506"/>
                    <a:pt x="0" y="1626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26235"/>
                  </a:lnTo>
                  <a:lnTo>
                    <a:pt x="16891" y="1626235"/>
                  </a:lnTo>
                  <a:lnTo>
                    <a:pt x="16891" y="1609344"/>
                  </a:lnTo>
                  <a:lnTo>
                    <a:pt x="11111611" y="1609344"/>
                  </a:lnTo>
                  <a:lnTo>
                    <a:pt x="11111611" y="1626235"/>
                  </a:lnTo>
                  <a:lnTo>
                    <a:pt x="11094720" y="1626235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212" id="212"/>
          <p:cNvGrpSpPr/>
          <p:nvPr/>
        </p:nvGrpSpPr>
        <p:grpSpPr>
          <a:xfrm rot="0">
            <a:off x="9600438" y="8978646"/>
            <a:ext cx="842772" cy="842772"/>
            <a:chOff x="0" y="0"/>
            <a:chExt cx="1123696" cy="112369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25400" y="2540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22C55E">
                <a:alpha val="8627"/>
              </a:srgbClr>
            </a:solidFill>
          </p:spPr>
        </p:sp>
        <p:sp>
          <p:nvSpPr>
            <p:cNvPr name="Freeform 214" id="214"/>
            <p:cNvSpPr/>
            <p:nvPr/>
          </p:nvSpPr>
          <p:spPr>
            <a:xfrm flipH="false" flipV="false" rot="0">
              <a:off x="0" y="0"/>
              <a:ext cx="1123696" cy="1123696"/>
            </a:xfrm>
            <a:custGeom>
              <a:avLst/>
              <a:gdLst/>
              <a:ahLst/>
              <a:cxnLst/>
              <a:rect r="r" b="b" t="t" l="l"/>
              <a:pathLst>
                <a:path h="1123696" w="1123696">
                  <a:moveTo>
                    <a:pt x="0" y="561848"/>
                  </a:moveTo>
                  <a:cubicBezTo>
                    <a:pt x="0" y="251587"/>
                    <a:pt x="251587" y="0"/>
                    <a:pt x="561848" y="0"/>
                  </a:cubicBezTo>
                  <a:lnTo>
                    <a:pt x="561848" y="25400"/>
                  </a:lnTo>
                  <a:lnTo>
                    <a:pt x="561848" y="0"/>
                  </a:lnTo>
                  <a:cubicBezTo>
                    <a:pt x="872109" y="0"/>
                    <a:pt x="1123696" y="251587"/>
                    <a:pt x="1123696" y="561848"/>
                  </a:cubicBezTo>
                  <a:lnTo>
                    <a:pt x="1098296" y="561848"/>
                  </a:lnTo>
                  <a:lnTo>
                    <a:pt x="1123696" y="561848"/>
                  </a:lnTo>
                  <a:cubicBezTo>
                    <a:pt x="1123696" y="872109"/>
                    <a:pt x="872109" y="1123696"/>
                    <a:pt x="561848" y="1123696"/>
                  </a:cubicBezTo>
                  <a:lnTo>
                    <a:pt x="561848" y="1098296"/>
                  </a:lnTo>
                  <a:lnTo>
                    <a:pt x="561848" y="1123696"/>
                  </a:lnTo>
                  <a:cubicBezTo>
                    <a:pt x="251587" y="1123696"/>
                    <a:pt x="0" y="872109"/>
                    <a:pt x="0" y="561848"/>
                  </a:cubicBezTo>
                  <a:lnTo>
                    <a:pt x="25400" y="561848"/>
                  </a:lnTo>
                  <a:lnTo>
                    <a:pt x="50800" y="561848"/>
                  </a:lnTo>
                  <a:lnTo>
                    <a:pt x="25400" y="561848"/>
                  </a:lnTo>
                  <a:lnTo>
                    <a:pt x="0" y="561848"/>
                  </a:lnTo>
                  <a:moveTo>
                    <a:pt x="50800" y="561848"/>
                  </a:moveTo>
                  <a:cubicBezTo>
                    <a:pt x="50800" y="575818"/>
                    <a:pt x="39370" y="587248"/>
                    <a:pt x="25400" y="587248"/>
                  </a:cubicBezTo>
                  <a:cubicBezTo>
                    <a:pt x="11430" y="587248"/>
                    <a:pt x="0" y="575818"/>
                    <a:pt x="0" y="561848"/>
                  </a:cubicBezTo>
                  <a:cubicBezTo>
                    <a:pt x="0" y="547878"/>
                    <a:pt x="11430" y="536448"/>
                    <a:pt x="25400" y="536448"/>
                  </a:cubicBezTo>
                  <a:cubicBezTo>
                    <a:pt x="39370" y="536448"/>
                    <a:pt x="50800" y="547878"/>
                    <a:pt x="50800" y="561848"/>
                  </a:cubicBezTo>
                  <a:cubicBezTo>
                    <a:pt x="50800" y="844042"/>
                    <a:pt x="279654" y="1072896"/>
                    <a:pt x="561848" y="1072896"/>
                  </a:cubicBezTo>
                  <a:cubicBezTo>
                    <a:pt x="844042" y="1072896"/>
                    <a:pt x="1072896" y="844042"/>
                    <a:pt x="1072896" y="561848"/>
                  </a:cubicBezTo>
                  <a:cubicBezTo>
                    <a:pt x="1072896" y="279654"/>
                    <a:pt x="844042" y="50800"/>
                    <a:pt x="561848" y="50800"/>
                  </a:cubicBezTo>
                  <a:lnTo>
                    <a:pt x="561848" y="25400"/>
                  </a:lnTo>
                  <a:lnTo>
                    <a:pt x="561848" y="50800"/>
                  </a:lnTo>
                  <a:cubicBezTo>
                    <a:pt x="279654" y="50800"/>
                    <a:pt x="50800" y="279654"/>
                    <a:pt x="50800" y="561848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215" id="215"/>
          <p:cNvGrpSpPr/>
          <p:nvPr/>
        </p:nvGrpSpPr>
        <p:grpSpPr>
          <a:xfrm rot="0">
            <a:off x="9619488" y="8997696"/>
            <a:ext cx="804672" cy="804672"/>
            <a:chOff x="0" y="0"/>
            <a:chExt cx="1072896" cy="1072896"/>
          </a:xfrm>
        </p:grpSpPr>
        <p:sp>
          <p:nvSpPr>
            <p:cNvPr name="Freeform 216" id="216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17" id="217"/>
            <p:cNvSpPr txBox="true"/>
            <p:nvPr/>
          </p:nvSpPr>
          <p:spPr>
            <a:xfrm>
              <a:off x="0" y="-47625"/>
              <a:ext cx="1072896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</a:t>
              </a:r>
            </a:p>
          </p:txBody>
        </p:sp>
      </p:grpSp>
      <p:grpSp>
        <p:nvGrpSpPr>
          <p:cNvPr name="Group 218" id="218"/>
          <p:cNvGrpSpPr/>
          <p:nvPr/>
        </p:nvGrpSpPr>
        <p:grpSpPr>
          <a:xfrm rot="0">
            <a:off x="10607040" y="8887968"/>
            <a:ext cx="6986016" cy="512064"/>
            <a:chOff x="0" y="0"/>
            <a:chExt cx="9314688" cy="682752"/>
          </a:xfrm>
        </p:grpSpPr>
        <p:sp>
          <p:nvSpPr>
            <p:cNvPr name="Freeform 219" id="219"/>
            <p:cNvSpPr/>
            <p:nvPr/>
          </p:nvSpPr>
          <p:spPr>
            <a:xfrm flipH="false" flipV="false" rot="0">
              <a:off x="0" y="0"/>
              <a:ext cx="9314688" cy="682752"/>
            </a:xfrm>
            <a:custGeom>
              <a:avLst/>
              <a:gdLst/>
              <a:ahLst/>
              <a:cxnLst/>
              <a:rect r="r" b="b" t="t" l="l"/>
              <a:pathLst>
                <a:path h="682752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831" r="0" b="-215831"/>
              </a:stretch>
            </a:blipFill>
          </p:spPr>
        </p:sp>
        <p:sp>
          <p:nvSpPr>
            <p:cNvPr name="TextBox 220" id="220"/>
            <p:cNvSpPr txBox="true"/>
            <p:nvPr/>
          </p:nvSpPr>
          <p:spPr>
            <a:xfrm>
              <a:off x="0" y="-47625"/>
              <a:ext cx="9314688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Emit Evidence</a:t>
              </a:r>
            </a:p>
          </p:txBody>
        </p:sp>
      </p:grpSp>
      <p:grpSp>
        <p:nvGrpSpPr>
          <p:cNvPr name="Group 221" id="221"/>
          <p:cNvGrpSpPr/>
          <p:nvPr/>
        </p:nvGrpSpPr>
        <p:grpSpPr>
          <a:xfrm rot="0">
            <a:off x="10607040" y="9400032"/>
            <a:ext cx="6986016" cy="512064"/>
            <a:chOff x="0" y="0"/>
            <a:chExt cx="9314688" cy="682752"/>
          </a:xfrm>
        </p:grpSpPr>
        <p:sp>
          <p:nvSpPr>
            <p:cNvPr name="Freeform 222" id="222"/>
            <p:cNvSpPr/>
            <p:nvPr/>
          </p:nvSpPr>
          <p:spPr>
            <a:xfrm flipH="false" flipV="false" rot="0">
              <a:off x="0" y="0"/>
              <a:ext cx="9314688" cy="682752"/>
            </a:xfrm>
            <a:custGeom>
              <a:avLst/>
              <a:gdLst/>
              <a:ahLst/>
              <a:cxnLst/>
              <a:rect r="r" b="b" t="t" l="l"/>
              <a:pathLst>
                <a:path h="682752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831" r="0" b="-215831"/>
              </a:stretch>
            </a:blipFill>
          </p:spPr>
        </p:sp>
        <p:sp>
          <p:nvSpPr>
            <p:cNvPr name="TextBox 223" id="223"/>
            <p:cNvSpPr txBox="true"/>
            <p:nvPr/>
          </p:nvSpPr>
          <p:spPr>
            <a:xfrm>
              <a:off x="0" y="-38100"/>
              <a:ext cx="931468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JSON outputs, PNG plots, Markdown summaries, notebook report</a:t>
              </a:r>
            </a:p>
          </p:txBody>
        </p:sp>
      </p:grpSp>
      <p:grpSp>
        <p:nvGrpSpPr>
          <p:cNvPr name="Group 224" id="224"/>
          <p:cNvGrpSpPr/>
          <p:nvPr/>
        </p:nvGrpSpPr>
        <p:grpSpPr>
          <a:xfrm rot="0">
            <a:off x="512064" y="9729216"/>
            <a:ext cx="17263872" cy="402336"/>
            <a:chOff x="0" y="0"/>
            <a:chExt cx="23018496" cy="536448"/>
          </a:xfrm>
        </p:grpSpPr>
        <p:sp>
          <p:nvSpPr>
            <p:cNvPr name="Freeform 225" id="225"/>
            <p:cNvSpPr/>
            <p:nvPr/>
          </p:nvSpPr>
          <p:spPr>
            <a:xfrm flipH="false" flipV="false" rot="0">
              <a:off x="0" y="0"/>
              <a:ext cx="23018496" cy="536448"/>
            </a:xfrm>
            <a:custGeom>
              <a:avLst/>
              <a:gdLst/>
              <a:ahLst/>
              <a:cxnLst/>
              <a:rect r="r" b="b" t="t" l="l"/>
              <a:pathLst>
                <a:path h="536448" w="23018496">
                  <a:moveTo>
                    <a:pt x="0" y="0"/>
                  </a:moveTo>
                  <a:lnTo>
                    <a:pt x="23018496" y="0"/>
                  </a:lnTo>
                  <a:lnTo>
                    <a:pt x="23018496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6085" r="0" b="-786085"/>
              </a:stretch>
            </a:blipFill>
          </p:spPr>
        </p:sp>
        <p:sp>
          <p:nvSpPr>
            <p:cNvPr name="TextBox 226" id="226"/>
            <p:cNvSpPr txBox="true"/>
            <p:nvPr/>
          </p:nvSpPr>
          <p:spPr>
            <a:xfrm>
              <a:off x="0" y="-47625"/>
              <a:ext cx="23018496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i="true">
                  <a:solidFill>
                    <a:srgbClr val="F59E0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⟷ Shared domain: database_export.json is the bridge between both modules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8283"/>
            <a:chOff x="0" y="0"/>
            <a:chExt cx="24417871" cy="2777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EF4444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7624"/>
            </a:xfrm>
            <a:custGeom>
              <a:avLst/>
              <a:gdLst/>
              <a:ahLst/>
              <a:cxnLst/>
              <a:rect r="r" b="b" t="t" l="l"/>
              <a:pathLst>
                <a:path h="27762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0731"/>
                  </a:lnTo>
                  <a:cubicBezTo>
                    <a:pt x="24417782" y="270129"/>
                    <a:pt x="24410163" y="277622"/>
                    <a:pt x="2440089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4400890" y="243840"/>
                  </a:lnTo>
                  <a:lnTo>
                    <a:pt x="24400890" y="260731"/>
                  </a:lnTo>
                  <a:lnTo>
                    <a:pt x="24384000" y="2607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2064" y="274320"/>
            <a:ext cx="17373600" cy="914400"/>
            <a:chOff x="0" y="0"/>
            <a:chExt cx="2316480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64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31648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Challenges &amp; Engineering Solutions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99367" y="1486919"/>
            <a:ext cx="17289275" cy="1598171"/>
            <a:chOff x="0" y="0"/>
            <a:chExt cx="23052367" cy="21308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3018497" cy="2097024"/>
            </a:xfrm>
            <a:custGeom>
              <a:avLst/>
              <a:gdLst/>
              <a:ahLst/>
              <a:cxnLst/>
              <a:rect r="r" b="b" t="t" l="l"/>
              <a:pathLst>
                <a:path h="2097024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2097024"/>
                  </a:lnTo>
                  <a:lnTo>
                    <a:pt x="0" y="2097024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052278" cy="2130806"/>
            </a:xfrm>
            <a:custGeom>
              <a:avLst/>
              <a:gdLst/>
              <a:ahLst/>
              <a:cxnLst/>
              <a:rect r="r" b="b" t="t" l="l"/>
              <a:pathLst>
                <a:path h="2130806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2113915"/>
                  </a:lnTo>
                  <a:cubicBezTo>
                    <a:pt x="23052278" y="2123313"/>
                    <a:pt x="23044658" y="2130806"/>
                    <a:pt x="23035388" y="2130806"/>
                  </a:cubicBezTo>
                  <a:lnTo>
                    <a:pt x="16891" y="2130806"/>
                  </a:lnTo>
                  <a:cubicBezTo>
                    <a:pt x="7493" y="2130806"/>
                    <a:pt x="0" y="2123186"/>
                    <a:pt x="0" y="21139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3915"/>
                  </a:lnTo>
                  <a:lnTo>
                    <a:pt x="16891" y="2113915"/>
                  </a:lnTo>
                  <a:lnTo>
                    <a:pt x="16891" y="2097024"/>
                  </a:lnTo>
                  <a:lnTo>
                    <a:pt x="23035388" y="2097024"/>
                  </a:lnTo>
                  <a:lnTo>
                    <a:pt x="23035388" y="2113915"/>
                  </a:lnTo>
                  <a:lnTo>
                    <a:pt x="23018497" y="2113915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99367" y="1486919"/>
            <a:ext cx="171707" cy="1598171"/>
            <a:chOff x="0" y="0"/>
            <a:chExt cx="228943" cy="213089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95072" cy="2097024"/>
            </a:xfrm>
            <a:custGeom>
              <a:avLst/>
              <a:gdLst/>
              <a:ahLst/>
              <a:cxnLst/>
              <a:rect r="r" b="b" t="t" l="l"/>
              <a:pathLst>
                <a:path h="2097024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097024"/>
                  </a:lnTo>
                  <a:lnTo>
                    <a:pt x="0" y="2097024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8854" cy="2130806"/>
            </a:xfrm>
            <a:custGeom>
              <a:avLst/>
              <a:gdLst/>
              <a:ahLst/>
              <a:cxnLst/>
              <a:rect r="r" b="b" t="t" l="l"/>
              <a:pathLst>
                <a:path h="2130806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113915"/>
                  </a:lnTo>
                  <a:cubicBezTo>
                    <a:pt x="228854" y="2123313"/>
                    <a:pt x="221234" y="2130806"/>
                    <a:pt x="211963" y="2130806"/>
                  </a:cubicBezTo>
                  <a:lnTo>
                    <a:pt x="16891" y="2130806"/>
                  </a:lnTo>
                  <a:cubicBezTo>
                    <a:pt x="7493" y="2130806"/>
                    <a:pt x="0" y="2123186"/>
                    <a:pt x="0" y="21139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3915"/>
                  </a:lnTo>
                  <a:lnTo>
                    <a:pt x="16891" y="2113915"/>
                  </a:lnTo>
                  <a:lnTo>
                    <a:pt x="16891" y="2097024"/>
                  </a:lnTo>
                  <a:lnTo>
                    <a:pt x="211963" y="2097024"/>
                  </a:lnTo>
                  <a:lnTo>
                    <a:pt x="211963" y="2113915"/>
                  </a:lnTo>
                  <a:lnTo>
                    <a:pt x="195072" y="2113915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28700" y="1486919"/>
            <a:ext cx="7315200" cy="512064"/>
            <a:chOff x="0" y="0"/>
            <a:chExt cx="9753600" cy="6827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753600" cy="682752"/>
            </a:xfrm>
            <a:custGeom>
              <a:avLst/>
              <a:gdLst/>
              <a:ahLst/>
              <a:cxnLst/>
              <a:rect r="r" b="b" t="t" l="l"/>
              <a:pathLst>
                <a:path h="68275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753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  Duplicate logical keys in domain paths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06263" y="1998983"/>
            <a:ext cx="12435840" cy="818027"/>
            <a:chOff x="0" y="0"/>
            <a:chExt cx="16581120" cy="109070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581120" cy="1090703"/>
            </a:xfrm>
            <a:custGeom>
              <a:avLst/>
              <a:gdLst/>
              <a:ahLst/>
              <a:cxnLst/>
              <a:rect r="r" b="b" t="t" l="l"/>
              <a:pathLst>
                <a:path h="1090703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1090703"/>
                  </a:lnTo>
                  <a:lnTo>
                    <a:pt x="0" y="10907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7152" r="0" b="-22527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6581120" cy="1138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PostingListIndex wrapper: each B+ Tree key stores a list of values instead of a single value, enabling one-to-many mappings.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71074" y="2670048"/>
            <a:ext cx="12435840" cy="402336"/>
            <a:chOff x="0" y="0"/>
            <a:chExt cx="16581120" cy="53644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581120" cy="536448"/>
            </a:xfrm>
            <a:custGeom>
              <a:avLst/>
              <a:gdLst/>
              <a:ahLst/>
              <a:cxnLst/>
              <a:rect r="r" b="b" t="t" l="l"/>
              <a:pathLst>
                <a:path h="536448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264" r="0" b="-55226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65811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onsolas"/>
                  <a:ea typeface="Consolas"/>
                  <a:cs typeface="Consolas"/>
                  <a:sym typeface="Consolas"/>
                </a:rPr>
                <a:t>blinddrop_index_manager.py → BlindDropIndex class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377291" y="1636395"/>
            <a:ext cx="4188714" cy="1299210"/>
            <a:chOff x="0" y="0"/>
            <a:chExt cx="5584952" cy="17322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2700" y="12700"/>
              <a:ext cx="5559552" cy="1706880"/>
            </a:xfrm>
            <a:custGeom>
              <a:avLst/>
              <a:gdLst/>
              <a:ahLst/>
              <a:cxnLst/>
              <a:rect r="r" b="b" t="t" l="l"/>
              <a:pathLst>
                <a:path h="1706880" w="5559552">
                  <a:moveTo>
                    <a:pt x="0" y="121920"/>
                  </a:moveTo>
                  <a:cubicBezTo>
                    <a:pt x="0" y="54610"/>
                    <a:pt x="55118" y="0"/>
                    <a:pt x="123190" y="0"/>
                  </a:cubicBezTo>
                  <a:lnTo>
                    <a:pt x="5436362" y="0"/>
                  </a:lnTo>
                  <a:cubicBezTo>
                    <a:pt x="5504434" y="0"/>
                    <a:pt x="5559552" y="54610"/>
                    <a:pt x="5559552" y="121920"/>
                  </a:cubicBezTo>
                  <a:lnTo>
                    <a:pt x="5559552" y="1584960"/>
                  </a:lnTo>
                  <a:cubicBezTo>
                    <a:pt x="5559552" y="1652270"/>
                    <a:pt x="5504434" y="1706880"/>
                    <a:pt x="5436362" y="1706880"/>
                  </a:cubicBezTo>
                  <a:lnTo>
                    <a:pt x="123190" y="1706880"/>
                  </a:lnTo>
                  <a:cubicBezTo>
                    <a:pt x="55118" y="1706880"/>
                    <a:pt x="0" y="1652270"/>
                    <a:pt x="0" y="1584960"/>
                  </a:cubicBez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584952" cy="1732280"/>
            </a:xfrm>
            <a:custGeom>
              <a:avLst/>
              <a:gdLst/>
              <a:ahLst/>
              <a:cxnLst/>
              <a:rect r="r" b="b" t="t" l="l"/>
              <a:pathLst>
                <a:path h="1732280" w="5584952">
                  <a:moveTo>
                    <a:pt x="0" y="134620"/>
                  </a:moveTo>
                  <a:cubicBezTo>
                    <a:pt x="0" y="60198"/>
                    <a:pt x="60960" y="0"/>
                    <a:pt x="135890" y="0"/>
                  </a:cubicBezTo>
                  <a:lnTo>
                    <a:pt x="5449062" y="0"/>
                  </a:lnTo>
                  <a:lnTo>
                    <a:pt x="5449062" y="12700"/>
                  </a:lnTo>
                  <a:lnTo>
                    <a:pt x="5449062" y="0"/>
                  </a:lnTo>
                  <a:cubicBezTo>
                    <a:pt x="5523992" y="0"/>
                    <a:pt x="5584952" y="60198"/>
                    <a:pt x="5584952" y="134620"/>
                  </a:cubicBezTo>
                  <a:lnTo>
                    <a:pt x="5572252" y="134620"/>
                  </a:lnTo>
                  <a:lnTo>
                    <a:pt x="5584952" y="134620"/>
                  </a:lnTo>
                  <a:lnTo>
                    <a:pt x="5584952" y="1597660"/>
                  </a:lnTo>
                  <a:lnTo>
                    <a:pt x="5572252" y="1597660"/>
                  </a:lnTo>
                  <a:lnTo>
                    <a:pt x="5584952" y="1597660"/>
                  </a:lnTo>
                  <a:cubicBezTo>
                    <a:pt x="5584952" y="1672082"/>
                    <a:pt x="5523992" y="1732280"/>
                    <a:pt x="5449062" y="1732280"/>
                  </a:cubicBezTo>
                  <a:lnTo>
                    <a:pt x="5449062" y="1719580"/>
                  </a:lnTo>
                  <a:lnTo>
                    <a:pt x="5449062" y="1732280"/>
                  </a:lnTo>
                  <a:lnTo>
                    <a:pt x="135890" y="1732280"/>
                  </a:lnTo>
                  <a:lnTo>
                    <a:pt x="135890" y="1719580"/>
                  </a:lnTo>
                  <a:lnTo>
                    <a:pt x="135890" y="1732280"/>
                  </a:lnTo>
                  <a:cubicBezTo>
                    <a:pt x="60960" y="1732280"/>
                    <a:pt x="0" y="1672082"/>
                    <a:pt x="0" y="1597660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1597660"/>
                  </a:lnTo>
                  <a:lnTo>
                    <a:pt x="12700" y="1597660"/>
                  </a:lnTo>
                  <a:lnTo>
                    <a:pt x="25400" y="1597660"/>
                  </a:lnTo>
                  <a:cubicBezTo>
                    <a:pt x="25400" y="1657858"/>
                    <a:pt x="74676" y="1706880"/>
                    <a:pt x="135890" y="1706880"/>
                  </a:cubicBezTo>
                  <a:lnTo>
                    <a:pt x="5449062" y="1706880"/>
                  </a:lnTo>
                  <a:cubicBezTo>
                    <a:pt x="5510149" y="1706880"/>
                    <a:pt x="5559552" y="1657858"/>
                    <a:pt x="5559552" y="1597660"/>
                  </a:cubicBezTo>
                  <a:lnTo>
                    <a:pt x="5559552" y="134620"/>
                  </a:lnTo>
                  <a:cubicBezTo>
                    <a:pt x="5559552" y="74422"/>
                    <a:pt x="5510276" y="25400"/>
                    <a:pt x="5449062" y="25400"/>
                  </a:cubicBezTo>
                  <a:lnTo>
                    <a:pt x="135890" y="25400"/>
                  </a:lnTo>
                  <a:lnTo>
                    <a:pt x="135890" y="12700"/>
                  </a:lnTo>
                  <a:lnTo>
                    <a:pt x="135890" y="25400"/>
                  </a:lnTo>
                  <a:cubicBezTo>
                    <a:pt x="74676" y="25400"/>
                    <a:pt x="25400" y="74422"/>
                    <a:pt x="25400" y="134620"/>
                  </a:cubicBezTo>
                  <a:close/>
                </a:path>
              </a:pathLst>
            </a:custGeom>
            <a:solidFill>
              <a:srgbClr val="06B6C8">
                <a:alpha val="24706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3496544" y="1682496"/>
            <a:ext cx="3950208" cy="1188720"/>
            <a:chOff x="0" y="0"/>
            <a:chExt cx="5266944" cy="15849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266944" cy="1584960"/>
            </a:xfrm>
            <a:custGeom>
              <a:avLst/>
              <a:gdLst/>
              <a:ahLst/>
              <a:cxnLst/>
              <a:rect r="r" b="b" t="t" l="l"/>
              <a:pathLst>
                <a:path h="1584960" w="5266944">
                  <a:moveTo>
                    <a:pt x="0" y="0"/>
                  </a:moveTo>
                  <a:lnTo>
                    <a:pt x="5266944" y="0"/>
                  </a:lnTo>
                  <a:lnTo>
                    <a:pt x="5266944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50" r="0" b="-1475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5266944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Problem: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Multiple files share a vault_id; multiple auth attempts share session_id. A simple B+…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99367" y="3224279"/>
            <a:ext cx="17289275" cy="1598171"/>
            <a:chOff x="0" y="0"/>
            <a:chExt cx="23052367" cy="213089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23018497" cy="2097024"/>
            </a:xfrm>
            <a:custGeom>
              <a:avLst/>
              <a:gdLst/>
              <a:ahLst/>
              <a:cxnLst/>
              <a:rect r="r" b="b" t="t" l="l"/>
              <a:pathLst>
                <a:path h="2097024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2097024"/>
                  </a:lnTo>
                  <a:lnTo>
                    <a:pt x="0" y="2097024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3052278" cy="2130806"/>
            </a:xfrm>
            <a:custGeom>
              <a:avLst/>
              <a:gdLst/>
              <a:ahLst/>
              <a:cxnLst/>
              <a:rect r="r" b="b" t="t" l="l"/>
              <a:pathLst>
                <a:path h="2130806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2113915"/>
                  </a:lnTo>
                  <a:cubicBezTo>
                    <a:pt x="23052278" y="2123313"/>
                    <a:pt x="23044658" y="2130806"/>
                    <a:pt x="23035388" y="2130806"/>
                  </a:cubicBezTo>
                  <a:lnTo>
                    <a:pt x="16891" y="2130806"/>
                  </a:lnTo>
                  <a:cubicBezTo>
                    <a:pt x="7493" y="2130806"/>
                    <a:pt x="0" y="2123186"/>
                    <a:pt x="0" y="21139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3915"/>
                  </a:lnTo>
                  <a:lnTo>
                    <a:pt x="16891" y="2113915"/>
                  </a:lnTo>
                  <a:lnTo>
                    <a:pt x="16891" y="2097024"/>
                  </a:lnTo>
                  <a:lnTo>
                    <a:pt x="23035388" y="2097024"/>
                  </a:lnTo>
                  <a:lnTo>
                    <a:pt x="23035388" y="2113915"/>
                  </a:lnTo>
                  <a:lnTo>
                    <a:pt x="23018497" y="2113915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499367" y="3224279"/>
            <a:ext cx="171707" cy="1598171"/>
            <a:chOff x="0" y="0"/>
            <a:chExt cx="228943" cy="213089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195072" cy="2097024"/>
            </a:xfrm>
            <a:custGeom>
              <a:avLst/>
              <a:gdLst/>
              <a:ahLst/>
              <a:cxnLst/>
              <a:rect r="r" b="b" t="t" l="l"/>
              <a:pathLst>
                <a:path h="2097024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097024"/>
                  </a:lnTo>
                  <a:lnTo>
                    <a:pt x="0" y="2097024"/>
                  </a:ln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8854" cy="2130806"/>
            </a:xfrm>
            <a:custGeom>
              <a:avLst/>
              <a:gdLst/>
              <a:ahLst/>
              <a:cxnLst/>
              <a:rect r="r" b="b" t="t" l="l"/>
              <a:pathLst>
                <a:path h="2130806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113915"/>
                  </a:lnTo>
                  <a:cubicBezTo>
                    <a:pt x="228854" y="2123313"/>
                    <a:pt x="221234" y="2130806"/>
                    <a:pt x="211963" y="2130806"/>
                  </a:cubicBezTo>
                  <a:lnTo>
                    <a:pt x="16891" y="2130806"/>
                  </a:lnTo>
                  <a:cubicBezTo>
                    <a:pt x="7493" y="2130806"/>
                    <a:pt x="0" y="2123186"/>
                    <a:pt x="0" y="21139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3915"/>
                  </a:lnTo>
                  <a:lnTo>
                    <a:pt x="16891" y="2113915"/>
                  </a:lnTo>
                  <a:lnTo>
                    <a:pt x="16891" y="2097024"/>
                  </a:lnTo>
                  <a:lnTo>
                    <a:pt x="211963" y="2097024"/>
                  </a:lnTo>
                  <a:lnTo>
                    <a:pt x="211963" y="2113915"/>
                  </a:lnTo>
                  <a:lnTo>
                    <a:pt x="195072" y="2113915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804672" y="3310128"/>
            <a:ext cx="7315200" cy="512064"/>
            <a:chOff x="0" y="0"/>
            <a:chExt cx="9753600" cy="68275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753600" cy="682752"/>
            </a:xfrm>
            <a:custGeom>
              <a:avLst/>
              <a:gdLst/>
              <a:ahLst/>
              <a:cxnLst/>
              <a:rect r="r" b="b" t="t" l="l"/>
              <a:pathLst>
                <a:path h="68275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9753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  Index / DB divergence risk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04672" y="3822192"/>
            <a:ext cx="12435840" cy="475488"/>
            <a:chOff x="0" y="0"/>
            <a:chExt cx="16581120" cy="63398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6581120" cy="633984"/>
            </a:xfrm>
            <a:custGeom>
              <a:avLst/>
              <a:gdLst/>
              <a:ahLst/>
              <a:cxnLst/>
              <a:rect r="r" b="b" t="t" l="l"/>
              <a:pathLst>
                <a:path h="633984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9608" r="0" b="-45960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658112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DB-authoritative commit protocol: index is mutated only after DB commit succeeds. On failure, rollback reverts index. Parity checks + lazy repair + full rebuild restore consistency.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04672" y="4297680"/>
            <a:ext cx="12435840" cy="402336"/>
            <a:chOff x="0" y="0"/>
            <a:chExt cx="16581120" cy="53644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6581120" cy="536448"/>
            </a:xfrm>
            <a:custGeom>
              <a:avLst/>
              <a:gdLst/>
              <a:ahLst/>
              <a:cxnLst/>
              <a:rect r="r" b="b" t="t" l="l"/>
              <a:pathLst>
                <a:path h="536448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264" r="0" b="-55226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65811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onsolas"/>
                  <a:ea typeface="Consolas"/>
                  <a:cs typeface="Consolas"/>
                  <a:sym typeface="Consolas"/>
                </a:rPr>
                <a:t>db_index_parity_manager.py — 8 parity scenarios, all PASS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377291" y="3373755"/>
            <a:ext cx="4188714" cy="1299210"/>
            <a:chOff x="0" y="0"/>
            <a:chExt cx="5584952" cy="17322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2700" y="12700"/>
              <a:ext cx="5559552" cy="1706880"/>
            </a:xfrm>
            <a:custGeom>
              <a:avLst/>
              <a:gdLst/>
              <a:ahLst/>
              <a:cxnLst/>
              <a:rect r="r" b="b" t="t" l="l"/>
              <a:pathLst>
                <a:path h="1706880" w="5559552">
                  <a:moveTo>
                    <a:pt x="0" y="121920"/>
                  </a:moveTo>
                  <a:cubicBezTo>
                    <a:pt x="0" y="54610"/>
                    <a:pt x="55118" y="0"/>
                    <a:pt x="123190" y="0"/>
                  </a:cubicBezTo>
                  <a:lnTo>
                    <a:pt x="5436362" y="0"/>
                  </a:lnTo>
                  <a:cubicBezTo>
                    <a:pt x="5504434" y="0"/>
                    <a:pt x="5559552" y="54610"/>
                    <a:pt x="5559552" y="121920"/>
                  </a:cubicBezTo>
                  <a:lnTo>
                    <a:pt x="5559552" y="1584960"/>
                  </a:lnTo>
                  <a:cubicBezTo>
                    <a:pt x="5559552" y="1652270"/>
                    <a:pt x="5504434" y="1706880"/>
                    <a:pt x="5436362" y="1706880"/>
                  </a:cubicBezTo>
                  <a:lnTo>
                    <a:pt x="123190" y="1706880"/>
                  </a:lnTo>
                  <a:cubicBezTo>
                    <a:pt x="55118" y="1706880"/>
                    <a:pt x="0" y="1652270"/>
                    <a:pt x="0" y="1584960"/>
                  </a:cubicBez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584952" cy="1732280"/>
            </a:xfrm>
            <a:custGeom>
              <a:avLst/>
              <a:gdLst/>
              <a:ahLst/>
              <a:cxnLst/>
              <a:rect r="r" b="b" t="t" l="l"/>
              <a:pathLst>
                <a:path h="1732280" w="5584952">
                  <a:moveTo>
                    <a:pt x="0" y="134620"/>
                  </a:moveTo>
                  <a:cubicBezTo>
                    <a:pt x="0" y="60198"/>
                    <a:pt x="60960" y="0"/>
                    <a:pt x="135890" y="0"/>
                  </a:cubicBezTo>
                  <a:lnTo>
                    <a:pt x="5449062" y="0"/>
                  </a:lnTo>
                  <a:lnTo>
                    <a:pt x="5449062" y="12700"/>
                  </a:lnTo>
                  <a:lnTo>
                    <a:pt x="5449062" y="0"/>
                  </a:lnTo>
                  <a:cubicBezTo>
                    <a:pt x="5523992" y="0"/>
                    <a:pt x="5584952" y="60198"/>
                    <a:pt x="5584952" y="134620"/>
                  </a:cubicBezTo>
                  <a:lnTo>
                    <a:pt x="5572252" y="134620"/>
                  </a:lnTo>
                  <a:lnTo>
                    <a:pt x="5584952" y="134620"/>
                  </a:lnTo>
                  <a:lnTo>
                    <a:pt x="5584952" y="1597660"/>
                  </a:lnTo>
                  <a:lnTo>
                    <a:pt x="5572252" y="1597660"/>
                  </a:lnTo>
                  <a:lnTo>
                    <a:pt x="5584952" y="1597660"/>
                  </a:lnTo>
                  <a:cubicBezTo>
                    <a:pt x="5584952" y="1672082"/>
                    <a:pt x="5523992" y="1732280"/>
                    <a:pt x="5449062" y="1732280"/>
                  </a:cubicBezTo>
                  <a:lnTo>
                    <a:pt x="5449062" y="1719580"/>
                  </a:lnTo>
                  <a:lnTo>
                    <a:pt x="5449062" y="1732280"/>
                  </a:lnTo>
                  <a:lnTo>
                    <a:pt x="135890" y="1732280"/>
                  </a:lnTo>
                  <a:lnTo>
                    <a:pt x="135890" y="1719580"/>
                  </a:lnTo>
                  <a:lnTo>
                    <a:pt x="135890" y="1732280"/>
                  </a:lnTo>
                  <a:cubicBezTo>
                    <a:pt x="60960" y="1732280"/>
                    <a:pt x="0" y="1672082"/>
                    <a:pt x="0" y="1597660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1597660"/>
                  </a:lnTo>
                  <a:lnTo>
                    <a:pt x="12700" y="1597660"/>
                  </a:lnTo>
                  <a:lnTo>
                    <a:pt x="25400" y="1597660"/>
                  </a:lnTo>
                  <a:cubicBezTo>
                    <a:pt x="25400" y="1657858"/>
                    <a:pt x="74676" y="1706880"/>
                    <a:pt x="135890" y="1706880"/>
                  </a:cubicBezTo>
                  <a:lnTo>
                    <a:pt x="5449062" y="1706880"/>
                  </a:lnTo>
                  <a:cubicBezTo>
                    <a:pt x="5510149" y="1706880"/>
                    <a:pt x="5559552" y="1657858"/>
                    <a:pt x="5559552" y="1597660"/>
                  </a:cubicBezTo>
                  <a:lnTo>
                    <a:pt x="5559552" y="134620"/>
                  </a:lnTo>
                  <a:cubicBezTo>
                    <a:pt x="5559552" y="74422"/>
                    <a:pt x="5510276" y="25400"/>
                    <a:pt x="5449062" y="25400"/>
                  </a:cubicBezTo>
                  <a:lnTo>
                    <a:pt x="135890" y="25400"/>
                  </a:lnTo>
                  <a:lnTo>
                    <a:pt x="135890" y="12700"/>
                  </a:lnTo>
                  <a:lnTo>
                    <a:pt x="135890" y="25400"/>
                  </a:lnTo>
                  <a:cubicBezTo>
                    <a:pt x="74676" y="25400"/>
                    <a:pt x="25400" y="74422"/>
                    <a:pt x="25400" y="134620"/>
                  </a:cubicBezTo>
                  <a:close/>
                </a:path>
              </a:pathLst>
            </a:custGeom>
            <a:solidFill>
              <a:srgbClr val="F97316">
                <a:alpha val="24706"/>
              </a:srgbClr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3496544" y="3419856"/>
            <a:ext cx="3950208" cy="1188720"/>
            <a:chOff x="0" y="0"/>
            <a:chExt cx="5266944" cy="15849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266944" cy="1584960"/>
            </a:xfrm>
            <a:custGeom>
              <a:avLst/>
              <a:gdLst/>
              <a:ahLst/>
              <a:cxnLst/>
              <a:rect r="r" b="b" t="t" l="l"/>
              <a:pathLst>
                <a:path h="1584960" w="5266944">
                  <a:moveTo>
                    <a:pt x="0" y="0"/>
                  </a:moveTo>
                  <a:lnTo>
                    <a:pt x="5266944" y="0"/>
                  </a:lnTo>
                  <a:lnTo>
                    <a:pt x="5266944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50" r="0" b="-1475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5266944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Problem: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If the B+ Tree mutation succeeds but the DB commit fails (or vice versa), readers see…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499367" y="4961639"/>
            <a:ext cx="17289275" cy="1598171"/>
            <a:chOff x="0" y="0"/>
            <a:chExt cx="23052367" cy="213089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23018497" cy="2097024"/>
            </a:xfrm>
            <a:custGeom>
              <a:avLst/>
              <a:gdLst/>
              <a:ahLst/>
              <a:cxnLst/>
              <a:rect r="r" b="b" t="t" l="l"/>
              <a:pathLst>
                <a:path h="2097024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2097024"/>
                  </a:lnTo>
                  <a:lnTo>
                    <a:pt x="0" y="2097024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3052278" cy="2130806"/>
            </a:xfrm>
            <a:custGeom>
              <a:avLst/>
              <a:gdLst/>
              <a:ahLst/>
              <a:cxnLst/>
              <a:rect r="r" b="b" t="t" l="l"/>
              <a:pathLst>
                <a:path h="2130806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2113915"/>
                  </a:lnTo>
                  <a:cubicBezTo>
                    <a:pt x="23052278" y="2123313"/>
                    <a:pt x="23044658" y="2130806"/>
                    <a:pt x="23035388" y="2130806"/>
                  </a:cubicBezTo>
                  <a:lnTo>
                    <a:pt x="16891" y="2130806"/>
                  </a:lnTo>
                  <a:cubicBezTo>
                    <a:pt x="7493" y="2130806"/>
                    <a:pt x="0" y="2123186"/>
                    <a:pt x="0" y="21139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3915"/>
                  </a:lnTo>
                  <a:lnTo>
                    <a:pt x="16891" y="2113915"/>
                  </a:lnTo>
                  <a:lnTo>
                    <a:pt x="16891" y="2097024"/>
                  </a:lnTo>
                  <a:lnTo>
                    <a:pt x="23035388" y="2097024"/>
                  </a:lnTo>
                  <a:lnTo>
                    <a:pt x="23035388" y="2113915"/>
                  </a:lnTo>
                  <a:lnTo>
                    <a:pt x="23018497" y="2113915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499367" y="4961639"/>
            <a:ext cx="171707" cy="1598171"/>
            <a:chOff x="0" y="0"/>
            <a:chExt cx="228943" cy="213089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95072" cy="2097024"/>
            </a:xfrm>
            <a:custGeom>
              <a:avLst/>
              <a:gdLst/>
              <a:ahLst/>
              <a:cxnLst/>
              <a:rect r="r" b="b" t="t" l="l"/>
              <a:pathLst>
                <a:path h="2097024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097024"/>
                  </a:lnTo>
                  <a:lnTo>
                    <a:pt x="0" y="2097024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28854" cy="2130806"/>
            </a:xfrm>
            <a:custGeom>
              <a:avLst/>
              <a:gdLst/>
              <a:ahLst/>
              <a:cxnLst/>
              <a:rect r="r" b="b" t="t" l="l"/>
              <a:pathLst>
                <a:path h="2130806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113915"/>
                  </a:lnTo>
                  <a:cubicBezTo>
                    <a:pt x="228854" y="2123313"/>
                    <a:pt x="221234" y="2130806"/>
                    <a:pt x="211963" y="2130806"/>
                  </a:cubicBezTo>
                  <a:lnTo>
                    <a:pt x="16891" y="2130806"/>
                  </a:lnTo>
                  <a:cubicBezTo>
                    <a:pt x="7493" y="2130806"/>
                    <a:pt x="0" y="2123186"/>
                    <a:pt x="0" y="21139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3915"/>
                  </a:lnTo>
                  <a:lnTo>
                    <a:pt x="16891" y="2113915"/>
                  </a:lnTo>
                  <a:lnTo>
                    <a:pt x="16891" y="2097024"/>
                  </a:lnTo>
                  <a:lnTo>
                    <a:pt x="211963" y="2097024"/>
                  </a:lnTo>
                  <a:lnTo>
                    <a:pt x="211963" y="2113915"/>
                  </a:lnTo>
                  <a:lnTo>
                    <a:pt x="195072" y="2113915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804672" y="5047488"/>
            <a:ext cx="7315200" cy="512064"/>
            <a:chOff x="0" y="0"/>
            <a:chExt cx="9753600" cy="68275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753600" cy="682752"/>
            </a:xfrm>
            <a:custGeom>
              <a:avLst/>
              <a:gdLst/>
              <a:ahLst/>
              <a:cxnLst/>
              <a:rect r="r" b="b" t="t" l="l"/>
              <a:pathLst>
                <a:path h="68275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9753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  Salted hashes are not index-friendly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804672" y="5559552"/>
            <a:ext cx="12435840" cy="475488"/>
            <a:chOff x="0" y="0"/>
            <a:chExt cx="16581120" cy="63398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6581120" cy="633984"/>
            </a:xfrm>
            <a:custGeom>
              <a:avLst/>
              <a:gdLst/>
              <a:ahLst/>
              <a:cxnLst/>
              <a:rect r="r" b="b" t="t" l="l"/>
              <a:pathLst>
                <a:path h="633984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9608" r="0" b="-459608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1658112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Separate token_lookup_hash (deterministic) stored alongside full token_hash (salted). Lookup hash enables fast index pre-filter; full hash used for final secure verification.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804672" y="6035040"/>
            <a:ext cx="12435840" cy="402336"/>
            <a:chOff x="0" y="0"/>
            <a:chExt cx="16581120" cy="53644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6581120" cy="536448"/>
            </a:xfrm>
            <a:custGeom>
              <a:avLst/>
              <a:gdLst/>
              <a:ahLst/>
              <a:cxnLst/>
              <a:rect r="r" b="b" t="t" l="l"/>
              <a:pathLst>
                <a:path h="536448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264" r="0" b="-55226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165811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onsolas"/>
                  <a:ea typeface="Consolas"/>
                  <a:cs typeface="Consolas"/>
                  <a:sym typeface="Consolas"/>
                </a:rPr>
                <a:t>services/crypto.js + inner_tokens.token_lookup_hash column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3377291" y="5111115"/>
            <a:ext cx="4188714" cy="1299210"/>
            <a:chOff x="0" y="0"/>
            <a:chExt cx="5584952" cy="173228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2700" y="12700"/>
              <a:ext cx="5559552" cy="1706880"/>
            </a:xfrm>
            <a:custGeom>
              <a:avLst/>
              <a:gdLst/>
              <a:ahLst/>
              <a:cxnLst/>
              <a:rect r="r" b="b" t="t" l="l"/>
              <a:pathLst>
                <a:path h="1706880" w="5559552">
                  <a:moveTo>
                    <a:pt x="0" y="121920"/>
                  </a:moveTo>
                  <a:cubicBezTo>
                    <a:pt x="0" y="54610"/>
                    <a:pt x="55118" y="0"/>
                    <a:pt x="123190" y="0"/>
                  </a:cubicBezTo>
                  <a:lnTo>
                    <a:pt x="5436362" y="0"/>
                  </a:lnTo>
                  <a:cubicBezTo>
                    <a:pt x="5504434" y="0"/>
                    <a:pt x="5559552" y="54610"/>
                    <a:pt x="5559552" y="121920"/>
                  </a:cubicBezTo>
                  <a:lnTo>
                    <a:pt x="5559552" y="1584960"/>
                  </a:lnTo>
                  <a:cubicBezTo>
                    <a:pt x="5559552" y="1652270"/>
                    <a:pt x="5504434" y="1706880"/>
                    <a:pt x="5436362" y="1706880"/>
                  </a:cubicBezTo>
                  <a:lnTo>
                    <a:pt x="123190" y="1706880"/>
                  </a:lnTo>
                  <a:cubicBezTo>
                    <a:pt x="55118" y="1706880"/>
                    <a:pt x="0" y="1652270"/>
                    <a:pt x="0" y="1584960"/>
                  </a:cubicBez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584952" cy="1732280"/>
            </a:xfrm>
            <a:custGeom>
              <a:avLst/>
              <a:gdLst/>
              <a:ahLst/>
              <a:cxnLst/>
              <a:rect r="r" b="b" t="t" l="l"/>
              <a:pathLst>
                <a:path h="1732280" w="5584952">
                  <a:moveTo>
                    <a:pt x="0" y="134620"/>
                  </a:moveTo>
                  <a:cubicBezTo>
                    <a:pt x="0" y="60198"/>
                    <a:pt x="60960" y="0"/>
                    <a:pt x="135890" y="0"/>
                  </a:cubicBezTo>
                  <a:lnTo>
                    <a:pt x="5449062" y="0"/>
                  </a:lnTo>
                  <a:lnTo>
                    <a:pt x="5449062" y="12700"/>
                  </a:lnTo>
                  <a:lnTo>
                    <a:pt x="5449062" y="0"/>
                  </a:lnTo>
                  <a:cubicBezTo>
                    <a:pt x="5523992" y="0"/>
                    <a:pt x="5584952" y="60198"/>
                    <a:pt x="5584952" y="134620"/>
                  </a:cubicBezTo>
                  <a:lnTo>
                    <a:pt x="5572252" y="134620"/>
                  </a:lnTo>
                  <a:lnTo>
                    <a:pt x="5584952" y="134620"/>
                  </a:lnTo>
                  <a:lnTo>
                    <a:pt x="5584952" y="1597660"/>
                  </a:lnTo>
                  <a:lnTo>
                    <a:pt x="5572252" y="1597660"/>
                  </a:lnTo>
                  <a:lnTo>
                    <a:pt x="5584952" y="1597660"/>
                  </a:lnTo>
                  <a:cubicBezTo>
                    <a:pt x="5584952" y="1672082"/>
                    <a:pt x="5523992" y="1732280"/>
                    <a:pt x="5449062" y="1732280"/>
                  </a:cubicBezTo>
                  <a:lnTo>
                    <a:pt x="5449062" y="1719580"/>
                  </a:lnTo>
                  <a:lnTo>
                    <a:pt x="5449062" y="1732280"/>
                  </a:lnTo>
                  <a:lnTo>
                    <a:pt x="135890" y="1732280"/>
                  </a:lnTo>
                  <a:lnTo>
                    <a:pt x="135890" y="1719580"/>
                  </a:lnTo>
                  <a:lnTo>
                    <a:pt x="135890" y="1732280"/>
                  </a:lnTo>
                  <a:cubicBezTo>
                    <a:pt x="60960" y="1732280"/>
                    <a:pt x="0" y="1672082"/>
                    <a:pt x="0" y="1597660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1597660"/>
                  </a:lnTo>
                  <a:lnTo>
                    <a:pt x="12700" y="1597660"/>
                  </a:lnTo>
                  <a:lnTo>
                    <a:pt x="25400" y="1597660"/>
                  </a:lnTo>
                  <a:cubicBezTo>
                    <a:pt x="25400" y="1657858"/>
                    <a:pt x="74676" y="1706880"/>
                    <a:pt x="135890" y="1706880"/>
                  </a:cubicBezTo>
                  <a:lnTo>
                    <a:pt x="5449062" y="1706880"/>
                  </a:lnTo>
                  <a:cubicBezTo>
                    <a:pt x="5510149" y="1706880"/>
                    <a:pt x="5559552" y="1657858"/>
                    <a:pt x="5559552" y="1597660"/>
                  </a:cubicBezTo>
                  <a:lnTo>
                    <a:pt x="5559552" y="134620"/>
                  </a:lnTo>
                  <a:cubicBezTo>
                    <a:pt x="5559552" y="74422"/>
                    <a:pt x="5510276" y="25400"/>
                    <a:pt x="5449062" y="25400"/>
                  </a:cubicBezTo>
                  <a:lnTo>
                    <a:pt x="135890" y="25400"/>
                  </a:lnTo>
                  <a:lnTo>
                    <a:pt x="135890" y="12700"/>
                  </a:lnTo>
                  <a:lnTo>
                    <a:pt x="135890" y="25400"/>
                  </a:lnTo>
                  <a:cubicBezTo>
                    <a:pt x="74676" y="25400"/>
                    <a:pt x="25400" y="74422"/>
                    <a:pt x="25400" y="134620"/>
                  </a:cubicBezTo>
                  <a:close/>
                </a:path>
              </a:pathLst>
            </a:custGeom>
            <a:solidFill>
              <a:srgbClr val="F59E0B">
                <a:alpha val="24706"/>
              </a:srgbClr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3496544" y="5157216"/>
            <a:ext cx="3950208" cy="1188720"/>
            <a:chOff x="0" y="0"/>
            <a:chExt cx="5266944" cy="158496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266944" cy="1584960"/>
            </a:xfrm>
            <a:custGeom>
              <a:avLst/>
              <a:gdLst/>
              <a:ahLst/>
              <a:cxnLst/>
              <a:rect r="r" b="b" t="t" l="l"/>
              <a:pathLst>
                <a:path h="1584960" w="5266944">
                  <a:moveTo>
                    <a:pt x="0" y="0"/>
                  </a:moveTo>
                  <a:lnTo>
                    <a:pt x="5266944" y="0"/>
                  </a:lnTo>
                  <a:lnTo>
                    <a:pt x="5266944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50" r="0" b="-1475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5266944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Problem: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PBKDF2-SHA256 with per-token salt means two identical plaintext tokens hash different…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499367" y="6698999"/>
            <a:ext cx="17289275" cy="1598171"/>
            <a:chOff x="0" y="0"/>
            <a:chExt cx="23052367" cy="2130895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23018497" cy="2097024"/>
            </a:xfrm>
            <a:custGeom>
              <a:avLst/>
              <a:gdLst/>
              <a:ahLst/>
              <a:cxnLst/>
              <a:rect r="r" b="b" t="t" l="l"/>
              <a:pathLst>
                <a:path h="2097024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2097024"/>
                  </a:lnTo>
                  <a:lnTo>
                    <a:pt x="0" y="2097024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3052278" cy="2130806"/>
            </a:xfrm>
            <a:custGeom>
              <a:avLst/>
              <a:gdLst/>
              <a:ahLst/>
              <a:cxnLst/>
              <a:rect r="r" b="b" t="t" l="l"/>
              <a:pathLst>
                <a:path h="2130806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2113915"/>
                  </a:lnTo>
                  <a:cubicBezTo>
                    <a:pt x="23052278" y="2123313"/>
                    <a:pt x="23044658" y="2130806"/>
                    <a:pt x="23035388" y="2130806"/>
                  </a:cubicBezTo>
                  <a:lnTo>
                    <a:pt x="16891" y="2130806"/>
                  </a:lnTo>
                  <a:cubicBezTo>
                    <a:pt x="7493" y="2130806"/>
                    <a:pt x="0" y="2123186"/>
                    <a:pt x="0" y="21139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3915"/>
                  </a:lnTo>
                  <a:lnTo>
                    <a:pt x="16891" y="2113915"/>
                  </a:lnTo>
                  <a:lnTo>
                    <a:pt x="16891" y="2097024"/>
                  </a:lnTo>
                  <a:lnTo>
                    <a:pt x="23035388" y="2097024"/>
                  </a:lnTo>
                  <a:lnTo>
                    <a:pt x="23035388" y="2113915"/>
                  </a:lnTo>
                  <a:lnTo>
                    <a:pt x="23018497" y="2113915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499367" y="6698999"/>
            <a:ext cx="171707" cy="1598171"/>
            <a:chOff x="0" y="0"/>
            <a:chExt cx="228943" cy="2130895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195072" cy="2097024"/>
            </a:xfrm>
            <a:custGeom>
              <a:avLst/>
              <a:gdLst/>
              <a:ahLst/>
              <a:cxnLst/>
              <a:rect r="r" b="b" t="t" l="l"/>
              <a:pathLst>
                <a:path h="2097024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097024"/>
                  </a:lnTo>
                  <a:lnTo>
                    <a:pt x="0" y="2097024"/>
                  </a:ln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28854" cy="2130806"/>
            </a:xfrm>
            <a:custGeom>
              <a:avLst/>
              <a:gdLst/>
              <a:ahLst/>
              <a:cxnLst/>
              <a:rect r="r" b="b" t="t" l="l"/>
              <a:pathLst>
                <a:path h="2130806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113915"/>
                  </a:lnTo>
                  <a:cubicBezTo>
                    <a:pt x="228854" y="2123313"/>
                    <a:pt x="221234" y="2130806"/>
                    <a:pt x="211963" y="2130806"/>
                  </a:cubicBezTo>
                  <a:lnTo>
                    <a:pt x="16891" y="2130806"/>
                  </a:lnTo>
                  <a:cubicBezTo>
                    <a:pt x="7493" y="2130806"/>
                    <a:pt x="0" y="2123186"/>
                    <a:pt x="0" y="21139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3915"/>
                  </a:lnTo>
                  <a:lnTo>
                    <a:pt x="16891" y="2113915"/>
                  </a:lnTo>
                  <a:lnTo>
                    <a:pt x="16891" y="2097024"/>
                  </a:lnTo>
                  <a:lnTo>
                    <a:pt x="211963" y="2097024"/>
                  </a:lnTo>
                  <a:lnTo>
                    <a:pt x="211963" y="2113915"/>
                  </a:lnTo>
                  <a:lnTo>
                    <a:pt x="195072" y="2113915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804672" y="6784848"/>
            <a:ext cx="7315200" cy="512064"/>
            <a:chOff x="0" y="0"/>
            <a:chExt cx="9753600" cy="68275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753600" cy="682752"/>
            </a:xfrm>
            <a:custGeom>
              <a:avLst/>
              <a:gdLst/>
              <a:ahLst/>
              <a:cxnLst/>
              <a:rect r="r" b="b" t="t" l="l"/>
              <a:pathLst>
                <a:path h="68275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9753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  MySQL trigger portability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804672" y="7296912"/>
            <a:ext cx="12435840" cy="475488"/>
            <a:chOff x="0" y="0"/>
            <a:chExt cx="16581120" cy="63398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6581120" cy="633984"/>
            </a:xfrm>
            <a:custGeom>
              <a:avLst/>
              <a:gdLst/>
              <a:ahLst/>
              <a:cxnLst/>
              <a:rect r="r" b="b" t="t" l="l"/>
              <a:pathLst>
                <a:path h="633984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9608" r="0" b="-459608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1658112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App-level integrity: integrity_hash computed and verified in Node.js services. /api/security/unauthorized-check endpoint serves as the evaluator-accessible tamper proof.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804672" y="7772400"/>
            <a:ext cx="12435840" cy="402336"/>
            <a:chOff x="0" y="0"/>
            <a:chExt cx="16581120" cy="53644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6581120" cy="536448"/>
            </a:xfrm>
            <a:custGeom>
              <a:avLst/>
              <a:gdLst/>
              <a:ahLst/>
              <a:cxnLst/>
              <a:rect r="r" b="b" t="t" l="l"/>
              <a:pathLst>
                <a:path h="536448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264" r="0" b="-552264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165811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onsolas"/>
                  <a:ea typeface="Consolas"/>
                  <a:cs typeface="Consolas"/>
                  <a:sym typeface="Consolas"/>
                </a:rPr>
                <a:t>services/portfolioIntegrity.js + routes/security.js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3377291" y="6848475"/>
            <a:ext cx="4188714" cy="1299210"/>
            <a:chOff x="0" y="0"/>
            <a:chExt cx="5584952" cy="173228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2700" y="12700"/>
              <a:ext cx="5559552" cy="1706880"/>
            </a:xfrm>
            <a:custGeom>
              <a:avLst/>
              <a:gdLst/>
              <a:ahLst/>
              <a:cxnLst/>
              <a:rect r="r" b="b" t="t" l="l"/>
              <a:pathLst>
                <a:path h="1706880" w="5559552">
                  <a:moveTo>
                    <a:pt x="0" y="121920"/>
                  </a:moveTo>
                  <a:cubicBezTo>
                    <a:pt x="0" y="54610"/>
                    <a:pt x="55118" y="0"/>
                    <a:pt x="123190" y="0"/>
                  </a:cubicBezTo>
                  <a:lnTo>
                    <a:pt x="5436362" y="0"/>
                  </a:lnTo>
                  <a:cubicBezTo>
                    <a:pt x="5504434" y="0"/>
                    <a:pt x="5559552" y="54610"/>
                    <a:pt x="5559552" y="121920"/>
                  </a:cubicBezTo>
                  <a:lnTo>
                    <a:pt x="5559552" y="1584960"/>
                  </a:lnTo>
                  <a:cubicBezTo>
                    <a:pt x="5559552" y="1652270"/>
                    <a:pt x="5504434" y="1706880"/>
                    <a:pt x="5436362" y="1706880"/>
                  </a:cubicBezTo>
                  <a:lnTo>
                    <a:pt x="123190" y="1706880"/>
                  </a:lnTo>
                  <a:cubicBezTo>
                    <a:pt x="55118" y="1706880"/>
                    <a:pt x="0" y="1652270"/>
                    <a:pt x="0" y="1584960"/>
                  </a:cubicBez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584952" cy="1732280"/>
            </a:xfrm>
            <a:custGeom>
              <a:avLst/>
              <a:gdLst/>
              <a:ahLst/>
              <a:cxnLst/>
              <a:rect r="r" b="b" t="t" l="l"/>
              <a:pathLst>
                <a:path h="1732280" w="5584952">
                  <a:moveTo>
                    <a:pt x="0" y="134620"/>
                  </a:moveTo>
                  <a:cubicBezTo>
                    <a:pt x="0" y="60198"/>
                    <a:pt x="60960" y="0"/>
                    <a:pt x="135890" y="0"/>
                  </a:cubicBezTo>
                  <a:lnTo>
                    <a:pt x="5449062" y="0"/>
                  </a:lnTo>
                  <a:lnTo>
                    <a:pt x="5449062" y="12700"/>
                  </a:lnTo>
                  <a:lnTo>
                    <a:pt x="5449062" y="0"/>
                  </a:lnTo>
                  <a:cubicBezTo>
                    <a:pt x="5523992" y="0"/>
                    <a:pt x="5584952" y="60198"/>
                    <a:pt x="5584952" y="134620"/>
                  </a:cubicBezTo>
                  <a:lnTo>
                    <a:pt x="5572252" y="134620"/>
                  </a:lnTo>
                  <a:lnTo>
                    <a:pt x="5584952" y="134620"/>
                  </a:lnTo>
                  <a:lnTo>
                    <a:pt x="5584952" y="1597660"/>
                  </a:lnTo>
                  <a:lnTo>
                    <a:pt x="5572252" y="1597660"/>
                  </a:lnTo>
                  <a:lnTo>
                    <a:pt x="5584952" y="1597660"/>
                  </a:lnTo>
                  <a:cubicBezTo>
                    <a:pt x="5584952" y="1672082"/>
                    <a:pt x="5523992" y="1732280"/>
                    <a:pt x="5449062" y="1732280"/>
                  </a:cubicBezTo>
                  <a:lnTo>
                    <a:pt x="5449062" y="1719580"/>
                  </a:lnTo>
                  <a:lnTo>
                    <a:pt x="5449062" y="1732280"/>
                  </a:lnTo>
                  <a:lnTo>
                    <a:pt x="135890" y="1732280"/>
                  </a:lnTo>
                  <a:lnTo>
                    <a:pt x="135890" y="1719580"/>
                  </a:lnTo>
                  <a:lnTo>
                    <a:pt x="135890" y="1732280"/>
                  </a:lnTo>
                  <a:cubicBezTo>
                    <a:pt x="60960" y="1732280"/>
                    <a:pt x="0" y="1672082"/>
                    <a:pt x="0" y="1597660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1597660"/>
                  </a:lnTo>
                  <a:lnTo>
                    <a:pt x="12700" y="1597660"/>
                  </a:lnTo>
                  <a:lnTo>
                    <a:pt x="25400" y="1597660"/>
                  </a:lnTo>
                  <a:cubicBezTo>
                    <a:pt x="25400" y="1657858"/>
                    <a:pt x="74676" y="1706880"/>
                    <a:pt x="135890" y="1706880"/>
                  </a:cubicBezTo>
                  <a:lnTo>
                    <a:pt x="5449062" y="1706880"/>
                  </a:lnTo>
                  <a:cubicBezTo>
                    <a:pt x="5510149" y="1706880"/>
                    <a:pt x="5559552" y="1657858"/>
                    <a:pt x="5559552" y="1597660"/>
                  </a:cubicBezTo>
                  <a:lnTo>
                    <a:pt x="5559552" y="134620"/>
                  </a:lnTo>
                  <a:cubicBezTo>
                    <a:pt x="5559552" y="74422"/>
                    <a:pt x="5510276" y="25400"/>
                    <a:pt x="5449062" y="25400"/>
                  </a:cubicBezTo>
                  <a:lnTo>
                    <a:pt x="135890" y="25400"/>
                  </a:lnTo>
                  <a:lnTo>
                    <a:pt x="135890" y="12700"/>
                  </a:lnTo>
                  <a:lnTo>
                    <a:pt x="135890" y="25400"/>
                  </a:lnTo>
                  <a:cubicBezTo>
                    <a:pt x="74676" y="25400"/>
                    <a:pt x="25400" y="74422"/>
                    <a:pt x="25400" y="134620"/>
                  </a:cubicBezTo>
                  <a:close/>
                </a:path>
              </a:pathLst>
            </a:custGeom>
            <a:solidFill>
              <a:srgbClr val="22C55E">
                <a:alpha val="24706"/>
              </a:srgbClr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3496544" y="6894576"/>
            <a:ext cx="3950208" cy="1188720"/>
            <a:chOff x="0" y="0"/>
            <a:chExt cx="5266944" cy="158496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266944" cy="1584960"/>
            </a:xfrm>
            <a:custGeom>
              <a:avLst/>
              <a:gdLst/>
              <a:ahLst/>
              <a:cxnLst/>
              <a:rect r="r" b="b" t="t" l="l"/>
              <a:pathLst>
                <a:path h="1584960" w="5266944">
                  <a:moveTo>
                    <a:pt x="0" y="0"/>
                  </a:moveTo>
                  <a:lnTo>
                    <a:pt x="5266944" y="0"/>
                  </a:lnTo>
                  <a:lnTo>
                    <a:pt x="5266944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50" r="0" b="-1475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5266944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Problem: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CREATE TRIGGER requires elevated MySQL privileges not always available on shared or e…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499367" y="8436359"/>
            <a:ext cx="17289275" cy="1598171"/>
            <a:chOff x="0" y="0"/>
            <a:chExt cx="23052367" cy="2130895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23018497" cy="2097024"/>
            </a:xfrm>
            <a:custGeom>
              <a:avLst/>
              <a:gdLst/>
              <a:ahLst/>
              <a:cxnLst/>
              <a:rect r="r" b="b" t="t" l="l"/>
              <a:pathLst>
                <a:path h="2097024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2097024"/>
                  </a:lnTo>
                  <a:lnTo>
                    <a:pt x="0" y="2097024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3052278" cy="2130806"/>
            </a:xfrm>
            <a:custGeom>
              <a:avLst/>
              <a:gdLst/>
              <a:ahLst/>
              <a:cxnLst/>
              <a:rect r="r" b="b" t="t" l="l"/>
              <a:pathLst>
                <a:path h="2130806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2113915"/>
                  </a:lnTo>
                  <a:cubicBezTo>
                    <a:pt x="23052278" y="2123313"/>
                    <a:pt x="23044658" y="2130806"/>
                    <a:pt x="23035388" y="2130806"/>
                  </a:cubicBezTo>
                  <a:lnTo>
                    <a:pt x="16891" y="2130806"/>
                  </a:lnTo>
                  <a:cubicBezTo>
                    <a:pt x="7493" y="2130806"/>
                    <a:pt x="0" y="2123186"/>
                    <a:pt x="0" y="21139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3915"/>
                  </a:lnTo>
                  <a:lnTo>
                    <a:pt x="16891" y="2113915"/>
                  </a:lnTo>
                  <a:lnTo>
                    <a:pt x="16891" y="2097024"/>
                  </a:lnTo>
                  <a:lnTo>
                    <a:pt x="23035388" y="2097024"/>
                  </a:lnTo>
                  <a:lnTo>
                    <a:pt x="23035388" y="2113915"/>
                  </a:lnTo>
                  <a:lnTo>
                    <a:pt x="23018497" y="2113915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499367" y="8436359"/>
            <a:ext cx="171707" cy="1598171"/>
            <a:chOff x="0" y="0"/>
            <a:chExt cx="228943" cy="2130895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195072" cy="2097024"/>
            </a:xfrm>
            <a:custGeom>
              <a:avLst/>
              <a:gdLst/>
              <a:ahLst/>
              <a:cxnLst/>
              <a:rect r="r" b="b" t="t" l="l"/>
              <a:pathLst>
                <a:path h="2097024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097024"/>
                  </a:lnTo>
                  <a:lnTo>
                    <a:pt x="0" y="2097024"/>
                  </a:ln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28854" cy="2130806"/>
            </a:xfrm>
            <a:custGeom>
              <a:avLst/>
              <a:gdLst/>
              <a:ahLst/>
              <a:cxnLst/>
              <a:rect r="r" b="b" t="t" l="l"/>
              <a:pathLst>
                <a:path h="2130806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113915"/>
                  </a:lnTo>
                  <a:cubicBezTo>
                    <a:pt x="228854" y="2123313"/>
                    <a:pt x="221234" y="2130806"/>
                    <a:pt x="211963" y="2130806"/>
                  </a:cubicBezTo>
                  <a:lnTo>
                    <a:pt x="16891" y="2130806"/>
                  </a:lnTo>
                  <a:cubicBezTo>
                    <a:pt x="7493" y="2130806"/>
                    <a:pt x="0" y="2123186"/>
                    <a:pt x="0" y="21139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3915"/>
                  </a:lnTo>
                  <a:lnTo>
                    <a:pt x="16891" y="2113915"/>
                  </a:lnTo>
                  <a:lnTo>
                    <a:pt x="16891" y="2097024"/>
                  </a:lnTo>
                  <a:lnTo>
                    <a:pt x="211963" y="2097024"/>
                  </a:lnTo>
                  <a:lnTo>
                    <a:pt x="211963" y="2113915"/>
                  </a:lnTo>
                  <a:lnTo>
                    <a:pt x="195072" y="2113915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804672" y="8522208"/>
            <a:ext cx="7315200" cy="512064"/>
            <a:chOff x="0" y="0"/>
            <a:chExt cx="9753600" cy="68275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9753600" cy="682752"/>
            </a:xfrm>
            <a:custGeom>
              <a:avLst/>
              <a:gdLst/>
              <a:ahLst/>
              <a:cxnLst/>
              <a:rect r="r" b="b" t="t" l="l"/>
              <a:pathLst>
                <a:path h="68275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9753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8B5C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  Abuse resistance without persistent state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804672" y="9034272"/>
            <a:ext cx="12435840" cy="475488"/>
            <a:chOff x="0" y="0"/>
            <a:chExt cx="16581120" cy="633984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6581120" cy="633984"/>
            </a:xfrm>
            <a:custGeom>
              <a:avLst/>
              <a:gdLst/>
              <a:ahLst/>
              <a:cxnLst/>
              <a:rect r="r" b="b" t="t" l="l"/>
              <a:pathLst>
                <a:path h="633984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9608" r="0" b="-459608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47625"/>
              <a:ext cx="1658112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Adaptive weight system: each failed attempt adds a weighted penalty. CAPTCHA challenges escalate with failure count. Temporary block applied after threshold exceeded.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804672" y="9509760"/>
            <a:ext cx="12435840" cy="402336"/>
            <a:chOff x="0" y="0"/>
            <a:chExt cx="16581120" cy="536448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6581120" cy="536448"/>
            </a:xfrm>
            <a:custGeom>
              <a:avLst/>
              <a:gdLst/>
              <a:ahLst/>
              <a:cxnLst/>
              <a:rect r="r" b="b" t="t" l="l"/>
              <a:pathLst>
                <a:path h="536448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264" r="0" b="-552264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165811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onsolas"/>
                  <a:ea typeface="Consolas"/>
                  <a:cs typeface="Consolas"/>
                  <a:sym typeface="Consolas"/>
                </a:rPr>
                <a:t>services/security.js → failure weights + CAPTCHA lifecycle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3377291" y="8585835"/>
            <a:ext cx="4188714" cy="1299210"/>
            <a:chOff x="0" y="0"/>
            <a:chExt cx="5584952" cy="173228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12700" y="12700"/>
              <a:ext cx="5559552" cy="1706880"/>
            </a:xfrm>
            <a:custGeom>
              <a:avLst/>
              <a:gdLst/>
              <a:ahLst/>
              <a:cxnLst/>
              <a:rect r="r" b="b" t="t" l="l"/>
              <a:pathLst>
                <a:path h="1706880" w="5559552">
                  <a:moveTo>
                    <a:pt x="0" y="121920"/>
                  </a:moveTo>
                  <a:cubicBezTo>
                    <a:pt x="0" y="54610"/>
                    <a:pt x="55118" y="0"/>
                    <a:pt x="123190" y="0"/>
                  </a:cubicBezTo>
                  <a:lnTo>
                    <a:pt x="5436362" y="0"/>
                  </a:lnTo>
                  <a:cubicBezTo>
                    <a:pt x="5504434" y="0"/>
                    <a:pt x="5559552" y="54610"/>
                    <a:pt x="5559552" y="121920"/>
                  </a:cubicBezTo>
                  <a:lnTo>
                    <a:pt x="5559552" y="1584960"/>
                  </a:lnTo>
                  <a:cubicBezTo>
                    <a:pt x="5559552" y="1652270"/>
                    <a:pt x="5504434" y="1706880"/>
                    <a:pt x="5436362" y="1706880"/>
                  </a:cubicBezTo>
                  <a:lnTo>
                    <a:pt x="123190" y="1706880"/>
                  </a:lnTo>
                  <a:cubicBezTo>
                    <a:pt x="55118" y="1706880"/>
                    <a:pt x="0" y="1652270"/>
                    <a:pt x="0" y="1584960"/>
                  </a:cubicBez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5584952" cy="1732280"/>
            </a:xfrm>
            <a:custGeom>
              <a:avLst/>
              <a:gdLst/>
              <a:ahLst/>
              <a:cxnLst/>
              <a:rect r="r" b="b" t="t" l="l"/>
              <a:pathLst>
                <a:path h="1732280" w="5584952">
                  <a:moveTo>
                    <a:pt x="0" y="134620"/>
                  </a:moveTo>
                  <a:cubicBezTo>
                    <a:pt x="0" y="60198"/>
                    <a:pt x="60960" y="0"/>
                    <a:pt x="135890" y="0"/>
                  </a:cubicBezTo>
                  <a:lnTo>
                    <a:pt x="5449062" y="0"/>
                  </a:lnTo>
                  <a:lnTo>
                    <a:pt x="5449062" y="12700"/>
                  </a:lnTo>
                  <a:lnTo>
                    <a:pt x="5449062" y="0"/>
                  </a:lnTo>
                  <a:cubicBezTo>
                    <a:pt x="5523992" y="0"/>
                    <a:pt x="5584952" y="60198"/>
                    <a:pt x="5584952" y="134620"/>
                  </a:cubicBezTo>
                  <a:lnTo>
                    <a:pt x="5572252" y="134620"/>
                  </a:lnTo>
                  <a:lnTo>
                    <a:pt x="5584952" y="134620"/>
                  </a:lnTo>
                  <a:lnTo>
                    <a:pt x="5584952" y="1597660"/>
                  </a:lnTo>
                  <a:lnTo>
                    <a:pt x="5572252" y="1597660"/>
                  </a:lnTo>
                  <a:lnTo>
                    <a:pt x="5584952" y="1597660"/>
                  </a:lnTo>
                  <a:cubicBezTo>
                    <a:pt x="5584952" y="1672082"/>
                    <a:pt x="5523992" y="1732280"/>
                    <a:pt x="5449062" y="1732280"/>
                  </a:cubicBezTo>
                  <a:lnTo>
                    <a:pt x="5449062" y="1719580"/>
                  </a:lnTo>
                  <a:lnTo>
                    <a:pt x="5449062" y="1732280"/>
                  </a:lnTo>
                  <a:lnTo>
                    <a:pt x="135890" y="1732280"/>
                  </a:lnTo>
                  <a:lnTo>
                    <a:pt x="135890" y="1719580"/>
                  </a:lnTo>
                  <a:lnTo>
                    <a:pt x="135890" y="1732280"/>
                  </a:lnTo>
                  <a:cubicBezTo>
                    <a:pt x="60960" y="1732280"/>
                    <a:pt x="0" y="1672082"/>
                    <a:pt x="0" y="1597660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1597660"/>
                  </a:lnTo>
                  <a:lnTo>
                    <a:pt x="12700" y="1597660"/>
                  </a:lnTo>
                  <a:lnTo>
                    <a:pt x="25400" y="1597660"/>
                  </a:lnTo>
                  <a:cubicBezTo>
                    <a:pt x="25400" y="1657858"/>
                    <a:pt x="74676" y="1706880"/>
                    <a:pt x="135890" y="1706880"/>
                  </a:cubicBezTo>
                  <a:lnTo>
                    <a:pt x="5449062" y="1706880"/>
                  </a:lnTo>
                  <a:cubicBezTo>
                    <a:pt x="5510149" y="1706880"/>
                    <a:pt x="5559552" y="1657858"/>
                    <a:pt x="5559552" y="1597660"/>
                  </a:cubicBezTo>
                  <a:lnTo>
                    <a:pt x="5559552" y="134620"/>
                  </a:lnTo>
                  <a:cubicBezTo>
                    <a:pt x="5559552" y="74422"/>
                    <a:pt x="5510276" y="25400"/>
                    <a:pt x="5449062" y="25400"/>
                  </a:cubicBezTo>
                  <a:lnTo>
                    <a:pt x="135890" y="25400"/>
                  </a:lnTo>
                  <a:lnTo>
                    <a:pt x="135890" y="12700"/>
                  </a:lnTo>
                  <a:lnTo>
                    <a:pt x="135890" y="25400"/>
                  </a:lnTo>
                  <a:cubicBezTo>
                    <a:pt x="74676" y="25400"/>
                    <a:pt x="25400" y="74422"/>
                    <a:pt x="25400" y="134620"/>
                  </a:cubicBezTo>
                  <a:close/>
                </a:path>
              </a:pathLst>
            </a:custGeom>
            <a:solidFill>
              <a:srgbClr val="8B5CF6">
                <a:alpha val="24706"/>
              </a:srgbClr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3496544" y="8631936"/>
            <a:ext cx="3950208" cy="1188720"/>
            <a:chOff x="0" y="0"/>
            <a:chExt cx="5266944" cy="158496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5266944" cy="1584960"/>
            </a:xfrm>
            <a:custGeom>
              <a:avLst/>
              <a:gdLst/>
              <a:ahLst/>
              <a:cxnLst/>
              <a:rect r="r" b="b" t="t" l="l"/>
              <a:pathLst>
                <a:path h="1584960" w="5266944">
                  <a:moveTo>
                    <a:pt x="0" y="0"/>
                  </a:moveTo>
                  <a:lnTo>
                    <a:pt x="5266944" y="0"/>
                  </a:lnTo>
                  <a:lnTo>
                    <a:pt x="5266944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50" r="0" b="-14750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5266944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Problem: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Rate limiting and CAPTCHA state stored in-memory reset on server restart, enabling tr…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8283"/>
            <a:chOff x="0" y="0"/>
            <a:chExt cx="24417871" cy="2777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7624"/>
            </a:xfrm>
            <a:custGeom>
              <a:avLst/>
              <a:gdLst/>
              <a:ahLst/>
              <a:cxnLst/>
              <a:rect r="r" b="b" t="t" l="l"/>
              <a:pathLst>
                <a:path h="27762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0731"/>
                  </a:lnTo>
                  <a:cubicBezTo>
                    <a:pt x="24417782" y="270129"/>
                    <a:pt x="24410163" y="277622"/>
                    <a:pt x="2440089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4400890" y="243840"/>
                  </a:lnTo>
                  <a:lnTo>
                    <a:pt x="24400890" y="260731"/>
                  </a:lnTo>
                  <a:lnTo>
                    <a:pt x="24384000" y="2607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2064" y="274320"/>
            <a:ext cx="17373600" cy="914400"/>
            <a:chOff x="0" y="0"/>
            <a:chExt cx="2316480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64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31648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Performance &amp; Optimization Evidence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12064" y="1426464"/>
            <a:ext cx="17263872" cy="512064"/>
            <a:chOff x="0" y="0"/>
            <a:chExt cx="23018496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018496" cy="682752"/>
            </a:xfrm>
            <a:custGeom>
              <a:avLst/>
              <a:gdLst/>
              <a:ahLst/>
              <a:cxnLst/>
              <a:rect r="r" b="b" t="t" l="l"/>
              <a:pathLst>
                <a:path h="682752" w="23018496">
                  <a:moveTo>
                    <a:pt x="0" y="0"/>
                  </a:moveTo>
                  <a:lnTo>
                    <a:pt x="23018496" y="0"/>
                  </a:lnTo>
                  <a:lnTo>
                    <a:pt x="23018496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6924" r="0" b="-60692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3018496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 spc="400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B — SQL Index Optimization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99367" y="2035559"/>
            <a:ext cx="4140203" cy="2402843"/>
            <a:chOff x="0" y="0"/>
            <a:chExt cx="5520271" cy="32037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5486400" cy="3169920"/>
            </a:xfrm>
            <a:custGeom>
              <a:avLst/>
              <a:gdLst/>
              <a:ahLst/>
              <a:cxnLst/>
              <a:rect r="r" b="b" t="t" l="l"/>
              <a:pathLst>
                <a:path h="31699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520182" cy="3203702"/>
            </a:xfrm>
            <a:custGeom>
              <a:avLst/>
              <a:gdLst/>
              <a:ahLst/>
              <a:cxnLst/>
              <a:rect r="r" b="b" t="t" l="l"/>
              <a:pathLst>
                <a:path h="3203702" w="5520182">
                  <a:moveTo>
                    <a:pt x="16891" y="0"/>
                  </a:moveTo>
                  <a:lnTo>
                    <a:pt x="5503291" y="0"/>
                  </a:lnTo>
                  <a:cubicBezTo>
                    <a:pt x="5512689" y="0"/>
                    <a:pt x="5520182" y="7620"/>
                    <a:pt x="5520182" y="16891"/>
                  </a:cubicBezTo>
                  <a:lnTo>
                    <a:pt x="5520182" y="3186811"/>
                  </a:lnTo>
                  <a:cubicBezTo>
                    <a:pt x="5520182" y="3196209"/>
                    <a:pt x="5512562" y="3203702"/>
                    <a:pt x="5503291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5503291" y="3169920"/>
                  </a:lnTo>
                  <a:lnTo>
                    <a:pt x="5503291" y="3186811"/>
                  </a:lnTo>
                  <a:lnTo>
                    <a:pt x="5486400" y="3186811"/>
                  </a:lnTo>
                  <a:lnTo>
                    <a:pt x="5486400" y="16891"/>
                  </a:lnTo>
                  <a:lnTo>
                    <a:pt x="5503291" y="16891"/>
                  </a:lnTo>
                  <a:lnTo>
                    <a:pt x="5503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99367" y="2035559"/>
            <a:ext cx="4140203" cy="171707"/>
            <a:chOff x="0" y="0"/>
            <a:chExt cx="5520271" cy="22894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5486400" cy="195072"/>
            </a:xfrm>
            <a:custGeom>
              <a:avLst/>
              <a:gdLst/>
              <a:ahLst/>
              <a:cxnLst/>
              <a:rect r="r" b="b" t="t" l="l"/>
              <a:pathLst>
                <a:path h="19507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EF4444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520182" cy="228856"/>
            </a:xfrm>
            <a:custGeom>
              <a:avLst/>
              <a:gdLst/>
              <a:ahLst/>
              <a:cxnLst/>
              <a:rect r="r" b="b" t="t" l="l"/>
              <a:pathLst>
                <a:path h="228856" w="5520182">
                  <a:moveTo>
                    <a:pt x="16891" y="0"/>
                  </a:moveTo>
                  <a:lnTo>
                    <a:pt x="5503291" y="0"/>
                  </a:lnTo>
                  <a:cubicBezTo>
                    <a:pt x="5512689" y="0"/>
                    <a:pt x="5520182" y="7620"/>
                    <a:pt x="5520182" y="16891"/>
                  </a:cubicBezTo>
                  <a:lnTo>
                    <a:pt x="5520182" y="211963"/>
                  </a:lnTo>
                  <a:cubicBezTo>
                    <a:pt x="5520182" y="221361"/>
                    <a:pt x="5512562" y="228854"/>
                    <a:pt x="5503291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5503291" y="195072"/>
                  </a:lnTo>
                  <a:lnTo>
                    <a:pt x="5503291" y="211963"/>
                  </a:lnTo>
                  <a:lnTo>
                    <a:pt x="5486400" y="211963"/>
                  </a:lnTo>
                  <a:lnTo>
                    <a:pt x="5486400" y="16891"/>
                  </a:lnTo>
                  <a:lnTo>
                    <a:pt x="5503291" y="16891"/>
                  </a:lnTo>
                  <a:lnTo>
                    <a:pt x="5503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12064" y="2267712"/>
            <a:ext cx="4114800" cy="1060704"/>
            <a:chOff x="0" y="0"/>
            <a:chExt cx="5486400" cy="14142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4864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88" r="0" b="-2558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23825"/>
              <a:ext cx="5486400" cy="15380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452.8ms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12064" y="3291840"/>
            <a:ext cx="4114800" cy="548640"/>
            <a:chOff x="0" y="0"/>
            <a:chExt cx="548640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1520"/>
            </a:xfrm>
            <a:custGeom>
              <a:avLst/>
              <a:gdLst/>
              <a:ahLst/>
              <a:cxnLst/>
              <a:rect r="r" b="b" t="t" l="l"/>
              <a:pathLst>
                <a:path h="7315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486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Baseline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12064" y="3840480"/>
            <a:ext cx="4114800" cy="457200"/>
            <a:chOff x="0" y="0"/>
            <a:chExt cx="5486400" cy="609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486400" cy="609600"/>
            </a:xfrm>
            <a:custGeom>
              <a:avLst/>
              <a:gdLst/>
              <a:ahLst/>
              <a:cxnLst/>
              <a:rect r="r" b="b" t="t" l="l"/>
              <a:pathLst>
                <a:path h="6096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5486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Full table scan ALL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888487" y="2035559"/>
            <a:ext cx="4140203" cy="2402843"/>
            <a:chOff x="0" y="0"/>
            <a:chExt cx="5520271" cy="320379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5486400" cy="3169920"/>
            </a:xfrm>
            <a:custGeom>
              <a:avLst/>
              <a:gdLst/>
              <a:ahLst/>
              <a:cxnLst/>
              <a:rect r="r" b="b" t="t" l="l"/>
              <a:pathLst>
                <a:path h="31699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520182" cy="3203702"/>
            </a:xfrm>
            <a:custGeom>
              <a:avLst/>
              <a:gdLst/>
              <a:ahLst/>
              <a:cxnLst/>
              <a:rect r="r" b="b" t="t" l="l"/>
              <a:pathLst>
                <a:path h="3203702" w="5520182">
                  <a:moveTo>
                    <a:pt x="16891" y="0"/>
                  </a:moveTo>
                  <a:lnTo>
                    <a:pt x="5503291" y="0"/>
                  </a:lnTo>
                  <a:cubicBezTo>
                    <a:pt x="5512689" y="0"/>
                    <a:pt x="5520182" y="7620"/>
                    <a:pt x="5520182" y="16891"/>
                  </a:cubicBezTo>
                  <a:lnTo>
                    <a:pt x="5520182" y="3186811"/>
                  </a:lnTo>
                  <a:cubicBezTo>
                    <a:pt x="5520182" y="3196209"/>
                    <a:pt x="5512562" y="3203702"/>
                    <a:pt x="5503291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5503291" y="3169920"/>
                  </a:lnTo>
                  <a:lnTo>
                    <a:pt x="5503291" y="3186811"/>
                  </a:lnTo>
                  <a:lnTo>
                    <a:pt x="5486400" y="3186811"/>
                  </a:lnTo>
                  <a:lnTo>
                    <a:pt x="5486400" y="16891"/>
                  </a:lnTo>
                  <a:lnTo>
                    <a:pt x="5503291" y="16891"/>
                  </a:lnTo>
                  <a:lnTo>
                    <a:pt x="5503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4888487" y="2035559"/>
            <a:ext cx="4140203" cy="171707"/>
            <a:chOff x="0" y="0"/>
            <a:chExt cx="5520271" cy="22894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5486400" cy="195072"/>
            </a:xfrm>
            <a:custGeom>
              <a:avLst/>
              <a:gdLst/>
              <a:ahLst/>
              <a:cxnLst/>
              <a:rect r="r" b="b" t="t" l="l"/>
              <a:pathLst>
                <a:path h="19507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520182" cy="228856"/>
            </a:xfrm>
            <a:custGeom>
              <a:avLst/>
              <a:gdLst/>
              <a:ahLst/>
              <a:cxnLst/>
              <a:rect r="r" b="b" t="t" l="l"/>
              <a:pathLst>
                <a:path h="228856" w="5520182">
                  <a:moveTo>
                    <a:pt x="16891" y="0"/>
                  </a:moveTo>
                  <a:lnTo>
                    <a:pt x="5503291" y="0"/>
                  </a:lnTo>
                  <a:cubicBezTo>
                    <a:pt x="5512689" y="0"/>
                    <a:pt x="5520182" y="7620"/>
                    <a:pt x="5520182" y="16891"/>
                  </a:cubicBezTo>
                  <a:lnTo>
                    <a:pt x="5520182" y="211963"/>
                  </a:lnTo>
                  <a:cubicBezTo>
                    <a:pt x="5520182" y="221361"/>
                    <a:pt x="5512562" y="228854"/>
                    <a:pt x="5503291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5503291" y="195072"/>
                  </a:lnTo>
                  <a:lnTo>
                    <a:pt x="5503291" y="211963"/>
                  </a:lnTo>
                  <a:lnTo>
                    <a:pt x="5486400" y="211963"/>
                  </a:lnTo>
                  <a:lnTo>
                    <a:pt x="5486400" y="16891"/>
                  </a:lnTo>
                  <a:lnTo>
                    <a:pt x="5503291" y="16891"/>
                  </a:lnTo>
                  <a:lnTo>
                    <a:pt x="5503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4901184" y="2267712"/>
            <a:ext cx="4114800" cy="1060704"/>
            <a:chOff x="0" y="0"/>
            <a:chExt cx="5486400" cy="141427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4864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88" r="0" b="-2558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23825"/>
              <a:ext cx="5486400" cy="15380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40.1ms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901184" y="3291840"/>
            <a:ext cx="4114800" cy="548640"/>
            <a:chOff x="0" y="0"/>
            <a:chExt cx="548640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486400" cy="731520"/>
            </a:xfrm>
            <a:custGeom>
              <a:avLst/>
              <a:gdLst/>
              <a:ahLst/>
              <a:cxnLst/>
              <a:rect r="r" b="b" t="t" l="l"/>
              <a:pathLst>
                <a:path h="7315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5486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Composite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901184" y="3840480"/>
            <a:ext cx="4114800" cy="457200"/>
            <a:chOff x="0" y="0"/>
            <a:chExt cx="5486400" cy="6096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486400" cy="609600"/>
            </a:xfrm>
            <a:custGeom>
              <a:avLst/>
              <a:gdLst/>
              <a:ahLst/>
              <a:cxnLst/>
              <a:rect r="r" b="b" t="t" l="l"/>
              <a:pathLst>
                <a:path h="6096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5486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idx_benchmark_lookup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277607" y="2035559"/>
            <a:ext cx="4140203" cy="2402843"/>
            <a:chOff x="0" y="0"/>
            <a:chExt cx="5520271" cy="320379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5486400" cy="3169920"/>
            </a:xfrm>
            <a:custGeom>
              <a:avLst/>
              <a:gdLst/>
              <a:ahLst/>
              <a:cxnLst/>
              <a:rect r="r" b="b" t="t" l="l"/>
              <a:pathLst>
                <a:path h="31699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520182" cy="3203702"/>
            </a:xfrm>
            <a:custGeom>
              <a:avLst/>
              <a:gdLst/>
              <a:ahLst/>
              <a:cxnLst/>
              <a:rect r="r" b="b" t="t" l="l"/>
              <a:pathLst>
                <a:path h="3203702" w="5520182">
                  <a:moveTo>
                    <a:pt x="16891" y="0"/>
                  </a:moveTo>
                  <a:lnTo>
                    <a:pt x="5503291" y="0"/>
                  </a:lnTo>
                  <a:cubicBezTo>
                    <a:pt x="5512689" y="0"/>
                    <a:pt x="5520182" y="7620"/>
                    <a:pt x="5520182" y="16891"/>
                  </a:cubicBezTo>
                  <a:lnTo>
                    <a:pt x="5520182" y="3186811"/>
                  </a:lnTo>
                  <a:cubicBezTo>
                    <a:pt x="5520182" y="3196209"/>
                    <a:pt x="5512562" y="3203702"/>
                    <a:pt x="5503291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5503291" y="3169920"/>
                  </a:lnTo>
                  <a:lnTo>
                    <a:pt x="5503291" y="3186811"/>
                  </a:lnTo>
                  <a:lnTo>
                    <a:pt x="5486400" y="3186811"/>
                  </a:lnTo>
                  <a:lnTo>
                    <a:pt x="5486400" y="16891"/>
                  </a:lnTo>
                  <a:lnTo>
                    <a:pt x="5503291" y="16891"/>
                  </a:lnTo>
                  <a:lnTo>
                    <a:pt x="5503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277607" y="2035559"/>
            <a:ext cx="4140203" cy="171707"/>
            <a:chOff x="0" y="0"/>
            <a:chExt cx="5520271" cy="22894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5486400" cy="195072"/>
            </a:xfrm>
            <a:custGeom>
              <a:avLst/>
              <a:gdLst/>
              <a:ahLst/>
              <a:cxnLst/>
              <a:rect r="r" b="b" t="t" l="l"/>
              <a:pathLst>
                <a:path h="19507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2DD4BF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520182" cy="228856"/>
            </a:xfrm>
            <a:custGeom>
              <a:avLst/>
              <a:gdLst/>
              <a:ahLst/>
              <a:cxnLst/>
              <a:rect r="r" b="b" t="t" l="l"/>
              <a:pathLst>
                <a:path h="228856" w="5520182">
                  <a:moveTo>
                    <a:pt x="16891" y="0"/>
                  </a:moveTo>
                  <a:lnTo>
                    <a:pt x="5503291" y="0"/>
                  </a:lnTo>
                  <a:cubicBezTo>
                    <a:pt x="5512689" y="0"/>
                    <a:pt x="5520182" y="7620"/>
                    <a:pt x="5520182" y="16891"/>
                  </a:cubicBezTo>
                  <a:lnTo>
                    <a:pt x="5520182" y="211963"/>
                  </a:lnTo>
                  <a:cubicBezTo>
                    <a:pt x="5520182" y="221361"/>
                    <a:pt x="5512562" y="228854"/>
                    <a:pt x="5503291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5503291" y="195072"/>
                  </a:lnTo>
                  <a:lnTo>
                    <a:pt x="5503291" y="211963"/>
                  </a:lnTo>
                  <a:lnTo>
                    <a:pt x="5486400" y="211963"/>
                  </a:lnTo>
                  <a:lnTo>
                    <a:pt x="5486400" y="16891"/>
                  </a:lnTo>
                  <a:lnTo>
                    <a:pt x="5503291" y="16891"/>
                  </a:lnTo>
                  <a:lnTo>
                    <a:pt x="5503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290304" y="2267712"/>
            <a:ext cx="4114800" cy="1060704"/>
            <a:chOff x="0" y="0"/>
            <a:chExt cx="5486400" cy="141427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4864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88" r="0" b="-2558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23825"/>
              <a:ext cx="5486400" cy="15380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2DD4B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36.8ms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290304" y="3291840"/>
            <a:ext cx="4114800" cy="548640"/>
            <a:chOff x="0" y="0"/>
            <a:chExt cx="5486400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486400" cy="731520"/>
            </a:xfrm>
            <a:custGeom>
              <a:avLst/>
              <a:gdLst/>
              <a:ahLst/>
              <a:cxnLst/>
              <a:rect r="r" b="b" t="t" l="l"/>
              <a:pathLst>
                <a:path h="7315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5486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Covering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290304" y="3840480"/>
            <a:ext cx="4114800" cy="457200"/>
            <a:chOff x="0" y="0"/>
            <a:chExt cx="5486400" cy="6096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486400" cy="609600"/>
            </a:xfrm>
            <a:custGeom>
              <a:avLst/>
              <a:gdLst/>
              <a:ahLst/>
              <a:cxnLst/>
              <a:rect r="r" b="b" t="t" l="l"/>
              <a:pathLst>
                <a:path h="6096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5486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Comparison stage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3666727" y="2035559"/>
            <a:ext cx="4012187" cy="2402843"/>
            <a:chOff x="0" y="0"/>
            <a:chExt cx="5349583" cy="320379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5315712" cy="3169920"/>
            </a:xfrm>
            <a:custGeom>
              <a:avLst/>
              <a:gdLst/>
              <a:ahLst/>
              <a:cxnLst/>
              <a:rect r="r" b="b" t="t" l="l"/>
              <a:pathLst>
                <a:path h="3169920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349494" cy="3203702"/>
            </a:xfrm>
            <a:custGeom>
              <a:avLst/>
              <a:gdLst/>
              <a:ahLst/>
              <a:cxnLst/>
              <a:rect r="r" b="b" t="t" l="l"/>
              <a:pathLst>
                <a:path h="3203702" w="5349494">
                  <a:moveTo>
                    <a:pt x="16891" y="0"/>
                  </a:moveTo>
                  <a:lnTo>
                    <a:pt x="5332603" y="0"/>
                  </a:lnTo>
                  <a:cubicBezTo>
                    <a:pt x="5342001" y="0"/>
                    <a:pt x="5349494" y="7620"/>
                    <a:pt x="5349494" y="16891"/>
                  </a:cubicBezTo>
                  <a:lnTo>
                    <a:pt x="5349494" y="3186811"/>
                  </a:lnTo>
                  <a:cubicBezTo>
                    <a:pt x="5349494" y="3196209"/>
                    <a:pt x="5341874" y="3203702"/>
                    <a:pt x="5332603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5332603" y="3169920"/>
                  </a:lnTo>
                  <a:lnTo>
                    <a:pt x="5332603" y="3186811"/>
                  </a:lnTo>
                  <a:lnTo>
                    <a:pt x="5315712" y="3186811"/>
                  </a:lnTo>
                  <a:lnTo>
                    <a:pt x="5315712" y="16891"/>
                  </a:lnTo>
                  <a:lnTo>
                    <a:pt x="5332603" y="16891"/>
                  </a:lnTo>
                  <a:lnTo>
                    <a:pt x="53326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3666727" y="2035559"/>
            <a:ext cx="4012187" cy="171707"/>
            <a:chOff x="0" y="0"/>
            <a:chExt cx="5349583" cy="22894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5315712" cy="195072"/>
            </a:xfrm>
            <a:custGeom>
              <a:avLst/>
              <a:gdLst/>
              <a:ahLst/>
              <a:cxnLst/>
              <a:rect r="r" b="b" t="t" l="l"/>
              <a:pathLst>
                <a:path h="195072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349494" cy="228856"/>
            </a:xfrm>
            <a:custGeom>
              <a:avLst/>
              <a:gdLst/>
              <a:ahLst/>
              <a:cxnLst/>
              <a:rect r="r" b="b" t="t" l="l"/>
              <a:pathLst>
                <a:path h="228856" w="5349494">
                  <a:moveTo>
                    <a:pt x="16891" y="0"/>
                  </a:moveTo>
                  <a:lnTo>
                    <a:pt x="5332603" y="0"/>
                  </a:lnTo>
                  <a:cubicBezTo>
                    <a:pt x="5342001" y="0"/>
                    <a:pt x="5349494" y="7620"/>
                    <a:pt x="5349494" y="16891"/>
                  </a:cubicBezTo>
                  <a:lnTo>
                    <a:pt x="5349494" y="211963"/>
                  </a:lnTo>
                  <a:cubicBezTo>
                    <a:pt x="5349494" y="221361"/>
                    <a:pt x="5341874" y="228854"/>
                    <a:pt x="5332603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5332603" y="195072"/>
                  </a:lnTo>
                  <a:lnTo>
                    <a:pt x="5332603" y="211963"/>
                  </a:lnTo>
                  <a:lnTo>
                    <a:pt x="5315712" y="211963"/>
                  </a:lnTo>
                  <a:lnTo>
                    <a:pt x="5315712" y="16891"/>
                  </a:lnTo>
                  <a:lnTo>
                    <a:pt x="5332603" y="16891"/>
                  </a:lnTo>
                  <a:lnTo>
                    <a:pt x="53326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3679424" y="2267712"/>
            <a:ext cx="3986784" cy="1060704"/>
            <a:chOff x="0" y="0"/>
            <a:chExt cx="5315712" cy="141427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315712" cy="1414272"/>
            </a:xfrm>
            <a:custGeom>
              <a:avLst/>
              <a:gdLst/>
              <a:ahLst/>
              <a:cxnLst/>
              <a:rect r="r" b="b" t="t" l="l"/>
              <a:pathLst>
                <a:path h="1414272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36" r="0" b="-23236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23825"/>
              <a:ext cx="5315712" cy="15380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12.3×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3679424" y="3291840"/>
            <a:ext cx="3986784" cy="548640"/>
            <a:chOff x="0" y="0"/>
            <a:chExt cx="5315712" cy="7315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315712" cy="731520"/>
            </a:xfrm>
            <a:custGeom>
              <a:avLst/>
              <a:gdLst/>
              <a:ahLst/>
              <a:cxnLst/>
              <a:rect r="r" b="b" t="t" l="l"/>
              <a:pathLst>
                <a:path h="731520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591" r="0" b="-9159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531571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Speedup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3679424" y="3840480"/>
            <a:ext cx="3986784" cy="457200"/>
            <a:chOff x="0" y="0"/>
            <a:chExt cx="5315712" cy="6096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315712" cy="609600"/>
            </a:xfrm>
            <a:custGeom>
              <a:avLst/>
              <a:gdLst/>
              <a:ahLst/>
              <a:cxnLst/>
              <a:rect r="r" b="b" t="t" l="l"/>
              <a:pathLst>
                <a:path h="609600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909" r="0" b="-119909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5315712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vs baseline scan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499367" y="4705607"/>
            <a:ext cx="7889243" cy="1671323"/>
            <a:chOff x="0" y="0"/>
            <a:chExt cx="10518991" cy="222843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104851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518901" cy="2228342"/>
            </a:xfrm>
            <a:custGeom>
              <a:avLst/>
              <a:gdLst/>
              <a:ahLst/>
              <a:cxnLst/>
              <a:rect r="r" b="b" t="t" l="l"/>
              <a:pathLst>
                <a:path h="2228342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2211451"/>
                  </a:lnTo>
                  <a:cubicBezTo>
                    <a:pt x="10518901" y="2220849"/>
                    <a:pt x="10511282" y="2228342"/>
                    <a:pt x="10502011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0502011" y="2194560"/>
                  </a:lnTo>
                  <a:lnTo>
                    <a:pt x="10502011" y="2211451"/>
                  </a:lnTo>
                  <a:lnTo>
                    <a:pt x="10485120" y="2211451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512064" y="4261104"/>
            <a:ext cx="7863840" cy="402336"/>
            <a:chOff x="0" y="0"/>
            <a:chExt cx="10485120" cy="53644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485120" cy="536448"/>
            </a:xfrm>
            <a:custGeom>
              <a:avLst/>
              <a:gdLst/>
              <a:ahLst/>
              <a:cxnLst/>
              <a:rect r="r" b="b" t="t" l="l"/>
              <a:pathLst>
                <a:path h="53644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0843" r="0" b="-330843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104851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Query Duration (ms)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962407" y="4888487"/>
            <a:ext cx="5877563" cy="391163"/>
            <a:chOff x="0" y="0"/>
            <a:chExt cx="7836751" cy="52155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7802881" cy="487680"/>
            </a:xfrm>
            <a:custGeom>
              <a:avLst/>
              <a:gdLst/>
              <a:ahLst/>
              <a:cxnLst/>
              <a:rect r="r" b="b" t="t" l="l"/>
              <a:pathLst>
                <a:path h="487680" w="7802881">
                  <a:moveTo>
                    <a:pt x="0" y="0"/>
                  </a:moveTo>
                  <a:lnTo>
                    <a:pt x="7802881" y="0"/>
                  </a:lnTo>
                  <a:lnTo>
                    <a:pt x="7802881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EF4444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7836662" cy="521464"/>
            </a:xfrm>
            <a:custGeom>
              <a:avLst/>
              <a:gdLst/>
              <a:ahLst/>
              <a:cxnLst/>
              <a:rect r="r" b="b" t="t" l="l"/>
              <a:pathLst>
                <a:path h="521464" w="7836662">
                  <a:moveTo>
                    <a:pt x="16891" y="0"/>
                  </a:moveTo>
                  <a:lnTo>
                    <a:pt x="7819772" y="0"/>
                  </a:lnTo>
                  <a:cubicBezTo>
                    <a:pt x="7829169" y="0"/>
                    <a:pt x="7836662" y="7620"/>
                    <a:pt x="7836662" y="16891"/>
                  </a:cubicBezTo>
                  <a:lnTo>
                    <a:pt x="7836662" y="504571"/>
                  </a:lnTo>
                  <a:cubicBezTo>
                    <a:pt x="7836662" y="513969"/>
                    <a:pt x="7829042" y="521462"/>
                    <a:pt x="7819772" y="521462"/>
                  </a:cubicBezTo>
                  <a:lnTo>
                    <a:pt x="16891" y="521462"/>
                  </a:lnTo>
                  <a:cubicBezTo>
                    <a:pt x="7620" y="521589"/>
                    <a:pt x="0" y="513969"/>
                    <a:pt x="0" y="504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16891" y="487680"/>
                  </a:lnTo>
                  <a:lnTo>
                    <a:pt x="7819772" y="487680"/>
                  </a:lnTo>
                  <a:lnTo>
                    <a:pt x="7819772" y="504571"/>
                  </a:lnTo>
                  <a:lnTo>
                    <a:pt x="7802880" y="504571"/>
                  </a:lnTo>
                  <a:lnTo>
                    <a:pt x="7802880" y="16891"/>
                  </a:lnTo>
                  <a:lnTo>
                    <a:pt x="7819772" y="16891"/>
                  </a:lnTo>
                  <a:lnTo>
                    <a:pt x="78197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603504" y="4901184"/>
            <a:ext cx="1316736" cy="365760"/>
            <a:chOff x="0" y="0"/>
            <a:chExt cx="1755648" cy="48768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755648" cy="487680"/>
            </a:xfrm>
            <a:custGeom>
              <a:avLst/>
              <a:gdLst/>
              <a:ahLst/>
              <a:cxnLst/>
              <a:rect r="r" b="b" t="t" l="l"/>
              <a:pathLst>
                <a:path h="487680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1755648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Baseline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7863840" y="4901184"/>
            <a:ext cx="1188720" cy="365760"/>
            <a:chOff x="0" y="0"/>
            <a:chExt cx="1584960" cy="48768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584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15849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452.8ms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962407" y="5363975"/>
            <a:ext cx="543668" cy="391163"/>
            <a:chOff x="0" y="0"/>
            <a:chExt cx="724891" cy="52155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691007" cy="487680"/>
            </a:xfrm>
            <a:custGeom>
              <a:avLst/>
              <a:gdLst/>
              <a:ahLst/>
              <a:cxnLst/>
              <a:rect r="r" b="b" t="t" l="l"/>
              <a:pathLst>
                <a:path h="487680" w="691007">
                  <a:moveTo>
                    <a:pt x="0" y="0"/>
                  </a:moveTo>
                  <a:lnTo>
                    <a:pt x="691007" y="0"/>
                  </a:lnTo>
                  <a:lnTo>
                    <a:pt x="691007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724789" cy="521464"/>
            </a:xfrm>
            <a:custGeom>
              <a:avLst/>
              <a:gdLst/>
              <a:ahLst/>
              <a:cxnLst/>
              <a:rect r="r" b="b" t="t" l="l"/>
              <a:pathLst>
                <a:path h="521464" w="724789">
                  <a:moveTo>
                    <a:pt x="16891" y="0"/>
                  </a:moveTo>
                  <a:lnTo>
                    <a:pt x="707898" y="0"/>
                  </a:lnTo>
                  <a:cubicBezTo>
                    <a:pt x="717296" y="0"/>
                    <a:pt x="724789" y="7620"/>
                    <a:pt x="724789" y="16891"/>
                  </a:cubicBezTo>
                  <a:lnTo>
                    <a:pt x="724789" y="504571"/>
                  </a:lnTo>
                  <a:cubicBezTo>
                    <a:pt x="724789" y="513969"/>
                    <a:pt x="717169" y="521462"/>
                    <a:pt x="707898" y="521462"/>
                  </a:cubicBezTo>
                  <a:lnTo>
                    <a:pt x="16891" y="521462"/>
                  </a:lnTo>
                  <a:cubicBezTo>
                    <a:pt x="7620" y="521589"/>
                    <a:pt x="0" y="513969"/>
                    <a:pt x="0" y="504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16891" y="487680"/>
                  </a:lnTo>
                  <a:lnTo>
                    <a:pt x="707898" y="487680"/>
                  </a:lnTo>
                  <a:lnTo>
                    <a:pt x="707898" y="504571"/>
                  </a:lnTo>
                  <a:lnTo>
                    <a:pt x="691007" y="504571"/>
                  </a:lnTo>
                  <a:lnTo>
                    <a:pt x="691007" y="16891"/>
                  </a:lnTo>
                  <a:lnTo>
                    <a:pt x="707898" y="16891"/>
                  </a:lnTo>
                  <a:lnTo>
                    <a:pt x="70789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603504" y="5376672"/>
            <a:ext cx="1316736" cy="365760"/>
            <a:chOff x="0" y="0"/>
            <a:chExt cx="1755648" cy="48768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755648" cy="487680"/>
            </a:xfrm>
            <a:custGeom>
              <a:avLst/>
              <a:gdLst/>
              <a:ahLst/>
              <a:cxnLst/>
              <a:rect r="r" b="b" t="t" l="l"/>
              <a:pathLst>
                <a:path h="487680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1755648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Composite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2529945" y="5376672"/>
            <a:ext cx="1188720" cy="365760"/>
            <a:chOff x="0" y="0"/>
            <a:chExt cx="1584960" cy="48768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584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15849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40.1ms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962407" y="5839463"/>
            <a:ext cx="501015" cy="391163"/>
            <a:chOff x="0" y="0"/>
            <a:chExt cx="668020" cy="52155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634238" cy="487680"/>
            </a:xfrm>
            <a:custGeom>
              <a:avLst/>
              <a:gdLst/>
              <a:ahLst/>
              <a:cxnLst/>
              <a:rect r="r" b="b" t="t" l="l"/>
              <a:pathLst>
                <a:path h="487680" w="634238">
                  <a:moveTo>
                    <a:pt x="0" y="0"/>
                  </a:moveTo>
                  <a:lnTo>
                    <a:pt x="634238" y="0"/>
                  </a:lnTo>
                  <a:lnTo>
                    <a:pt x="634238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2DD4BF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668020" cy="521464"/>
            </a:xfrm>
            <a:custGeom>
              <a:avLst/>
              <a:gdLst/>
              <a:ahLst/>
              <a:cxnLst/>
              <a:rect r="r" b="b" t="t" l="l"/>
              <a:pathLst>
                <a:path h="521464" w="668020">
                  <a:moveTo>
                    <a:pt x="16891" y="0"/>
                  </a:moveTo>
                  <a:lnTo>
                    <a:pt x="651129" y="0"/>
                  </a:lnTo>
                  <a:cubicBezTo>
                    <a:pt x="660400" y="0"/>
                    <a:pt x="668020" y="7620"/>
                    <a:pt x="668020" y="16891"/>
                  </a:cubicBezTo>
                  <a:lnTo>
                    <a:pt x="668020" y="504571"/>
                  </a:lnTo>
                  <a:cubicBezTo>
                    <a:pt x="668020" y="513969"/>
                    <a:pt x="660400" y="521462"/>
                    <a:pt x="651129" y="521462"/>
                  </a:cubicBezTo>
                  <a:lnTo>
                    <a:pt x="16891" y="521462"/>
                  </a:lnTo>
                  <a:cubicBezTo>
                    <a:pt x="7620" y="521589"/>
                    <a:pt x="0" y="513969"/>
                    <a:pt x="0" y="504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16891" y="487680"/>
                  </a:lnTo>
                  <a:lnTo>
                    <a:pt x="651129" y="487680"/>
                  </a:lnTo>
                  <a:lnTo>
                    <a:pt x="651129" y="504571"/>
                  </a:lnTo>
                  <a:lnTo>
                    <a:pt x="634111" y="504571"/>
                  </a:lnTo>
                  <a:lnTo>
                    <a:pt x="634111" y="16891"/>
                  </a:lnTo>
                  <a:lnTo>
                    <a:pt x="651002" y="16891"/>
                  </a:lnTo>
                  <a:lnTo>
                    <a:pt x="65100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603504" y="5852160"/>
            <a:ext cx="1316736" cy="365760"/>
            <a:chOff x="0" y="0"/>
            <a:chExt cx="1755648" cy="48768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755648" cy="487680"/>
            </a:xfrm>
            <a:custGeom>
              <a:avLst/>
              <a:gdLst/>
              <a:ahLst/>
              <a:cxnLst/>
              <a:rect r="r" b="b" t="t" l="l"/>
              <a:pathLst>
                <a:path h="487680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1755648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Covering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2487301" y="5852160"/>
            <a:ext cx="1188720" cy="365760"/>
            <a:chOff x="0" y="0"/>
            <a:chExt cx="1584960" cy="48768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584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15849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2DD4B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36.8ms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8619239" y="4705607"/>
            <a:ext cx="9169403" cy="1671323"/>
            <a:chOff x="0" y="0"/>
            <a:chExt cx="12225871" cy="2228431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6891" y="16891"/>
              <a:ext cx="12192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2225782" cy="2228342"/>
            </a:xfrm>
            <a:custGeom>
              <a:avLst/>
              <a:gdLst/>
              <a:ahLst/>
              <a:cxnLst/>
              <a:rect r="r" b="b" t="t" l="l"/>
              <a:pathLst>
                <a:path h="2228342" w="12225782">
                  <a:moveTo>
                    <a:pt x="16891" y="0"/>
                  </a:moveTo>
                  <a:lnTo>
                    <a:pt x="12208891" y="0"/>
                  </a:lnTo>
                  <a:cubicBezTo>
                    <a:pt x="12218289" y="0"/>
                    <a:pt x="12225782" y="7620"/>
                    <a:pt x="12225782" y="16891"/>
                  </a:cubicBezTo>
                  <a:lnTo>
                    <a:pt x="12225782" y="2211451"/>
                  </a:lnTo>
                  <a:cubicBezTo>
                    <a:pt x="12225782" y="2220849"/>
                    <a:pt x="12218162" y="2228342"/>
                    <a:pt x="12208891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2208891" y="2194560"/>
                  </a:lnTo>
                  <a:lnTo>
                    <a:pt x="12208891" y="2211451"/>
                  </a:lnTo>
                  <a:lnTo>
                    <a:pt x="12192000" y="2211451"/>
                  </a:lnTo>
                  <a:lnTo>
                    <a:pt x="12192000" y="16891"/>
                  </a:lnTo>
                  <a:lnTo>
                    <a:pt x="12208891" y="16891"/>
                  </a:lnTo>
                  <a:lnTo>
                    <a:pt x="122088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8814816" y="4754880"/>
            <a:ext cx="8778240" cy="457200"/>
            <a:chOff x="0" y="0"/>
            <a:chExt cx="11704320" cy="60960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1704320" cy="609600"/>
            </a:xfrm>
            <a:custGeom>
              <a:avLst/>
              <a:gdLst/>
              <a:ahLst/>
              <a:cxnLst/>
              <a:rect r="r" b="b" t="t" l="l"/>
              <a:pathLst>
                <a:path h="609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112" r="0" b="-324112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47625"/>
              <a:ext cx="1170432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EXPLAIN Plan Results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8814816" y="5266944"/>
            <a:ext cx="1828800" cy="292608"/>
            <a:chOff x="0" y="0"/>
            <a:chExt cx="2438400" cy="390144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2438400" cy="390144"/>
            </a:xfrm>
            <a:custGeom>
              <a:avLst/>
              <a:gdLst/>
              <a:ahLst/>
              <a:cxnLst/>
              <a:rect r="r" b="b" t="t" l="l"/>
              <a:pathLst>
                <a:path h="390144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2438400" cy="428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Baseline: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0643616" y="5266944"/>
            <a:ext cx="6912864" cy="292608"/>
            <a:chOff x="0" y="0"/>
            <a:chExt cx="9217152" cy="390144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9217152" cy="390144"/>
            </a:xfrm>
            <a:custGeom>
              <a:avLst/>
              <a:gdLst/>
              <a:ahLst/>
              <a:cxnLst/>
              <a:rect r="r" b="b" t="t" l="l"/>
              <a:pathLst>
                <a:path h="390144" w="9217152">
                  <a:moveTo>
                    <a:pt x="0" y="0"/>
                  </a:moveTo>
                  <a:lnTo>
                    <a:pt x="9217152" y="0"/>
                  </a:lnTo>
                  <a:lnTo>
                    <a:pt x="9217152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0334" r="0" b="-410334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9217152" cy="428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type: ALL · key: none · rows: 4,999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8814816" y="5596128"/>
            <a:ext cx="1828800" cy="292608"/>
            <a:chOff x="0" y="0"/>
            <a:chExt cx="2438400" cy="390144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2438400" cy="390144"/>
            </a:xfrm>
            <a:custGeom>
              <a:avLst/>
              <a:gdLst/>
              <a:ahLst/>
              <a:cxnLst/>
              <a:rect r="r" b="b" t="t" l="l"/>
              <a:pathLst>
                <a:path h="390144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2438400" cy="428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Composite: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0643616" y="5596128"/>
            <a:ext cx="6912864" cy="292608"/>
            <a:chOff x="0" y="0"/>
            <a:chExt cx="9217152" cy="390144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9217152" cy="390144"/>
            </a:xfrm>
            <a:custGeom>
              <a:avLst/>
              <a:gdLst/>
              <a:ahLst/>
              <a:cxnLst/>
              <a:rect r="r" b="b" t="t" l="l"/>
              <a:pathLst>
                <a:path h="390144" w="9217152">
                  <a:moveTo>
                    <a:pt x="0" y="0"/>
                  </a:moveTo>
                  <a:lnTo>
                    <a:pt x="9217152" y="0"/>
                  </a:lnTo>
                  <a:lnTo>
                    <a:pt x="9217152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0334" r="0" b="-410334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9217152" cy="428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type: ref · key: idx_portfolio_benchmark_lookup · rows: 1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8814816" y="5925312"/>
            <a:ext cx="1828800" cy="292608"/>
            <a:chOff x="0" y="0"/>
            <a:chExt cx="2438400" cy="390144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2438400" cy="390144"/>
            </a:xfrm>
            <a:custGeom>
              <a:avLst/>
              <a:gdLst/>
              <a:ahLst/>
              <a:cxnLst/>
              <a:rect r="r" b="b" t="t" l="l"/>
              <a:pathLst>
                <a:path h="390144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2438400" cy="428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2DD4B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Covering: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0643616" y="5925312"/>
            <a:ext cx="6912864" cy="292608"/>
            <a:chOff x="0" y="0"/>
            <a:chExt cx="9217152" cy="390144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9217152" cy="390144"/>
            </a:xfrm>
            <a:custGeom>
              <a:avLst/>
              <a:gdLst/>
              <a:ahLst/>
              <a:cxnLst/>
              <a:rect r="r" b="b" t="t" l="l"/>
              <a:pathLst>
                <a:path h="390144" w="9217152">
                  <a:moveTo>
                    <a:pt x="0" y="0"/>
                  </a:moveTo>
                  <a:lnTo>
                    <a:pt x="9217152" y="0"/>
                  </a:lnTo>
                  <a:lnTo>
                    <a:pt x="9217152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0334" r="0" b="-410334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9217152" cy="428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type: ref · same key · rows: 1 · Backward index scan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512064" y="6620256"/>
            <a:ext cx="17263872" cy="512064"/>
            <a:chOff x="0" y="0"/>
            <a:chExt cx="23018496" cy="682752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23018496" cy="682752"/>
            </a:xfrm>
            <a:custGeom>
              <a:avLst/>
              <a:gdLst/>
              <a:ahLst/>
              <a:cxnLst/>
              <a:rect r="r" b="b" t="t" l="l"/>
              <a:pathLst>
                <a:path h="682752" w="23018496">
                  <a:moveTo>
                    <a:pt x="0" y="0"/>
                  </a:moveTo>
                  <a:lnTo>
                    <a:pt x="23018496" y="0"/>
                  </a:lnTo>
                  <a:lnTo>
                    <a:pt x="23018496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6924" r="0" b="-606924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23018496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 spc="200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A — B+ Tree Domain Benchmark (20 data points, 500→19,500 rows)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499367" y="7302503"/>
            <a:ext cx="4085339" cy="2585723"/>
            <a:chOff x="0" y="0"/>
            <a:chExt cx="5447119" cy="3447631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16891" y="16891"/>
              <a:ext cx="5413248" cy="3413760"/>
            </a:xfrm>
            <a:custGeom>
              <a:avLst/>
              <a:gdLst/>
              <a:ahLst/>
              <a:cxnLst/>
              <a:rect r="r" b="b" t="t" l="l"/>
              <a:pathLst>
                <a:path h="341376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447030" cy="3447542"/>
            </a:xfrm>
            <a:custGeom>
              <a:avLst/>
              <a:gdLst/>
              <a:ahLst/>
              <a:cxnLst/>
              <a:rect r="r" b="b" t="t" l="l"/>
              <a:pathLst>
                <a:path h="3447542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3430651"/>
                  </a:lnTo>
                  <a:cubicBezTo>
                    <a:pt x="5447030" y="3440049"/>
                    <a:pt x="5439410" y="3447542"/>
                    <a:pt x="5430139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5430139" y="3413760"/>
                  </a:lnTo>
                  <a:lnTo>
                    <a:pt x="5430139" y="3430651"/>
                  </a:lnTo>
                  <a:lnTo>
                    <a:pt x="5413248" y="3430651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499367" y="7302503"/>
            <a:ext cx="4085339" cy="208283"/>
            <a:chOff x="0" y="0"/>
            <a:chExt cx="5447119" cy="277711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16891" y="16891"/>
              <a:ext cx="5413248" cy="243840"/>
            </a:xfrm>
            <a:custGeom>
              <a:avLst/>
              <a:gdLst/>
              <a:ahLst/>
              <a:cxnLst/>
              <a:rect r="r" b="b" t="t" l="l"/>
              <a:pathLst>
                <a:path h="24384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5447030" cy="277624"/>
            </a:xfrm>
            <a:custGeom>
              <a:avLst/>
              <a:gdLst/>
              <a:ahLst/>
              <a:cxnLst/>
              <a:rect r="r" b="b" t="t" l="l"/>
              <a:pathLst>
                <a:path h="277624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260731"/>
                  </a:lnTo>
                  <a:cubicBezTo>
                    <a:pt x="5447030" y="270129"/>
                    <a:pt x="5439410" y="277622"/>
                    <a:pt x="5430139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5430139" y="243840"/>
                  </a:lnTo>
                  <a:lnTo>
                    <a:pt x="5430139" y="260731"/>
                  </a:lnTo>
                  <a:lnTo>
                    <a:pt x="5413248" y="260731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694944" y="7571232"/>
            <a:ext cx="3694176" cy="585216"/>
            <a:chOff x="0" y="0"/>
            <a:chExt cx="4925568" cy="780288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4925568" cy="780288"/>
            </a:xfrm>
            <a:custGeom>
              <a:avLst/>
              <a:gdLst/>
              <a:ahLst/>
              <a:cxnLst/>
              <a:rect r="r" b="b" t="t" l="l"/>
              <a:pathLst>
                <a:path h="780288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999" r="0" b="-72999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47625"/>
              <a:ext cx="4925568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Outer Token Lookup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694944" y="8193024"/>
            <a:ext cx="1737360" cy="512064"/>
            <a:chOff x="0" y="0"/>
            <a:chExt cx="2316480" cy="682752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2316480" cy="682752"/>
            </a:xfrm>
            <a:custGeom>
              <a:avLst/>
              <a:gdLst/>
              <a:ahLst/>
              <a:cxnLst/>
              <a:rect r="r" b="b" t="t" l="l"/>
              <a:pathLst>
                <a:path h="682752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9" r="0" b="-16109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66675"/>
              <a:ext cx="2316480" cy="749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Avg: 17.6×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2432304" y="8193024"/>
            <a:ext cx="1956816" cy="512064"/>
            <a:chOff x="0" y="0"/>
            <a:chExt cx="2609088" cy="682752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2609088" cy="682752"/>
            </a:xfrm>
            <a:custGeom>
              <a:avLst/>
              <a:gdLst/>
              <a:ahLst/>
              <a:cxnLst/>
              <a:rect r="r" b="b" t="t" l="l"/>
              <a:pathLst>
                <a:path h="682752" w="2609088">
                  <a:moveTo>
                    <a:pt x="0" y="0"/>
                  </a:moveTo>
                  <a:lnTo>
                    <a:pt x="2609088" y="0"/>
                  </a:lnTo>
                  <a:lnTo>
                    <a:pt x="260908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60" r="0" b="-24460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66675"/>
              <a:ext cx="2609088" cy="749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CD34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Peak: 44.8×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658368" y="8814816"/>
            <a:ext cx="3803904" cy="914400"/>
            <a:chOff x="0" y="0"/>
            <a:chExt cx="5071872" cy="121920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5071872" cy="1219200"/>
            </a:xfrm>
            <a:custGeom>
              <a:avLst/>
              <a:gdLst/>
              <a:ahLst/>
              <a:cxnLst/>
              <a:rect r="r" b="b" t="t" l="l"/>
              <a:pathLst>
                <a:path h="121920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057" r="0" b="-31057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38100"/>
              <a:ext cx="5071872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Exact match: B+ Tree O(log n) vs brute-force O(n) linear scan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4851911" y="7302503"/>
            <a:ext cx="4085339" cy="2585723"/>
            <a:chOff x="0" y="0"/>
            <a:chExt cx="5447119" cy="3447631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16891" y="16891"/>
              <a:ext cx="5413248" cy="3413760"/>
            </a:xfrm>
            <a:custGeom>
              <a:avLst/>
              <a:gdLst/>
              <a:ahLst/>
              <a:cxnLst/>
              <a:rect r="r" b="b" t="t" l="l"/>
              <a:pathLst>
                <a:path h="341376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5447030" cy="3447542"/>
            </a:xfrm>
            <a:custGeom>
              <a:avLst/>
              <a:gdLst/>
              <a:ahLst/>
              <a:cxnLst/>
              <a:rect r="r" b="b" t="t" l="l"/>
              <a:pathLst>
                <a:path h="3447542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3430651"/>
                  </a:lnTo>
                  <a:cubicBezTo>
                    <a:pt x="5447030" y="3440049"/>
                    <a:pt x="5439410" y="3447542"/>
                    <a:pt x="5430139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5430139" y="3413760"/>
                  </a:lnTo>
                  <a:lnTo>
                    <a:pt x="5430139" y="3430651"/>
                  </a:lnTo>
                  <a:lnTo>
                    <a:pt x="5413248" y="3430651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4851911" y="7302503"/>
            <a:ext cx="4085339" cy="208283"/>
            <a:chOff x="0" y="0"/>
            <a:chExt cx="5447119" cy="277711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16891" y="16891"/>
              <a:ext cx="5413248" cy="243840"/>
            </a:xfrm>
            <a:custGeom>
              <a:avLst/>
              <a:gdLst/>
              <a:ahLst/>
              <a:cxnLst/>
              <a:rect r="r" b="b" t="t" l="l"/>
              <a:pathLst>
                <a:path h="24384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5447030" cy="277624"/>
            </a:xfrm>
            <a:custGeom>
              <a:avLst/>
              <a:gdLst/>
              <a:ahLst/>
              <a:cxnLst/>
              <a:rect r="r" b="b" t="t" l="l"/>
              <a:pathLst>
                <a:path h="277624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260731"/>
                  </a:lnTo>
                  <a:cubicBezTo>
                    <a:pt x="5447030" y="270129"/>
                    <a:pt x="5439410" y="277622"/>
                    <a:pt x="5430139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5430139" y="243840"/>
                  </a:lnTo>
                  <a:lnTo>
                    <a:pt x="5430139" y="260731"/>
                  </a:lnTo>
                  <a:lnTo>
                    <a:pt x="5413248" y="260731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5047488" y="7571232"/>
            <a:ext cx="3694176" cy="585216"/>
            <a:chOff x="0" y="0"/>
            <a:chExt cx="4925568" cy="780288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4925568" cy="780288"/>
            </a:xfrm>
            <a:custGeom>
              <a:avLst/>
              <a:gdLst/>
              <a:ahLst/>
              <a:cxnLst/>
              <a:rect r="r" b="b" t="t" l="l"/>
              <a:pathLst>
                <a:path h="780288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999" r="0" b="-72999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47625"/>
              <a:ext cx="4925568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Expiry Range Scan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5047488" y="8193024"/>
            <a:ext cx="1737360" cy="512064"/>
            <a:chOff x="0" y="0"/>
            <a:chExt cx="2316480" cy="682752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2316480" cy="682752"/>
            </a:xfrm>
            <a:custGeom>
              <a:avLst/>
              <a:gdLst/>
              <a:ahLst/>
              <a:cxnLst/>
              <a:rect r="r" b="b" t="t" l="l"/>
              <a:pathLst>
                <a:path h="682752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9" r="0" b="-16109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66675"/>
              <a:ext cx="2316480" cy="749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Avg: 36.7×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6784848" y="8193024"/>
            <a:ext cx="1956816" cy="512064"/>
            <a:chOff x="0" y="0"/>
            <a:chExt cx="2609088" cy="682752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2609088" cy="682752"/>
            </a:xfrm>
            <a:custGeom>
              <a:avLst/>
              <a:gdLst/>
              <a:ahLst/>
              <a:cxnLst/>
              <a:rect r="r" b="b" t="t" l="l"/>
              <a:pathLst>
                <a:path h="682752" w="2609088">
                  <a:moveTo>
                    <a:pt x="0" y="0"/>
                  </a:moveTo>
                  <a:lnTo>
                    <a:pt x="2609088" y="0"/>
                  </a:lnTo>
                  <a:lnTo>
                    <a:pt x="260908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60" r="0" b="-24460"/>
              </a:stretch>
            </a:blipFill>
          </p:spPr>
        </p:sp>
        <p:sp>
          <p:nvSpPr>
            <p:cNvPr name="TextBox 163" id="163"/>
            <p:cNvSpPr txBox="true"/>
            <p:nvPr/>
          </p:nvSpPr>
          <p:spPr>
            <a:xfrm>
              <a:off x="0" y="-66675"/>
              <a:ext cx="2609088" cy="749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CD34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Peak: 73.2×</a:t>
              </a:r>
            </a:p>
          </p:txBody>
        </p:sp>
      </p:grpSp>
      <p:grpSp>
        <p:nvGrpSpPr>
          <p:cNvPr name="Group 164" id="164"/>
          <p:cNvGrpSpPr/>
          <p:nvPr/>
        </p:nvGrpSpPr>
        <p:grpSpPr>
          <a:xfrm rot="0">
            <a:off x="5010912" y="8814816"/>
            <a:ext cx="3803904" cy="914400"/>
            <a:chOff x="0" y="0"/>
            <a:chExt cx="5071872" cy="1219200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5071872" cy="1219200"/>
            </a:xfrm>
            <a:custGeom>
              <a:avLst/>
              <a:gdLst/>
              <a:ahLst/>
              <a:cxnLst/>
              <a:rect r="r" b="b" t="t" l="l"/>
              <a:pathLst>
                <a:path h="121920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057" r="0" b="-31057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38100"/>
              <a:ext cx="5071872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Vault expiry window: leaf-list traversal vs full rescanning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9204455" y="7302503"/>
            <a:ext cx="4085339" cy="2585723"/>
            <a:chOff x="0" y="0"/>
            <a:chExt cx="5447119" cy="3447631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16891" y="16891"/>
              <a:ext cx="5413248" cy="3413760"/>
            </a:xfrm>
            <a:custGeom>
              <a:avLst/>
              <a:gdLst/>
              <a:ahLst/>
              <a:cxnLst/>
              <a:rect r="r" b="b" t="t" l="l"/>
              <a:pathLst>
                <a:path h="341376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5447030" cy="3447542"/>
            </a:xfrm>
            <a:custGeom>
              <a:avLst/>
              <a:gdLst/>
              <a:ahLst/>
              <a:cxnLst/>
              <a:rect r="r" b="b" t="t" l="l"/>
              <a:pathLst>
                <a:path h="3447542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3430651"/>
                  </a:lnTo>
                  <a:cubicBezTo>
                    <a:pt x="5447030" y="3440049"/>
                    <a:pt x="5439410" y="3447542"/>
                    <a:pt x="5430139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5430139" y="3413760"/>
                  </a:lnTo>
                  <a:lnTo>
                    <a:pt x="5430139" y="3430651"/>
                  </a:lnTo>
                  <a:lnTo>
                    <a:pt x="5413248" y="3430651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9204455" y="7302503"/>
            <a:ext cx="4085339" cy="208283"/>
            <a:chOff x="0" y="0"/>
            <a:chExt cx="5447119" cy="277711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16891" y="16891"/>
              <a:ext cx="5413248" cy="243840"/>
            </a:xfrm>
            <a:custGeom>
              <a:avLst/>
              <a:gdLst/>
              <a:ahLst/>
              <a:cxnLst/>
              <a:rect r="r" b="b" t="t" l="l"/>
              <a:pathLst>
                <a:path h="24384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5447030" cy="277624"/>
            </a:xfrm>
            <a:custGeom>
              <a:avLst/>
              <a:gdLst/>
              <a:ahLst/>
              <a:cxnLst/>
              <a:rect r="r" b="b" t="t" l="l"/>
              <a:pathLst>
                <a:path h="277624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260731"/>
                  </a:lnTo>
                  <a:cubicBezTo>
                    <a:pt x="5447030" y="270129"/>
                    <a:pt x="5439410" y="277622"/>
                    <a:pt x="5430139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5430139" y="243840"/>
                  </a:lnTo>
                  <a:lnTo>
                    <a:pt x="5430139" y="260731"/>
                  </a:lnTo>
                  <a:lnTo>
                    <a:pt x="5413248" y="260731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173" id="173"/>
          <p:cNvGrpSpPr/>
          <p:nvPr/>
        </p:nvGrpSpPr>
        <p:grpSpPr>
          <a:xfrm rot="0">
            <a:off x="9400032" y="7571232"/>
            <a:ext cx="3694176" cy="585216"/>
            <a:chOff x="0" y="0"/>
            <a:chExt cx="4925568" cy="780288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4925568" cy="780288"/>
            </a:xfrm>
            <a:custGeom>
              <a:avLst/>
              <a:gdLst/>
              <a:ahLst/>
              <a:cxnLst/>
              <a:rect r="r" b="b" t="t" l="l"/>
              <a:pathLst>
                <a:path h="780288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999" r="0" b="-72999"/>
              </a:stretch>
            </a:blipFill>
          </p:spPr>
        </p:sp>
        <p:sp>
          <p:nvSpPr>
            <p:cNvPr name="TextBox 175" id="175"/>
            <p:cNvSpPr txBox="true"/>
            <p:nvPr/>
          </p:nvSpPr>
          <p:spPr>
            <a:xfrm>
              <a:off x="0" y="-47625"/>
              <a:ext cx="4925568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File Range Scan</a:t>
              </a:r>
            </a:p>
          </p:txBody>
        </p:sp>
      </p:grpSp>
      <p:grpSp>
        <p:nvGrpSpPr>
          <p:cNvPr name="Group 176" id="176"/>
          <p:cNvGrpSpPr/>
          <p:nvPr/>
        </p:nvGrpSpPr>
        <p:grpSpPr>
          <a:xfrm rot="0">
            <a:off x="9400032" y="8193024"/>
            <a:ext cx="1737360" cy="512064"/>
            <a:chOff x="0" y="0"/>
            <a:chExt cx="2316480" cy="682752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2316480" cy="682752"/>
            </a:xfrm>
            <a:custGeom>
              <a:avLst/>
              <a:gdLst/>
              <a:ahLst/>
              <a:cxnLst/>
              <a:rect r="r" b="b" t="t" l="l"/>
              <a:pathLst>
                <a:path h="682752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9" r="0" b="-16109"/>
              </a:stretch>
            </a:blipFill>
          </p:spPr>
        </p:sp>
        <p:sp>
          <p:nvSpPr>
            <p:cNvPr name="TextBox 178" id="178"/>
            <p:cNvSpPr txBox="true"/>
            <p:nvPr/>
          </p:nvSpPr>
          <p:spPr>
            <a:xfrm>
              <a:off x="0" y="-66675"/>
              <a:ext cx="2316480" cy="749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Avg: 62.0×</a:t>
              </a:r>
            </a:p>
          </p:txBody>
        </p:sp>
      </p:grpSp>
      <p:grpSp>
        <p:nvGrpSpPr>
          <p:cNvPr name="Group 179" id="179"/>
          <p:cNvGrpSpPr/>
          <p:nvPr/>
        </p:nvGrpSpPr>
        <p:grpSpPr>
          <a:xfrm rot="0">
            <a:off x="11137392" y="8193024"/>
            <a:ext cx="1956816" cy="557138"/>
            <a:chOff x="0" y="0"/>
            <a:chExt cx="2609088" cy="742851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2609088" cy="742851"/>
            </a:xfrm>
            <a:custGeom>
              <a:avLst/>
              <a:gdLst/>
              <a:ahLst/>
              <a:cxnLst/>
              <a:rect r="r" b="b" t="t" l="l"/>
              <a:pathLst>
                <a:path h="742851" w="2609088">
                  <a:moveTo>
                    <a:pt x="0" y="0"/>
                  </a:moveTo>
                  <a:lnTo>
                    <a:pt x="2609088" y="0"/>
                  </a:lnTo>
                  <a:lnTo>
                    <a:pt x="2609088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481" r="0" b="-14391"/>
              </a:stretch>
            </a:blipFill>
          </p:spPr>
        </p:sp>
        <p:sp>
          <p:nvSpPr>
            <p:cNvPr name="TextBox 181" id="181"/>
            <p:cNvSpPr txBox="true"/>
            <p:nvPr/>
          </p:nvSpPr>
          <p:spPr>
            <a:xfrm>
              <a:off x="0" y="-47625"/>
              <a:ext cx="2609088" cy="7904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60"/>
                </a:lnSpc>
              </a:pPr>
              <a:r>
                <a:rPr lang="en-US" sz="2800" b="true">
                  <a:solidFill>
                    <a:srgbClr val="FCD34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Peak: 129.8×</a:t>
              </a:r>
            </a:p>
          </p:txBody>
        </p:sp>
      </p:grpSp>
      <p:grpSp>
        <p:nvGrpSpPr>
          <p:cNvPr name="Group 182" id="182"/>
          <p:cNvGrpSpPr/>
          <p:nvPr/>
        </p:nvGrpSpPr>
        <p:grpSpPr>
          <a:xfrm rot="0">
            <a:off x="9363456" y="8814816"/>
            <a:ext cx="3803904" cy="914400"/>
            <a:chOff x="0" y="0"/>
            <a:chExt cx="5071872" cy="1219200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5071872" cy="1219200"/>
            </a:xfrm>
            <a:custGeom>
              <a:avLst/>
              <a:gdLst/>
              <a:ahLst/>
              <a:cxnLst/>
              <a:rect r="r" b="b" t="t" l="l"/>
              <a:pathLst>
                <a:path h="121920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057" r="0" b="-31057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-38100"/>
              <a:ext cx="5071872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(vault_id,status,created_at) composite — highest range gain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13556999" y="7302503"/>
            <a:ext cx="4085339" cy="2585723"/>
            <a:chOff x="0" y="0"/>
            <a:chExt cx="5447119" cy="3447631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16891" y="16891"/>
              <a:ext cx="5413248" cy="3413760"/>
            </a:xfrm>
            <a:custGeom>
              <a:avLst/>
              <a:gdLst/>
              <a:ahLst/>
              <a:cxnLst/>
              <a:rect r="r" b="b" t="t" l="l"/>
              <a:pathLst>
                <a:path h="341376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87" id="187"/>
            <p:cNvSpPr/>
            <p:nvPr/>
          </p:nvSpPr>
          <p:spPr>
            <a:xfrm flipH="false" flipV="false" rot="0">
              <a:off x="0" y="0"/>
              <a:ext cx="5447030" cy="3447542"/>
            </a:xfrm>
            <a:custGeom>
              <a:avLst/>
              <a:gdLst/>
              <a:ahLst/>
              <a:cxnLst/>
              <a:rect r="r" b="b" t="t" l="l"/>
              <a:pathLst>
                <a:path h="3447542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3430651"/>
                  </a:lnTo>
                  <a:cubicBezTo>
                    <a:pt x="5447030" y="3440049"/>
                    <a:pt x="5439410" y="3447542"/>
                    <a:pt x="5430139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5430139" y="3413760"/>
                  </a:lnTo>
                  <a:lnTo>
                    <a:pt x="5430139" y="3430651"/>
                  </a:lnTo>
                  <a:lnTo>
                    <a:pt x="5413248" y="3430651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88" id="188"/>
          <p:cNvGrpSpPr/>
          <p:nvPr/>
        </p:nvGrpSpPr>
        <p:grpSpPr>
          <a:xfrm rot="0">
            <a:off x="13556999" y="7302503"/>
            <a:ext cx="4085339" cy="208283"/>
            <a:chOff x="0" y="0"/>
            <a:chExt cx="5447119" cy="277711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16891" y="16891"/>
              <a:ext cx="5413248" cy="243840"/>
            </a:xfrm>
            <a:custGeom>
              <a:avLst/>
              <a:gdLst/>
              <a:ahLst/>
              <a:cxnLst/>
              <a:rect r="r" b="b" t="t" l="l"/>
              <a:pathLst>
                <a:path h="24384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190" id="190"/>
            <p:cNvSpPr/>
            <p:nvPr/>
          </p:nvSpPr>
          <p:spPr>
            <a:xfrm flipH="false" flipV="false" rot="0">
              <a:off x="0" y="0"/>
              <a:ext cx="5447030" cy="277624"/>
            </a:xfrm>
            <a:custGeom>
              <a:avLst/>
              <a:gdLst/>
              <a:ahLst/>
              <a:cxnLst/>
              <a:rect r="r" b="b" t="t" l="l"/>
              <a:pathLst>
                <a:path h="277624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260731"/>
                  </a:lnTo>
                  <a:cubicBezTo>
                    <a:pt x="5447030" y="270129"/>
                    <a:pt x="5439410" y="277622"/>
                    <a:pt x="5430139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5430139" y="243840"/>
                  </a:lnTo>
                  <a:lnTo>
                    <a:pt x="5430139" y="260731"/>
                  </a:lnTo>
                  <a:lnTo>
                    <a:pt x="5413248" y="260731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191" id="191"/>
          <p:cNvGrpSpPr/>
          <p:nvPr/>
        </p:nvGrpSpPr>
        <p:grpSpPr>
          <a:xfrm rot="0">
            <a:off x="13752576" y="7571232"/>
            <a:ext cx="3694176" cy="585216"/>
            <a:chOff x="0" y="0"/>
            <a:chExt cx="4925568" cy="780288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4925568" cy="780288"/>
            </a:xfrm>
            <a:custGeom>
              <a:avLst/>
              <a:gdLst/>
              <a:ahLst/>
              <a:cxnLst/>
              <a:rect r="r" b="b" t="t" l="l"/>
              <a:pathLst>
                <a:path h="780288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999" r="0" b="-72999"/>
              </a:stretch>
            </a:blipFill>
          </p:spPr>
        </p:sp>
        <p:sp>
          <p:nvSpPr>
            <p:cNvPr name="TextBox 193" id="193"/>
            <p:cNvSpPr txBox="true"/>
            <p:nvPr/>
          </p:nvSpPr>
          <p:spPr>
            <a:xfrm>
              <a:off x="0" y="-47625"/>
              <a:ext cx="4925568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Auth Range Scan</a:t>
              </a:r>
            </a:p>
          </p:txBody>
        </p:sp>
      </p:grpSp>
      <p:grpSp>
        <p:nvGrpSpPr>
          <p:cNvPr name="Group 194" id="194"/>
          <p:cNvGrpSpPr/>
          <p:nvPr/>
        </p:nvGrpSpPr>
        <p:grpSpPr>
          <a:xfrm rot="0">
            <a:off x="13752576" y="8193024"/>
            <a:ext cx="1737360" cy="512064"/>
            <a:chOff x="0" y="0"/>
            <a:chExt cx="2316480" cy="682752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2316480" cy="682752"/>
            </a:xfrm>
            <a:custGeom>
              <a:avLst/>
              <a:gdLst/>
              <a:ahLst/>
              <a:cxnLst/>
              <a:rect r="r" b="b" t="t" l="l"/>
              <a:pathLst>
                <a:path h="682752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9" r="0" b="-16109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-66675"/>
              <a:ext cx="2316480" cy="749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Avg: 8.4×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15489936" y="8193024"/>
            <a:ext cx="1956816" cy="512064"/>
            <a:chOff x="0" y="0"/>
            <a:chExt cx="2609088" cy="682752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2609088" cy="682752"/>
            </a:xfrm>
            <a:custGeom>
              <a:avLst/>
              <a:gdLst/>
              <a:ahLst/>
              <a:cxnLst/>
              <a:rect r="r" b="b" t="t" l="l"/>
              <a:pathLst>
                <a:path h="682752" w="2609088">
                  <a:moveTo>
                    <a:pt x="0" y="0"/>
                  </a:moveTo>
                  <a:lnTo>
                    <a:pt x="2609088" y="0"/>
                  </a:lnTo>
                  <a:lnTo>
                    <a:pt x="260908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60" r="0" b="-24460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-66675"/>
              <a:ext cx="2609088" cy="749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CD34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Peak: 14.8×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13716000" y="8814816"/>
            <a:ext cx="3803904" cy="914400"/>
            <a:chOff x="0" y="0"/>
            <a:chExt cx="5071872" cy="1219200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5071872" cy="1219200"/>
            </a:xfrm>
            <a:custGeom>
              <a:avLst/>
              <a:gdLst/>
              <a:ahLst/>
              <a:cxnLst/>
              <a:rect r="r" b="b" t="t" l="l"/>
              <a:pathLst>
                <a:path h="121920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057" r="0" b="-31057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-38100"/>
              <a:ext cx="5071872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Session time-window lookup for rate-limit enforcement</a:t>
              </a:r>
            </a:p>
          </p:txBody>
        </p:sp>
      </p:grpSp>
      <p:grpSp>
        <p:nvGrpSpPr>
          <p:cNvPr name="Group 203" id="203"/>
          <p:cNvGrpSpPr/>
          <p:nvPr/>
        </p:nvGrpSpPr>
        <p:grpSpPr>
          <a:xfrm rot="0">
            <a:off x="512064" y="9912096"/>
            <a:ext cx="17263872" cy="365760"/>
            <a:chOff x="0" y="0"/>
            <a:chExt cx="23018496" cy="487680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0" y="0"/>
              <a:ext cx="23018496" cy="487680"/>
            </a:xfrm>
            <a:custGeom>
              <a:avLst/>
              <a:gdLst/>
              <a:ahLst/>
              <a:cxnLst/>
              <a:rect r="r" b="b" t="t" l="l"/>
              <a:pathLst>
                <a:path h="487680" w="23018496">
                  <a:moveTo>
                    <a:pt x="0" y="0"/>
                  </a:moveTo>
                  <a:lnTo>
                    <a:pt x="23018496" y="0"/>
                  </a:lnTo>
                  <a:lnTo>
                    <a:pt x="23018496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9693" r="0" b="-869693"/>
              </a:stretch>
            </a:blipFill>
          </p:spPr>
        </p:sp>
        <p:sp>
          <p:nvSpPr>
            <p:cNvPr name="TextBox 205" id="205"/>
            <p:cNvSpPr txBox="true"/>
            <p:nvPr/>
          </p:nvSpPr>
          <p:spPr>
            <a:xfrm>
              <a:off x="0" y="-38100"/>
              <a:ext cx="23018496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i="true">
                  <a:solidFill>
                    <a:srgbClr val="8BAFC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Memory at 21,000 records: B+ Tree retains 1,239 KB  vs  Brute-Force 1,892 KB  (34% heavier)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8283"/>
            <a:chOff x="0" y="0"/>
            <a:chExt cx="24417871" cy="2777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7624"/>
            </a:xfrm>
            <a:custGeom>
              <a:avLst/>
              <a:gdLst/>
              <a:ahLst/>
              <a:cxnLst/>
              <a:rect r="r" b="b" t="t" l="l"/>
              <a:pathLst>
                <a:path h="27762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0731"/>
                  </a:lnTo>
                  <a:cubicBezTo>
                    <a:pt x="24417782" y="270129"/>
                    <a:pt x="24410163" y="277622"/>
                    <a:pt x="2440089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4400890" y="243840"/>
                  </a:lnTo>
                  <a:lnTo>
                    <a:pt x="24400890" y="260731"/>
                  </a:lnTo>
                  <a:lnTo>
                    <a:pt x="24384000" y="2607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2064" y="274320"/>
            <a:ext cx="17373600" cy="914400"/>
            <a:chOff x="0" y="0"/>
            <a:chExt cx="2316480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64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31648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How to Run &amp; Demonstrate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99367" y="1413767"/>
            <a:ext cx="17289275" cy="976379"/>
            <a:chOff x="0" y="0"/>
            <a:chExt cx="23052367" cy="130183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3018497" cy="1267968"/>
            </a:xfrm>
            <a:custGeom>
              <a:avLst/>
              <a:gdLst/>
              <a:ahLst/>
              <a:cxnLst/>
              <a:rect r="r" b="b" t="t" l="l"/>
              <a:pathLst>
                <a:path h="1267968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052278" cy="1301750"/>
            </a:xfrm>
            <a:custGeom>
              <a:avLst/>
              <a:gdLst/>
              <a:ahLst/>
              <a:cxnLst/>
              <a:rect r="r" b="b" t="t" l="l"/>
              <a:pathLst>
                <a:path h="1301750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1284859"/>
                  </a:lnTo>
                  <a:cubicBezTo>
                    <a:pt x="23052278" y="1294257"/>
                    <a:pt x="23044658" y="1301750"/>
                    <a:pt x="23035388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23035388" y="1267968"/>
                  </a:lnTo>
                  <a:lnTo>
                    <a:pt x="23035388" y="1284859"/>
                  </a:lnTo>
                  <a:lnTo>
                    <a:pt x="23018497" y="1284859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31520" y="1499616"/>
            <a:ext cx="2743200" cy="438912"/>
            <a:chOff x="0" y="0"/>
            <a:chExt cx="3657600" cy="58521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57600" cy="585216"/>
            </a:xfrm>
            <a:custGeom>
              <a:avLst/>
              <a:gdLst/>
              <a:ahLst/>
              <a:cxnLst/>
              <a:rect r="r" b="b" t="t" l="l"/>
              <a:pathLst>
                <a:path h="585216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36576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Prerequisites: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474720" y="1499616"/>
            <a:ext cx="14081760" cy="438912"/>
            <a:chOff x="0" y="0"/>
            <a:chExt cx="18775680" cy="5852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775680" cy="585216"/>
            </a:xfrm>
            <a:custGeom>
              <a:avLst/>
              <a:gdLst/>
              <a:ahLst/>
              <a:cxnLst/>
              <a:rect r="r" b="b" t="t" l="l"/>
              <a:pathLst>
                <a:path h="585216" w="18775680">
                  <a:moveTo>
                    <a:pt x="0" y="0"/>
                  </a:moveTo>
                  <a:lnTo>
                    <a:pt x="18775680" y="0"/>
                  </a:lnTo>
                  <a:lnTo>
                    <a:pt x="187756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5144" r="0" b="-57514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877568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AE8F0"/>
                  </a:solidFill>
                  <a:latin typeface="Consolas"/>
                  <a:ea typeface="Consolas"/>
                  <a:cs typeface="Consolas"/>
                  <a:sym typeface="Consolas"/>
                </a:rPr>
                <a:t>Node.js 18+  ·  npm 9+  ·  MySQL 8+  ·  Python 3.10+  ·  pip install -r requirements.txt  ·  Google Drive credentials (optional)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31520" y="1920240"/>
            <a:ext cx="16459200" cy="365760"/>
            <a:chOff x="0" y="0"/>
            <a:chExt cx="21945600" cy="4876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487680"/>
            </a:xfrm>
            <a:custGeom>
              <a:avLst/>
              <a:gdLst/>
              <a:ahLst/>
              <a:cxnLst/>
              <a:rect r="r" b="b" t="t" l="l"/>
              <a:pathLst>
                <a:path h="4876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6826" r="0" b="-82682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194560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BAFC7"/>
                  </a:solidFill>
                  <a:latin typeface="Consolas"/>
                  <a:ea typeface="Consolas"/>
                  <a:cs typeface="Consolas"/>
                  <a:sym typeface="Consolas"/>
                </a:rPr>
                <a:t>npm install  in  Module_B/app/backend/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12064" y="2523744"/>
            <a:ext cx="8961120" cy="512064"/>
            <a:chOff x="0" y="0"/>
            <a:chExt cx="11948160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948160" cy="682752"/>
            </a:xfrm>
            <a:custGeom>
              <a:avLst/>
              <a:gdLst/>
              <a:ahLst/>
              <a:cxnLst/>
              <a:rect r="r" b="b" t="t" l="l"/>
              <a:pathLst>
                <a:path h="682752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194816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399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B — Demo Sequence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99367" y="3132839"/>
            <a:ext cx="8986523" cy="756923"/>
            <a:chOff x="0" y="0"/>
            <a:chExt cx="11982031" cy="100923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1948160" cy="975360"/>
            </a:xfrm>
            <a:custGeom>
              <a:avLst/>
              <a:gdLst/>
              <a:ahLst/>
              <a:cxnLst/>
              <a:rect r="r" b="b" t="t" l="l"/>
              <a:pathLst>
                <a:path h="97536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981942" cy="1009144"/>
            </a:xfrm>
            <a:custGeom>
              <a:avLst/>
              <a:gdLst/>
              <a:ahLst/>
              <a:cxnLst/>
              <a:rect r="r" b="b" t="t" l="l"/>
              <a:pathLst>
                <a:path h="1009144" w="11981942">
                  <a:moveTo>
                    <a:pt x="16891" y="0"/>
                  </a:moveTo>
                  <a:lnTo>
                    <a:pt x="11965051" y="0"/>
                  </a:lnTo>
                  <a:cubicBezTo>
                    <a:pt x="11974449" y="0"/>
                    <a:pt x="11981942" y="7620"/>
                    <a:pt x="11981942" y="16891"/>
                  </a:cubicBezTo>
                  <a:lnTo>
                    <a:pt x="11981942" y="992251"/>
                  </a:lnTo>
                  <a:cubicBezTo>
                    <a:pt x="11981942" y="1001649"/>
                    <a:pt x="11974322" y="1009142"/>
                    <a:pt x="1196505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11965051" y="975360"/>
                  </a:lnTo>
                  <a:lnTo>
                    <a:pt x="11965051" y="992251"/>
                  </a:lnTo>
                  <a:lnTo>
                    <a:pt x="11948160" y="992251"/>
                  </a:lnTo>
                  <a:lnTo>
                    <a:pt x="11948160" y="16891"/>
                  </a:lnTo>
                  <a:lnTo>
                    <a:pt x="11965051" y="16891"/>
                  </a:lnTo>
                  <a:lnTo>
                    <a:pt x="11965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90807" y="3224279"/>
            <a:ext cx="574043" cy="574043"/>
            <a:chOff x="0" y="0"/>
            <a:chExt cx="765391" cy="76539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65429" cy="765302"/>
            </a:xfrm>
            <a:custGeom>
              <a:avLst/>
              <a:gdLst/>
              <a:ahLst/>
              <a:cxnLst/>
              <a:rect r="r" b="b" t="t" l="l"/>
              <a:pathLst>
                <a:path h="765302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382651" y="16891"/>
                  </a:lnTo>
                  <a:lnTo>
                    <a:pt x="382651" y="0"/>
                  </a:lnTo>
                  <a:cubicBezTo>
                    <a:pt x="594106" y="0"/>
                    <a:pt x="765429" y="171323"/>
                    <a:pt x="765429" y="382651"/>
                  </a:cubicBezTo>
                  <a:cubicBezTo>
                    <a:pt x="765429" y="593979"/>
                    <a:pt x="594106" y="765302"/>
                    <a:pt x="382778" y="765302"/>
                  </a:cubicBezTo>
                  <a:lnTo>
                    <a:pt x="382778" y="748411"/>
                  </a:lnTo>
                  <a:lnTo>
                    <a:pt x="382778" y="765302"/>
                  </a:lnTo>
                  <a:cubicBezTo>
                    <a:pt x="171323" y="765429"/>
                    <a:pt x="0" y="594106"/>
                    <a:pt x="0" y="382651"/>
                  </a:cubicBezTo>
                  <a:lnTo>
                    <a:pt x="16891" y="382651"/>
                  </a:lnTo>
                  <a:lnTo>
                    <a:pt x="31369" y="391414"/>
                  </a:lnTo>
                  <a:cubicBezTo>
                    <a:pt x="27432" y="397891"/>
                    <a:pt x="19685" y="400939"/>
                    <a:pt x="12319" y="398907"/>
                  </a:cubicBezTo>
                  <a:cubicBezTo>
                    <a:pt x="4953" y="396875"/>
                    <a:pt x="0" y="390271"/>
                    <a:pt x="0" y="382651"/>
                  </a:cubicBezTo>
                  <a:moveTo>
                    <a:pt x="33909" y="382651"/>
                  </a:moveTo>
                  <a:lnTo>
                    <a:pt x="16891" y="382651"/>
                  </a:lnTo>
                  <a:lnTo>
                    <a:pt x="2413" y="373888"/>
                  </a:lnTo>
                  <a:cubicBezTo>
                    <a:pt x="6350" y="367411"/>
                    <a:pt x="14097" y="364363"/>
                    <a:pt x="21463" y="366395"/>
                  </a:cubicBezTo>
                  <a:cubicBezTo>
                    <a:pt x="28829" y="368427"/>
                    <a:pt x="33782" y="375158"/>
                    <a:pt x="33782" y="382651"/>
                  </a:cubicBezTo>
                  <a:cubicBezTo>
                    <a:pt x="33782" y="575310"/>
                    <a:pt x="189992" y="731520"/>
                    <a:pt x="382651" y="731520"/>
                  </a:cubicBezTo>
                  <a:cubicBezTo>
                    <a:pt x="575310" y="731520"/>
                    <a:pt x="731520" y="575310"/>
                    <a:pt x="731520" y="382651"/>
                  </a:cubicBezTo>
                  <a:lnTo>
                    <a:pt x="748411" y="382651"/>
                  </a:lnTo>
                  <a:lnTo>
                    <a:pt x="731520" y="382651"/>
                  </a:lnTo>
                  <a:cubicBezTo>
                    <a:pt x="731520" y="189992"/>
                    <a:pt x="575310" y="33782"/>
                    <a:pt x="382651" y="33782"/>
                  </a:cubicBezTo>
                  <a:lnTo>
                    <a:pt x="382651" y="16891"/>
                  </a:lnTo>
                  <a:lnTo>
                    <a:pt x="382651" y="33909"/>
                  </a:lnTo>
                  <a:cubicBezTo>
                    <a:pt x="189992" y="33909"/>
                    <a:pt x="33782" y="190119"/>
                    <a:pt x="33782" y="382778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03504" y="3236976"/>
            <a:ext cx="548640" cy="548640"/>
            <a:chOff x="0" y="0"/>
            <a:chExt cx="73152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16736" y="3182112"/>
            <a:ext cx="2560320" cy="365760"/>
            <a:chOff x="0" y="0"/>
            <a:chExt cx="3413760" cy="4876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413760" cy="487680"/>
            </a:xfrm>
            <a:custGeom>
              <a:avLst/>
              <a:gdLst/>
              <a:ahLst/>
              <a:cxnLst/>
              <a:rect r="r" b="b" t="t" l="l"/>
              <a:pathLst>
                <a:path h="4876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341376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Schema Setup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16736" y="3511296"/>
            <a:ext cx="7863840" cy="329184"/>
            <a:chOff x="0" y="0"/>
            <a:chExt cx="10485120" cy="43891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485120" cy="438912"/>
            </a:xfrm>
            <a:custGeom>
              <a:avLst/>
              <a:gdLst/>
              <a:ahLst/>
              <a:cxnLst/>
              <a:rect r="r" b="b" t="t" l="l"/>
              <a:pathLst>
                <a:path h="43891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5475" r="0" b="-41547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04851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AE8F0"/>
                  </a:solidFill>
                  <a:latin typeface="Consolas"/>
                  <a:ea typeface="Consolas"/>
                  <a:cs typeface="Consolas"/>
                  <a:sym typeface="Consolas"/>
                </a:rPr>
                <a:t>mysql -u root &lt; sql/init_schema.sql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99367" y="3974087"/>
            <a:ext cx="8986523" cy="756923"/>
            <a:chOff x="0" y="0"/>
            <a:chExt cx="11982031" cy="100923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1948160" cy="975360"/>
            </a:xfrm>
            <a:custGeom>
              <a:avLst/>
              <a:gdLst/>
              <a:ahLst/>
              <a:cxnLst/>
              <a:rect r="r" b="b" t="t" l="l"/>
              <a:pathLst>
                <a:path h="97536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981942" cy="1009144"/>
            </a:xfrm>
            <a:custGeom>
              <a:avLst/>
              <a:gdLst/>
              <a:ahLst/>
              <a:cxnLst/>
              <a:rect r="r" b="b" t="t" l="l"/>
              <a:pathLst>
                <a:path h="1009144" w="11981942">
                  <a:moveTo>
                    <a:pt x="16891" y="0"/>
                  </a:moveTo>
                  <a:lnTo>
                    <a:pt x="11965051" y="0"/>
                  </a:lnTo>
                  <a:cubicBezTo>
                    <a:pt x="11974449" y="0"/>
                    <a:pt x="11981942" y="7620"/>
                    <a:pt x="11981942" y="16891"/>
                  </a:cubicBezTo>
                  <a:lnTo>
                    <a:pt x="11981942" y="992251"/>
                  </a:lnTo>
                  <a:cubicBezTo>
                    <a:pt x="11981942" y="1001649"/>
                    <a:pt x="11974322" y="1009142"/>
                    <a:pt x="1196505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11965051" y="975360"/>
                  </a:lnTo>
                  <a:lnTo>
                    <a:pt x="11965051" y="992251"/>
                  </a:lnTo>
                  <a:lnTo>
                    <a:pt x="11948160" y="992251"/>
                  </a:lnTo>
                  <a:lnTo>
                    <a:pt x="11948160" y="16891"/>
                  </a:lnTo>
                  <a:lnTo>
                    <a:pt x="11965051" y="16891"/>
                  </a:lnTo>
                  <a:lnTo>
                    <a:pt x="11965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590807" y="4065527"/>
            <a:ext cx="574043" cy="574043"/>
            <a:chOff x="0" y="0"/>
            <a:chExt cx="765391" cy="76539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65429" cy="765302"/>
            </a:xfrm>
            <a:custGeom>
              <a:avLst/>
              <a:gdLst/>
              <a:ahLst/>
              <a:cxnLst/>
              <a:rect r="r" b="b" t="t" l="l"/>
              <a:pathLst>
                <a:path h="765302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382651" y="16891"/>
                  </a:lnTo>
                  <a:lnTo>
                    <a:pt x="382651" y="0"/>
                  </a:lnTo>
                  <a:cubicBezTo>
                    <a:pt x="594106" y="0"/>
                    <a:pt x="765429" y="171323"/>
                    <a:pt x="765429" y="382651"/>
                  </a:cubicBezTo>
                  <a:cubicBezTo>
                    <a:pt x="765429" y="593979"/>
                    <a:pt x="594106" y="765302"/>
                    <a:pt x="382778" y="765302"/>
                  </a:cubicBezTo>
                  <a:lnTo>
                    <a:pt x="382778" y="748411"/>
                  </a:lnTo>
                  <a:lnTo>
                    <a:pt x="382778" y="765302"/>
                  </a:lnTo>
                  <a:cubicBezTo>
                    <a:pt x="171323" y="765429"/>
                    <a:pt x="0" y="594106"/>
                    <a:pt x="0" y="382651"/>
                  </a:cubicBezTo>
                  <a:lnTo>
                    <a:pt x="16891" y="382651"/>
                  </a:lnTo>
                  <a:lnTo>
                    <a:pt x="31369" y="391414"/>
                  </a:lnTo>
                  <a:cubicBezTo>
                    <a:pt x="27432" y="397891"/>
                    <a:pt x="19685" y="400939"/>
                    <a:pt x="12319" y="398907"/>
                  </a:cubicBezTo>
                  <a:cubicBezTo>
                    <a:pt x="4953" y="396875"/>
                    <a:pt x="0" y="390271"/>
                    <a:pt x="0" y="382651"/>
                  </a:cubicBezTo>
                  <a:moveTo>
                    <a:pt x="33909" y="382651"/>
                  </a:moveTo>
                  <a:lnTo>
                    <a:pt x="16891" y="382651"/>
                  </a:lnTo>
                  <a:lnTo>
                    <a:pt x="2413" y="373888"/>
                  </a:lnTo>
                  <a:cubicBezTo>
                    <a:pt x="6350" y="367411"/>
                    <a:pt x="14097" y="364363"/>
                    <a:pt x="21463" y="366395"/>
                  </a:cubicBezTo>
                  <a:cubicBezTo>
                    <a:pt x="28829" y="368427"/>
                    <a:pt x="33782" y="375158"/>
                    <a:pt x="33782" y="382651"/>
                  </a:cubicBezTo>
                  <a:cubicBezTo>
                    <a:pt x="33782" y="575310"/>
                    <a:pt x="189992" y="731520"/>
                    <a:pt x="382651" y="731520"/>
                  </a:cubicBezTo>
                  <a:cubicBezTo>
                    <a:pt x="575310" y="731520"/>
                    <a:pt x="731520" y="575310"/>
                    <a:pt x="731520" y="382651"/>
                  </a:cubicBezTo>
                  <a:lnTo>
                    <a:pt x="748411" y="382651"/>
                  </a:lnTo>
                  <a:lnTo>
                    <a:pt x="731520" y="382651"/>
                  </a:lnTo>
                  <a:cubicBezTo>
                    <a:pt x="731520" y="189992"/>
                    <a:pt x="575310" y="33782"/>
                    <a:pt x="382651" y="33782"/>
                  </a:cubicBezTo>
                  <a:lnTo>
                    <a:pt x="382651" y="16891"/>
                  </a:lnTo>
                  <a:lnTo>
                    <a:pt x="382651" y="33909"/>
                  </a:lnTo>
                  <a:cubicBezTo>
                    <a:pt x="189992" y="33909"/>
                    <a:pt x="33782" y="190119"/>
                    <a:pt x="33782" y="382778"/>
                  </a:cubicBez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03504" y="4078224"/>
            <a:ext cx="548640" cy="548640"/>
            <a:chOff x="0" y="0"/>
            <a:chExt cx="73152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316736" y="4023360"/>
            <a:ext cx="2560320" cy="365760"/>
            <a:chOff x="0" y="0"/>
            <a:chExt cx="3413760" cy="4876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413760" cy="487680"/>
            </a:xfrm>
            <a:custGeom>
              <a:avLst/>
              <a:gdLst/>
              <a:ahLst/>
              <a:cxnLst/>
              <a:rect r="r" b="b" t="t" l="l"/>
              <a:pathLst>
                <a:path h="4876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341376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Seed Demo Data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16736" y="4352544"/>
            <a:ext cx="7863840" cy="329184"/>
            <a:chOff x="0" y="0"/>
            <a:chExt cx="10485120" cy="43891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485120" cy="438912"/>
            </a:xfrm>
            <a:custGeom>
              <a:avLst/>
              <a:gdLst/>
              <a:ahLst/>
              <a:cxnLst/>
              <a:rect r="r" b="b" t="t" l="l"/>
              <a:pathLst>
                <a:path h="43891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5475" r="0" b="-41547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04851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AE8F0"/>
                  </a:solidFill>
                  <a:latin typeface="Consolas"/>
                  <a:ea typeface="Consolas"/>
                  <a:cs typeface="Consolas"/>
                  <a:sym typeface="Consolas"/>
                </a:rPr>
                <a:t>node reports/seed_module_b_demo.js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499367" y="4815335"/>
            <a:ext cx="8986523" cy="756923"/>
            <a:chOff x="0" y="0"/>
            <a:chExt cx="11982031" cy="100923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1948160" cy="975360"/>
            </a:xfrm>
            <a:custGeom>
              <a:avLst/>
              <a:gdLst/>
              <a:ahLst/>
              <a:cxnLst/>
              <a:rect r="r" b="b" t="t" l="l"/>
              <a:pathLst>
                <a:path h="97536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981942" cy="1009144"/>
            </a:xfrm>
            <a:custGeom>
              <a:avLst/>
              <a:gdLst/>
              <a:ahLst/>
              <a:cxnLst/>
              <a:rect r="r" b="b" t="t" l="l"/>
              <a:pathLst>
                <a:path h="1009144" w="11981942">
                  <a:moveTo>
                    <a:pt x="16891" y="0"/>
                  </a:moveTo>
                  <a:lnTo>
                    <a:pt x="11965051" y="0"/>
                  </a:lnTo>
                  <a:cubicBezTo>
                    <a:pt x="11974449" y="0"/>
                    <a:pt x="11981942" y="7620"/>
                    <a:pt x="11981942" y="16891"/>
                  </a:cubicBezTo>
                  <a:lnTo>
                    <a:pt x="11981942" y="992251"/>
                  </a:lnTo>
                  <a:cubicBezTo>
                    <a:pt x="11981942" y="1001649"/>
                    <a:pt x="11974322" y="1009142"/>
                    <a:pt x="1196505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11965051" y="975360"/>
                  </a:lnTo>
                  <a:lnTo>
                    <a:pt x="11965051" y="992251"/>
                  </a:lnTo>
                  <a:lnTo>
                    <a:pt x="11948160" y="992251"/>
                  </a:lnTo>
                  <a:lnTo>
                    <a:pt x="11948160" y="16891"/>
                  </a:lnTo>
                  <a:lnTo>
                    <a:pt x="11965051" y="16891"/>
                  </a:lnTo>
                  <a:lnTo>
                    <a:pt x="11965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590807" y="4906775"/>
            <a:ext cx="574043" cy="574043"/>
            <a:chOff x="0" y="0"/>
            <a:chExt cx="765391" cy="76539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65429" cy="765302"/>
            </a:xfrm>
            <a:custGeom>
              <a:avLst/>
              <a:gdLst/>
              <a:ahLst/>
              <a:cxnLst/>
              <a:rect r="r" b="b" t="t" l="l"/>
              <a:pathLst>
                <a:path h="765302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382651" y="16891"/>
                  </a:lnTo>
                  <a:lnTo>
                    <a:pt x="382651" y="0"/>
                  </a:lnTo>
                  <a:cubicBezTo>
                    <a:pt x="594106" y="0"/>
                    <a:pt x="765429" y="171323"/>
                    <a:pt x="765429" y="382651"/>
                  </a:cubicBezTo>
                  <a:cubicBezTo>
                    <a:pt x="765429" y="593979"/>
                    <a:pt x="594106" y="765302"/>
                    <a:pt x="382778" y="765302"/>
                  </a:cubicBezTo>
                  <a:lnTo>
                    <a:pt x="382778" y="748411"/>
                  </a:lnTo>
                  <a:lnTo>
                    <a:pt x="382778" y="765302"/>
                  </a:lnTo>
                  <a:cubicBezTo>
                    <a:pt x="171323" y="765429"/>
                    <a:pt x="0" y="594106"/>
                    <a:pt x="0" y="382651"/>
                  </a:cubicBezTo>
                  <a:lnTo>
                    <a:pt x="16891" y="382651"/>
                  </a:lnTo>
                  <a:lnTo>
                    <a:pt x="31369" y="391414"/>
                  </a:lnTo>
                  <a:cubicBezTo>
                    <a:pt x="27432" y="397891"/>
                    <a:pt x="19685" y="400939"/>
                    <a:pt x="12319" y="398907"/>
                  </a:cubicBezTo>
                  <a:cubicBezTo>
                    <a:pt x="4953" y="396875"/>
                    <a:pt x="0" y="390271"/>
                    <a:pt x="0" y="382651"/>
                  </a:cubicBezTo>
                  <a:moveTo>
                    <a:pt x="33909" y="382651"/>
                  </a:moveTo>
                  <a:lnTo>
                    <a:pt x="16891" y="382651"/>
                  </a:lnTo>
                  <a:lnTo>
                    <a:pt x="2413" y="373888"/>
                  </a:lnTo>
                  <a:cubicBezTo>
                    <a:pt x="6350" y="367411"/>
                    <a:pt x="14097" y="364363"/>
                    <a:pt x="21463" y="366395"/>
                  </a:cubicBezTo>
                  <a:cubicBezTo>
                    <a:pt x="28829" y="368427"/>
                    <a:pt x="33782" y="375158"/>
                    <a:pt x="33782" y="382651"/>
                  </a:cubicBezTo>
                  <a:cubicBezTo>
                    <a:pt x="33782" y="575310"/>
                    <a:pt x="189992" y="731520"/>
                    <a:pt x="382651" y="731520"/>
                  </a:cubicBezTo>
                  <a:cubicBezTo>
                    <a:pt x="575310" y="731520"/>
                    <a:pt x="731520" y="575310"/>
                    <a:pt x="731520" y="382651"/>
                  </a:cubicBezTo>
                  <a:lnTo>
                    <a:pt x="748411" y="382651"/>
                  </a:lnTo>
                  <a:lnTo>
                    <a:pt x="731520" y="382651"/>
                  </a:lnTo>
                  <a:cubicBezTo>
                    <a:pt x="731520" y="189992"/>
                    <a:pt x="575310" y="33782"/>
                    <a:pt x="382651" y="33782"/>
                  </a:cubicBezTo>
                  <a:lnTo>
                    <a:pt x="382651" y="16891"/>
                  </a:lnTo>
                  <a:lnTo>
                    <a:pt x="382651" y="33909"/>
                  </a:lnTo>
                  <a:cubicBezTo>
                    <a:pt x="189992" y="33909"/>
                    <a:pt x="33782" y="190119"/>
                    <a:pt x="33782" y="382778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603504" y="4919472"/>
            <a:ext cx="548640" cy="548640"/>
            <a:chOff x="0" y="0"/>
            <a:chExt cx="731520" cy="731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316736" y="4864608"/>
            <a:ext cx="2560320" cy="365760"/>
            <a:chOff x="0" y="0"/>
            <a:chExt cx="3413760" cy="4876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413760" cy="487680"/>
            </a:xfrm>
            <a:custGeom>
              <a:avLst/>
              <a:gdLst/>
              <a:ahLst/>
              <a:cxnLst/>
              <a:rect r="r" b="b" t="t" l="l"/>
              <a:pathLst>
                <a:path h="4876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341376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Start Backend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316736" y="5193792"/>
            <a:ext cx="7863840" cy="329184"/>
            <a:chOff x="0" y="0"/>
            <a:chExt cx="10485120" cy="43891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485120" cy="438912"/>
            </a:xfrm>
            <a:custGeom>
              <a:avLst/>
              <a:gdLst/>
              <a:ahLst/>
              <a:cxnLst/>
              <a:rect r="r" b="b" t="t" l="l"/>
              <a:pathLst>
                <a:path h="43891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5475" r="0" b="-415475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104851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AE8F0"/>
                  </a:solidFill>
                  <a:latin typeface="Consolas"/>
                  <a:ea typeface="Consolas"/>
                  <a:cs typeface="Consolas"/>
                  <a:sym typeface="Consolas"/>
                </a:rPr>
                <a:t>npm run dev  →  GET /api/health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499367" y="5656583"/>
            <a:ext cx="8986523" cy="756923"/>
            <a:chOff x="0" y="0"/>
            <a:chExt cx="11982031" cy="100923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11948160" cy="975360"/>
            </a:xfrm>
            <a:custGeom>
              <a:avLst/>
              <a:gdLst/>
              <a:ahLst/>
              <a:cxnLst/>
              <a:rect r="r" b="b" t="t" l="l"/>
              <a:pathLst>
                <a:path h="97536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1981942" cy="1009144"/>
            </a:xfrm>
            <a:custGeom>
              <a:avLst/>
              <a:gdLst/>
              <a:ahLst/>
              <a:cxnLst/>
              <a:rect r="r" b="b" t="t" l="l"/>
              <a:pathLst>
                <a:path h="1009144" w="11981942">
                  <a:moveTo>
                    <a:pt x="16891" y="0"/>
                  </a:moveTo>
                  <a:lnTo>
                    <a:pt x="11965051" y="0"/>
                  </a:lnTo>
                  <a:cubicBezTo>
                    <a:pt x="11974449" y="0"/>
                    <a:pt x="11981942" y="7620"/>
                    <a:pt x="11981942" y="16891"/>
                  </a:cubicBezTo>
                  <a:lnTo>
                    <a:pt x="11981942" y="992251"/>
                  </a:lnTo>
                  <a:cubicBezTo>
                    <a:pt x="11981942" y="1001649"/>
                    <a:pt x="11974322" y="1009142"/>
                    <a:pt x="1196505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11965051" y="975360"/>
                  </a:lnTo>
                  <a:lnTo>
                    <a:pt x="11965051" y="992251"/>
                  </a:lnTo>
                  <a:lnTo>
                    <a:pt x="11948160" y="992251"/>
                  </a:lnTo>
                  <a:lnTo>
                    <a:pt x="11948160" y="16891"/>
                  </a:lnTo>
                  <a:lnTo>
                    <a:pt x="11965051" y="16891"/>
                  </a:lnTo>
                  <a:lnTo>
                    <a:pt x="11965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590807" y="5748023"/>
            <a:ext cx="574043" cy="574043"/>
            <a:chOff x="0" y="0"/>
            <a:chExt cx="765391" cy="76539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65429" cy="765302"/>
            </a:xfrm>
            <a:custGeom>
              <a:avLst/>
              <a:gdLst/>
              <a:ahLst/>
              <a:cxnLst/>
              <a:rect r="r" b="b" t="t" l="l"/>
              <a:pathLst>
                <a:path h="765302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382651" y="16891"/>
                  </a:lnTo>
                  <a:lnTo>
                    <a:pt x="382651" y="0"/>
                  </a:lnTo>
                  <a:cubicBezTo>
                    <a:pt x="594106" y="0"/>
                    <a:pt x="765429" y="171323"/>
                    <a:pt x="765429" y="382651"/>
                  </a:cubicBezTo>
                  <a:cubicBezTo>
                    <a:pt x="765429" y="593979"/>
                    <a:pt x="594106" y="765302"/>
                    <a:pt x="382778" y="765302"/>
                  </a:cubicBezTo>
                  <a:lnTo>
                    <a:pt x="382778" y="748411"/>
                  </a:lnTo>
                  <a:lnTo>
                    <a:pt x="382778" y="765302"/>
                  </a:lnTo>
                  <a:cubicBezTo>
                    <a:pt x="171323" y="765429"/>
                    <a:pt x="0" y="594106"/>
                    <a:pt x="0" y="382651"/>
                  </a:cubicBezTo>
                  <a:lnTo>
                    <a:pt x="16891" y="382651"/>
                  </a:lnTo>
                  <a:lnTo>
                    <a:pt x="31369" y="391414"/>
                  </a:lnTo>
                  <a:cubicBezTo>
                    <a:pt x="27432" y="397891"/>
                    <a:pt x="19685" y="400939"/>
                    <a:pt x="12319" y="398907"/>
                  </a:cubicBezTo>
                  <a:cubicBezTo>
                    <a:pt x="4953" y="396875"/>
                    <a:pt x="0" y="390271"/>
                    <a:pt x="0" y="382651"/>
                  </a:cubicBezTo>
                  <a:moveTo>
                    <a:pt x="33909" y="382651"/>
                  </a:moveTo>
                  <a:lnTo>
                    <a:pt x="16891" y="382651"/>
                  </a:lnTo>
                  <a:lnTo>
                    <a:pt x="2413" y="373888"/>
                  </a:lnTo>
                  <a:cubicBezTo>
                    <a:pt x="6350" y="367411"/>
                    <a:pt x="14097" y="364363"/>
                    <a:pt x="21463" y="366395"/>
                  </a:cubicBezTo>
                  <a:cubicBezTo>
                    <a:pt x="28829" y="368427"/>
                    <a:pt x="33782" y="375158"/>
                    <a:pt x="33782" y="382651"/>
                  </a:cubicBezTo>
                  <a:cubicBezTo>
                    <a:pt x="33782" y="575310"/>
                    <a:pt x="189992" y="731520"/>
                    <a:pt x="382651" y="731520"/>
                  </a:cubicBezTo>
                  <a:cubicBezTo>
                    <a:pt x="575310" y="731520"/>
                    <a:pt x="731520" y="575310"/>
                    <a:pt x="731520" y="382651"/>
                  </a:cubicBezTo>
                  <a:lnTo>
                    <a:pt x="748411" y="382651"/>
                  </a:lnTo>
                  <a:lnTo>
                    <a:pt x="731520" y="382651"/>
                  </a:lnTo>
                  <a:cubicBezTo>
                    <a:pt x="731520" y="189992"/>
                    <a:pt x="575310" y="33782"/>
                    <a:pt x="382651" y="33782"/>
                  </a:cubicBezTo>
                  <a:lnTo>
                    <a:pt x="382651" y="16891"/>
                  </a:lnTo>
                  <a:lnTo>
                    <a:pt x="382651" y="33909"/>
                  </a:lnTo>
                  <a:cubicBezTo>
                    <a:pt x="189992" y="33909"/>
                    <a:pt x="33782" y="190119"/>
                    <a:pt x="33782" y="382778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603504" y="5760720"/>
            <a:ext cx="548640" cy="548640"/>
            <a:chOff x="0" y="0"/>
            <a:chExt cx="731520" cy="7315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316736" y="5705856"/>
            <a:ext cx="2560320" cy="365760"/>
            <a:chOff x="0" y="0"/>
            <a:chExt cx="3413760" cy="48768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413760" cy="487680"/>
            </a:xfrm>
            <a:custGeom>
              <a:avLst/>
              <a:gdLst/>
              <a:ahLst/>
              <a:cxnLst/>
              <a:rect r="r" b="b" t="t" l="l"/>
              <a:pathLst>
                <a:path h="4876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341376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Admin Login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316736" y="6035040"/>
            <a:ext cx="7863840" cy="593099"/>
            <a:chOff x="0" y="0"/>
            <a:chExt cx="10485120" cy="79079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485120" cy="790798"/>
            </a:xfrm>
            <a:custGeom>
              <a:avLst/>
              <a:gdLst/>
              <a:ahLst/>
              <a:cxnLst/>
              <a:rect r="r" b="b" t="t" l="l"/>
              <a:pathLst>
                <a:path h="79079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790798"/>
                  </a:lnTo>
                  <a:lnTo>
                    <a:pt x="0" y="7907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599" r="0" b="-186101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10485120" cy="8288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CAE8F0"/>
                  </a:solidFill>
                  <a:latin typeface="Consolas"/>
                  <a:ea typeface="Consolas"/>
                  <a:cs typeface="Consolas"/>
                  <a:sym typeface="Consolas"/>
                </a:rPr>
                <a:t>POST /api/auth/login  { outerToken, innerToken }  →  sessionToken + role:admin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499367" y="6497831"/>
            <a:ext cx="8986523" cy="756923"/>
            <a:chOff x="0" y="0"/>
            <a:chExt cx="11982031" cy="1009231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11948160" cy="975360"/>
            </a:xfrm>
            <a:custGeom>
              <a:avLst/>
              <a:gdLst/>
              <a:ahLst/>
              <a:cxnLst/>
              <a:rect r="r" b="b" t="t" l="l"/>
              <a:pathLst>
                <a:path h="97536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1981942" cy="1009144"/>
            </a:xfrm>
            <a:custGeom>
              <a:avLst/>
              <a:gdLst/>
              <a:ahLst/>
              <a:cxnLst/>
              <a:rect r="r" b="b" t="t" l="l"/>
              <a:pathLst>
                <a:path h="1009144" w="11981942">
                  <a:moveTo>
                    <a:pt x="16891" y="0"/>
                  </a:moveTo>
                  <a:lnTo>
                    <a:pt x="11965051" y="0"/>
                  </a:lnTo>
                  <a:cubicBezTo>
                    <a:pt x="11974449" y="0"/>
                    <a:pt x="11981942" y="7620"/>
                    <a:pt x="11981942" y="16891"/>
                  </a:cubicBezTo>
                  <a:lnTo>
                    <a:pt x="11981942" y="992251"/>
                  </a:lnTo>
                  <a:cubicBezTo>
                    <a:pt x="11981942" y="1001649"/>
                    <a:pt x="11974322" y="1009142"/>
                    <a:pt x="1196505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11965051" y="975360"/>
                  </a:lnTo>
                  <a:lnTo>
                    <a:pt x="11965051" y="992251"/>
                  </a:lnTo>
                  <a:lnTo>
                    <a:pt x="11948160" y="992251"/>
                  </a:lnTo>
                  <a:lnTo>
                    <a:pt x="11948160" y="16891"/>
                  </a:lnTo>
                  <a:lnTo>
                    <a:pt x="11965051" y="16891"/>
                  </a:lnTo>
                  <a:lnTo>
                    <a:pt x="11965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590807" y="6589271"/>
            <a:ext cx="574043" cy="574043"/>
            <a:chOff x="0" y="0"/>
            <a:chExt cx="765391" cy="76539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765429" cy="765302"/>
            </a:xfrm>
            <a:custGeom>
              <a:avLst/>
              <a:gdLst/>
              <a:ahLst/>
              <a:cxnLst/>
              <a:rect r="r" b="b" t="t" l="l"/>
              <a:pathLst>
                <a:path h="765302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382651" y="16891"/>
                  </a:lnTo>
                  <a:lnTo>
                    <a:pt x="382651" y="0"/>
                  </a:lnTo>
                  <a:cubicBezTo>
                    <a:pt x="594106" y="0"/>
                    <a:pt x="765429" y="171323"/>
                    <a:pt x="765429" y="382651"/>
                  </a:cubicBezTo>
                  <a:cubicBezTo>
                    <a:pt x="765429" y="593979"/>
                    <a:pt x="594106" y="765302"/>
                    <a:pt x="382778" y="765302"/>
                  </a:cubicBezTo>
                  <a:lnTo>
                    <a:pt x="382778" y="748411"/>
                  </a:lnTo>
                  <a:lnTo>
                    <a:pt x="382778" y="765302"/>
                  </a:lnTo>
                  <a:cubicBezTo>
                    <a:pt x="171323" y="765429"/>
                    <a:pt x="0" y="594106"/>
                    <a:pt x="0" y="382651"/>
                  </a:cubicBezTo>
                  <a:lnTo>
                    <a:pt x="16891" y="382651"/>
                  </a:lnTo>
                  <a:lnTo>
                    <a:pt x="31369" y="391414"/>
                  </a:lnTo>
                  <a:cubicBezTo>
                    <a:pt x="27432" y="397891"/>
                    <a:pt x="19685" y="400939"/>
                    <a:pt x="12319" y="398907"/>
                  </a:cubicBezTo>
                  <a:cubicBezTo>
                    <a:pt x="4953" y="396875"/>
                    <a:pt x="0" y="390271"/>
                    <a:pt x="0" y="382651"/>
                  </a:cubicBezTo>
                  <a:moveTo>
                    <a:pt x="33909" y="382651"/>
                  </a:moveTo>
                  <a:lnTo>
                    <a:pt x="16891" y="382651"/>
                  </a:lnTo>
                  <a:lnTo>
                    <a:pt x="2413" y="373888"/>
                  </a:lnTo>
                  <a:cubicBezTo>
                    <a:pt x="6350" y="367411"/>
                    <a:pt x="14097" y="364363"/>
                    <a:pt x="21463" y="366395"/>
                  </a:cubicBezTo>
                  <a:cubicBezTo>
                    <a:pt x="28829" y="368427"/>
                    <a:pt x="33782" y="375158"/>
                    <a:pt x="33782" y="382651"/>
                  </a:cubicBezTo>
                  <a:cubicBezTo>
                    <a:pt x="33782" y="575310"/>
                    <a:pt x="189992" y="731520"/>
                    <a:pt x="382651" y="731520"/>
                  </a:cubicBezTo>
                  <a:cubicBezTo>
                    <a:pt x="575310" y="731520"/>
                    <a:pt x="731520" y="575310"/>
                    <a:pt x="731520" y="382651"/>
                  </a:cubicBezTo>
                  <a:lnTo>
                    <a:pt x="748411" y="382651"/>
                  </a:lnTo>
                  <a:lnTo>
                    <a:pt x="731520" y="382651"/>
                  </a:lnTo>
                  <a:cubicBezTo>
                    <a:pt x="731520" y="189992"/>
                    <a:pt x="575310" y="33782"/>
                    <a:pt x="382651" y="33782"/>
                  </a:cubicBezTo>
                  <a:lnTo>
                    <a:pt x="382651" y="16891"/>
                  </a:lnTo>
                  <a:lnTo>
                    <a:pt x="382651" y="33909"/>
                  </a:lnTo>
                  <a:cubicBezTo>
                    <a:pt x="189992" y="33909"/>
                    <a:pt x="33782" y="190119"/>
                    <a:pt x="33782" y="382778"/>
                  </a:cubicBez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603504" y="6601968"/>
            <a:ext cx="548640" cy="548640"/>
            <a:chOff x="0" y="0"/>
            <a:chExt cx="731520" cy="73152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316736" y="6547104"/>
            <a:ext cx="2560320" cy="365760"/>
            <a:chOff x="0" y="0"/>
            <a:chExt cx="3413760" cy="48768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3413760" cy="487680"/>
            </a:xfrm>
            <a:custGeom>
              <a:avLst/>
              <a:gdLst/>
              <a:ahLst/>
              <a:cxnLst/>
              <a:rect r="r" b="b" t="t" l="l"/>
              <a:pathLst>
                <a:path h="4876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341376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Portfolio CRUD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316736" y="6876288"/>
            <a:ext cx="7863840" cy="335924"/>
            <a:chOff x="0" y="0"/>
            <a:chExt cx="10485120" cy="447898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0485120" cy="447898"/>
            </a:xfrm>
            <a:custGeom>
              <a:avLst/>
              <a:gdLst/>
              <a:ahLst/>
              <a:cxnLst/>
              <a:rect r="r" b="b" t="t" l="l"/>
              <a:pathLst>
                <a:path h="44789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447898"/>
                  </a:lnTo>
                  <a:lnTo>
                    <a:pt x="0" y="4478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7139" r="0" b="-405133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10485120" cy="485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CAE8F0"/>
                  </a:solidFill>
                  <a:latin typeface="Consolas"/>
                  <a:ea typeface="Consolas"/>
                  <a:cs typeface="Consolas"/>
                  <a:sym typeface="Consolas"/>
                </a:rPr>
                <a:t>GET/POST/PATCH/DELETE /api/portfolio  (admin + user scenarios)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499367" y="7339079"/>
            <a:ext cx="8986523" cy="756923"/>
            <a:chOff x="0" y="0"/>
            <a:chExt cx="11982031" cy="1009231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6891" y="16891"/>
              <a:ext cx="11948160" cy="975360"/>
            </a:xfrm>
            <a:custGeom>
              <a:avLst/>
              <a:gdLst/>
              <a:ahLst/>
              <a:cxnLst/>
              <a:rect r="r" b="b" t="t" l="l"/>
              <a:pathLst>
                <a:path h="97536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1981942" cy="1009144"/>
            </a:xfrm>
            <a:custGeom>
              <a:avLst/>
              <a:gdLst/>
              <a:ahLst/>
              <a:cxnLst/>
              <a:rect r="r" b="b" t="t" l="l"/>
              <a:pathLst>
                <a:path h="1009144" w="11981942">
                  <a:moveTo>
                    <a:pt x="16891" y="0"/>
                  </a:moveTo>
                  <a:lnTo>
                    <a:pt x="11965051" y="0"/>
                  </a:lnTo>
                  <a:cubicBezTo>
                    <a:pt x="11974449" y="0"/>
                    <a:pt x="11981942" y="7620"/>
                    <a:pt x="11981942" y="16891"/>
                  </a:cubicBezTo>
                  <a:lnTo>
                    <a:pt x="11981942" y="992251"/>
                  </a:lnTo>
                  <a:cubicBezTo>
                    <a:pt x="11981942" y="1001649"/>
                    <a:pt x="11974322" y="1009142"/>
                    <a:pt x="1196505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11965051" y="975360"/>
                  </a:lnTo>
                  <a:lnTo>
                    <a:pt x="11965051" y="992251"/>
                  </a:lnTo>
                  <a:lnTo>
                    <a:pt x="11948160" y="992251"/>
                  </a:lnTo>
                  <a:lnTo>
                    <a:pt x="11948160" y="16891"/>
                  </a:lnTo>
                  <a:lnTo>
                    <a:pt x="11965051" y="16891"/>
                  </a:lnTo>
                  <a:lnTo>
                    <a:pt x="11965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590807" y="7430519"/>
            <a:ext cx="574043" cy="574043"/>
            <a:chOff x="0" y="0"/>
            <a:chExt cx="765391" cy="765391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EF4444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765429" cy="765302"/>
            </a:xfrm>
            <a:custGeom>
              <a:avLst/>
              <a:gdLst/>
              <a:ahLst/>
              <a:cxnLst/>
              <a:rect r="r" b="b" t="t" l="l"/>
              <a:pathLst>
                <a:path h="765302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382651" y="16891"/>
                  </a:lnTo>
                  <a:lnTo>
                    <a:pt x="382651" y="0"/>
                  </a:lnTo>
                  <a:cubicBezTo>
                    <a:pt x="594106" y="0"/>
                    <a:pt x="765429" y="171323"/>
                    <a:pt x="765429" y="382651"/>
                  </a:cubicBezTo>
                  <a:cubicBezTo>
                    <a:pt x="765429" y="593979"/>
                    <a:pt x="594106" y="765302"/>
                    <a:pt x="382778" y="765302"/>
                  </a:cubicBezTo>
                  <a:lnTo>
                    <a:pt x="382778" y="748411"/>
                  </a:lnTo>
                  <a:lnTo>
                    <a:pt x="382778" y="765302"/>
                  </a:lnTo>
                  <a:cubicBezTo>
                    <a:pt x="171323" y="765429"/>
                    <a:pt x="0" y="594106"/>
                    <a:pt x="0" y="382651"/>
                  </a:cubicBezTo>
                  <a:lnTo>
                    <a:pt x="16891" y="382651"/>
                  </a:lnTo>
                  <a:lnTo>
                    <a:pt x="31369" y="391414"/>
                  </a:lnTo>
                  <a:cubicBezTo>
                    <a:pt x="27432" y="397891"/>
                    <a:pt x="19685" y="400939"/>
                    <a:pt x="12319" y="398907"/>
                  </a:cubicBezTo>
                  <a:cubicBezTo>
                    <a:pt x="4953" y="396875"/>
                    <a:pt x="0" y="390271"/>
                    <a:pt x="0" y="382651"/>
                  </a:cubicBezTo>
                  <a:moveTo>
                    <a:pt x="33909" y="382651"/>
                  </a:moveTo>
                  <a:lnTo>
                    <a:pt x="16891" y="382651"/>
                  </a:lnTo>
                  <a:lnTo>
                    <a:pt x="2413" y="373888"/>
                  </a:lnTo>
                  <a:cubicBezTo>
                    <a:pt x="6350" y="367411"/>
                    <a:pt x="14097" y="364363"/>
                    <a:pt x="21463" y="366395"/>
                  </a:cubicBezTo>
                  <a:cubicBezTo>
                    <a:pt x="28829" y="368427"/>
                    <a:pt x="33782" y="375158"/>
                    <a:pt x="33782" y="382651"/>
                  </a:cubicBezTo>
                  <a:cubicBezTo>
                    <a:pt x="33782" y="575310"/>
                    <a:pt x="189992" y="731520"/>
                    <a:pt x="382651" y="731520"/>
                  </a:cubicBezTo>
                  <a:cubicBezTo>
                    <a:pt x="575310" y="731520"/>
                    <a:pt x="731520" y="575310"/>
                    <a:pt x="731520" y="382651"/>
                  </a:cubicBezTo>
                  <a:lnTo>
                    <a:pt x="748411" y="382651"/>
                  </a:lnTo>
                  <a:lnTo>
                    <a:pt x="731520" y="382651"/>
                  </a:lnTo>
                  <a:cubicBezTo>
                    <a:pt x="731520" y="189992"/>
                    <a:pt x="575310" y="33782"/>
                    <a:pt x="382651" y="33782"/>
                  </a:cubicBezTo>
                  <a:lnTo>
                    <a:pt x="382651" y="16891"/>
                  </a:lnTo>
                  <a:lnTo>
                    <a:pt x="382651" y="33909"/>
                  </a:lnTo>
                  <a:cubicBezTo>
                    <a:pt x="189992" y="33909"/>
                    <a:pt x="33782" y="190119"/>
                    <a:pt x="33782" y="382778"/>
                  </a:cubicBez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603504" y="7443216"/>
            <a:ext cx="548640" cy="548640"/>
            <a:chOff x="0" y="0"/>
            <a:chExt cx="731520" cy="73152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316736" y="7388352"/>
            <a:ext cx="2560320" cy="365760"/>
            <a:chOff x="0" y="0"/>
            <a:chExt cx="3413760" cy="48768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413760" cy="487680"/>
            </a:xfrm>
            <a:custGeom>
              <a:avLst/>
              <a:gdLst/>
              <a:ahLst/>
              <a:cxnLst/>
              <a:rect r="r" b="b" t="t" l="l"/>
              <a:pathLst>
                <a:path h="4876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47625"/>
              <a:ext cx="341376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RBAC Denial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316736" y="7717536"/>
            <a:ext cx="7863840" cy="550367"/>
            <a:chOff x="0" y="0"/>
            <a:chExt cx="10485120" cy="733822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0485120" cy="733822"/>
            </a:xfrm>
            <a:custGeom>
              <a:avLst/>
              <a:gdLst/>
              <a:ahLst/>
              <a:cxnLst/>
              <a:rect r="r" b="b" t="t" l="l"/>
              <a:pathLst>
                <a:path h="73382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733822"/>
                  </a:lnTo>
                  <a:lnTo>
                    <a:pt x="0" y="7338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503" r="0" b="-208315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10485120" cy="7719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CAE8F0"/>
                  </a:solidFill>
                  <a:latin typeface="Consolas"/>
                  <a:ea typeface="Consolas"/>
                  <a:cs typeface="Consolas"/>
                  <a:sym typeface="Consolas"/>
                </a:rPr>
                <a:t>User attempts admin action  →  403 Forbidden  (evidence/09_user_denied_action.txt)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499367" y="8180327"/>
            <a:ext cx="8986523" cy="756923"/>
            <a:chOff x="0" y="0"/>
            <a:chExt cx="11982031" cy="1009231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16891" y="16891"/>
              <a:ext cx="11948160" cy="975360"/>
            </a:xfrm>
            <a:custGeom>
              <a:avLst/>
              <a:gdLst/>
              <a:ahLst/>
              <a:cxnLst/>
              <a:rect r="r" b="b" t="t" l="l"/>
              <a:pathLst>
                <a:path h="97536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11981942" cy="1009144"/>
            </a:xfrm>
            <a:custGeom>
              <a:avLst/>
              <a:gdLst/>
              <a:ahLst/>
              <a:cxnLst/>
              <a:rect r="r" b="b" t="t" l="l"/>
              <a:pathLst>
                <a:path h="1009144" w="11981942">
                  <a:moveTo>
                    <a:pt x="16891" y="0"/>
                  </a:moveTo>
                  <a:lnTo>
                    <a:pt x="11965051" y="0"/>
                  </a:lnTo>
                  <a:cubicBezTo>
                    <a:pt x="11974449" y="0"/>
                    <a:pt x="11981942" y="7620"/>
                    <a:pt x="11981942" y="16891"/>
                  </a:cubicBezTo>
                  <a:lnTo>
                    <a:pt x="11981942" y="992251"/>
                  </a:lnTo>
                  <a:cubicBezTo>
                    <a:pt x="11981942" y="1001649"/>
                    <a:pt x="11974322" y="1009142"/>
                    <a:pt x="1196505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11965051" y="975360"/>
                  </a:lnTo>
                  <a:lnTo>
                    <a:pt x="11965051" y="992251"/>
                  </a:lnTo>
                  <a:lnTo>
                    <a:pt x="11948160" y="992251"/>
                  </a:lnTo>
                  <a:lnTo>
                    <a:pt x="11948160" y="16891"/>
                  </a:lnTo>
                  <a:lnTo>
                    <a:pt x="11965051" y="16891"/>
                  </a:lnTo>
                  <a:lnTo>
                    <a:pt x="11965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590807" y="8271767"/>
            <a:ext cx="574043" cy="574043"/>
            <a:chOff x="0" y="0"/>
            <a:chExt cx="765391" cy="765391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16891" y="16891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765429" cy="765302"/>
            </a:xfrm>
            <a:custGeom>
              <a:avLst/>
              <a:gdLst/>
              <a:ahLst/>
              <a:cxnLst/>
              <a:rect r="r" b="b" t="t" l="l"/>
              <a:pathLst>
                <a:path h="765302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382651" y="16891"/>
                  </a:lnTo>
                  <a:lnTo>
                    <a:pt x="382651" y="0"/>
                  </a:lnTo>
                  <a:cubicBezTo>
                    <a:pt x="594106" y="0"/>
                    <a:pt x="765429" y="171323"/>
                    <a:pt x="765429" y="382651"/>
                  </a:cubicBezTo>
                  <a:cubicBezTo>
                    <a:pt x="765429" y="593979"/>
                    <a:pt x="594106" y="765302"/>
                    <a:pt x="382778" y="765302"/>
                  </a:cubicBezTo>
                  <a:lnTo>
                    <a:pt x="382778" y="748411"/>
                  </a:lnTo>
                  <a:lnTo>
                    <a:pt x="382778" y="765302"/>
                  </a:lnTo>
                  <a:cubicBezTo>
                    <a:pt x="171323" y="765429"/>
                    <a:pt x="0" y="594106"/>
                    <a:pt x="0" y="382651"/>
                  </a:cubicBezTo>
                  <a:lnTo>
                    <a:pt x="16891" y="382651"/>
                  </a:lnTo>
                  <a:lnTo>
                    <a:pt x="31369" y="391414"/>
                  </a:lnTo>
                  <a:cubicBezTo>
                    <a:pt x="27432" y="397891"/>
                    <a:pt x="19685" y="400939"/>
                    <a:pt x="12319" y="398907"/>
                  </a:cubicBezTo>
                  <a:cubicBezTo>
                    <a:pt x="4953" y="396875"/>
                    <a:pt x="0" y="390271"/>
                    <a:pt x="0" y="382651"/>
                  </a:cubicBezTo>
                  <a:moveTo>
                    <a:pt x="33909" y="382651"/>
                  </a:moveTo>
                  <a:lnTo>
                    <a:pt x="16891" y="382651"/>
                  </a:lnTo>
                  <a:lnTo>
                    <a:pt x="2413" y="373888"/>
                  </a:lnTo>
                  <a:cubicBezTo>
                    <a:pt x="6350" y="367411"/>
                    <a:pt x="14097" y="364363"/>
                    <a:pt x="21463" y="366395"/>
                  </a:cubicBezTo>
                  <a:cubicBezTo>
                    <a:pt x="28829" y="368427"/>
                    <a:pt x="33782" y="375158"/>
                    <a:pt x="33782" y="382651"/>
                  </a:cubicBezTo>
                  <a:cubicBezTo>
                    <a:pt x="33782" y="575310"/>
                    <a:pt x="189992" y="731520"/>
                    <a:pt x="382651" y="731520"/>
                  </a:cubicBezTo>
                  <a:cubicBezTo>
                    <a:pt x="575310" y="731520"/>
                    <a:pt x="731520" y="575310"/>
                    <a:pt x="731520" y="382651"/>
                  </a:cubicBezTo>
                  <a:lnTo>
                    <a:pt x="748411" y="382651"/>
                  </a:lnTo>
                  <a:lnTo>
                    <a:pt x="731520" y="382651"/>
                  </a:lnTo>
                  <a:cubicBezTo>
                    <a:pt x="731520" y="189992"/>
                    <a:pt x="575310" y="33782"/>
                    <a:pt x="382651" y="33782"/>
                  </a:cubicBezTo>
                  <a:lnTo>
                    <a:pt x="382651" y="16891"/>
                  </a:lnTo>
                  <a:lnTo>
                    <a:pt x="382651" y="33909"/>
                  </a:lnTo>
                  <a:cubicBezTo>
                    <a:pt x="189992" y="33909"/>
                    <a:pt x="33782" y="190119"/>
                    <a:pt x="33782" y="382778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603504" y="8284464"/>
            <a:ext cx="548640" cy="548640"/>
            <a:chOff x="0" y="0"/>
            <a:chExt cx="731520" cy="73152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316736" y="8229600"/>
            <a:ext cx="2560320" cy="365760"/>
            <a:chOff x="0" y="0"/>
            <a:chExt cx="3413760" cy="48768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3413760" cy="487680"/>
            </a:xfrm>
            <a:custGeom>
              <a:avLst/>
              <a:gdLst/>
              <a:ahLst/>
              <a:cxnLst/>
              <a:rect r="r" b="b" t="t" l="l"/>
              <a:pathLst>
                <a:path h="4876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47625"/>
              <a:ext cx="341376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8B5C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Tamper Check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316736" y="8558784"/>
            <a:ext cx="7863840" cy="550367"/>
            <a:chOff x="0" y="0"/>
            <a:chExt cx="10485120" cy="733822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0485120" cy="733822"/>
            </a:xfrm>
            <a:custGeom>
              <a:avLst/>
              <a:gdLst/>
              <a:ahLst/>
              <a:cxnLst/>
              <a:rect r="r" b="b" t="t" l="l"/>
              <a:pathLst>
                <a:path h="73382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733822"/>
                  </a:lnTo>
                  <a:lnTo>
                    <a:pt x="0" y="7338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503" r="0" b="-208315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10485120" cy="7719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CAE8F0"/>
                  </a:solidFill>
                  <a:latin typeface="Consolas"/>
                  <a:ea typeface="Consolas"/>
                  <a:cs typeface="Consolas"/>
                  <a:sym typeface="Consolas"/>
                </a:rPr>
                <a:t>Direct DB edit  →  GET /api/security/unauthorized-check  →  mismatch flagged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499367" y="9021575"/>
            <a:ext cx="8986523" cy="756923"/>
            <a:chOff x="0" y="0"/>
            <a:chExt cx="11982031" cy="1009231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16891" y="16891"/>
              <a:ext cx="11948160" cy="975360"/>
            </a:xfrm>
            <a:custGeom>
              <a:avLst/>
              <a:gdLst/>
              <a:ahLst/>
              <a:cxnLst/>
              <a:rect r="r" b="b" t="t" l="l"/>
              <a:pathLst>
                <a:path h="97536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1981942" cy="1009144"/>
            </a:xfrm>
            <a:custGeom>
              <a:avLst/>
              <a:gdLst/>
              <a:ahLst/>
              <a:cxnLst/>
              <a:rect r="r" b="b" t="t" l="l"/>
              <a:pathLst>
                <a:path h="1009144" w="11981942">
                  <a:moveTo>
                    <a:pt x="16891" y="0"/>
                  </a:moveTo>
                  <a:lnTo>
                    <a:pt x="11965051" y="0"/>
                  </a:lnTo>
                  <a:cubicBezTo>
                    <a:pt x="11974449" y="0"/>
                    <a:pt x="11981942" y="7620"/>
                    <a:pt x="11981942" y="16891"/>
                  </a:cubicBezTo>
                  <a:lnTo>
                    <a:pt x="11981942" y="992251"/>
                  </a:lnTo>
                  <a:cubicBezTo>
                    <a:pt x="11981942" y="1001649"/>
                    <a:pt x="11974322" y="1009142"/>
                    <a:pt x="1196505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11965051" y="975360"/>
                  </a:lnTo>
                  <a:lnTo>
                    <a:pt x="11965051" y="992251"/>
                  </a:lnTo>
                  <a:lnTo>
                    <a:pt x="11948160" y="992251"/>
                  </a:lnTo>
                  <a:lnTo>
                    <a:pt x="11948160" y="16891"/>
                  </a:lnTo>
                  <a:lnTo>
                    <a:pt x="11965051" y="16891"/>
                  </a:lnTo>
                  <a:lnTo>
                    <a:pt x="11965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590807" y="9113015"/>
            <a:ext cx="574043" cy="574043"/>
            <a:chOff x="0" y="0"/>
            <a:chExt cx="765391" cy="765391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16891" y="16891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2DD4BF"/>
            </a:solidFill>
          </p:spPr>
        </p:sp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765429" cy="765302"/>
            </a:xfrm>
            <a:custGeom>
              <a:avLst/>
              <a:gdLst/>
              <a:ahLst/>
              <a:cxnLst/>
              <a:rect r="r" b="b" t="t" l="l"/>
              <a:pathLst>
                <a:path h="765302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382651" y="16891"/>
                  </a:lnTo>
                  <a:lnTo>
                    <a:pt x="382651" y="0"/>
                  </a:lnTo>
                  <a:cubicBezTo>
                    <a:pt x="594106" y="0"/>
                    <a:pt x="765429" y="171323"/>
                    <a:pt x="765429" y="382651"/>
                  </a:cubicBezTo>
                  <a:cubicBezTo>
                    <a:pt x="765429" y="593979"/>
                    <a:pt x="594106" y="765302"/>
                    <a:pt x="382778" y="765302"/>
                  </a:cubicBezTo>
                  <a:lnTo>
                    <a:pt x="382778" y="748411"/>
                  </a:lnTo>
                  <a:lnTo>
                    <a:pt x="382778" y="765302"/>
                  </a:lnTo>
                  <a:cubicBezTo>
                    <a:pt x="171323" y="765429"/>
                    <a:pt x="0" y="594106"/>
                    <a:pt x="0" y="382651"/>
                  </a:cubicBezTo>
                  <a:lnTo>
                    <a:pt x="16891" y="382651"/>
                  </a:lnTo>
                  <a:lnTo>
                    <a:pt x="31369" y="391414"/>
                  </a:lnTo>
                  <a:cubicBezTo>
                    <a:pt x="27432" y="397891"/>
                    <a:pt x="19685" y="400939"/>
                    <a:pt x="12319" y="398907"/>
                  </a:cubicBezTo>
                  <a:cubicBezTo>
                    <a:pt x="4953" y="396875"/>
                    <a:pt x="0" y="390271"/>
                    <a:pt x="0" y="382651"/>
                  </a:cubicBezTo>
                  <a:moveTo>
                    <a:pt x="33909" y="382651"/>
                  </a:moveTo>
                  <a:lnTo>
                    <a:pt x="16891" y="382651"/>
                  </a:lnTo>
                  <a:lnTo>
                    <a:pt x="2413" y="373888"/>
                  </a:lnTo>
                  <a:cubicBezTo>
                    <a:pt x="6350" y="367411"/>
                    <a:pt x="14097" y="364363"/>
                    <a:pt x="21463" y="366395"/>
                  </a:cubicBezTo>
                  <a:cubicBezTo>
                    <a:pt x="28829" y="368427"/>
                    <a:pt x="33782" y="375158"/>
                    <a:pt x="33782" y="382651"/>
                  </a:cubicBezTo>
                  <a:cubicBezTo>
                    <a:pt x="33782" y="575310"/>
                    <a:pt x="189992" y="731520"/>
                    <a:pt x="382651" y="731520"/>
                  </a:cubicBezTo>
                  <a:cubicBezTo>
                    <a:pt x="575310" y="731520"/>
                    <a:pt x="731520" y="575310"/>
                    <a:pt x="731520" y="382651"/>
                  </a:cubicBezTo>
                  <a:lnTo>
                    <a:pt x="748411" y="382651"/>
                  </a:lnTo>
                  <a:lnTo>
                    <a:pt x="731520" y="382651"/>
                  </a:lnTo>
                  <a:cubicBezTo>
                    <a:pt x="731520" y="189992"/>
                    <a:pt x="575310" y="33782"/>
                    <a:pt x="382651" y="33782"/>
                  </a:cubicBezTo>
                  <a:lnTo>
                    <a:pt x="382651" y="16891"/>
                  </a:lnTo>
                  <a:lnTo>
                    <a:pt x="382651" y="33909"/>
                  </a:lnTo>
                  <a:cubicBezTo>
                    <a:pt x="189992" y="33909"/>
                    <a:pt x="33782" y="190119"/>
                    <a:pt x="33782" y="382778"/>
                  </a:cubicBez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603504" y="9125712"/>
            <a:ext cx="548640" cy="548640"/>
            <a:chOff x="0" y="0"/>
            <a:chExt cx="731520" cy="73152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316736" y="9070848"/>
            <a:ext cx="2560320" cy="365760"/>
            <a:chOff x="0" y="0"/>
            <a:chExt cx="3413760" cy="48768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3413760" cy="487680"/>
            </a:xfrm>
            <a:custGeom>
              <a:avLst/>
              <a:gdLst/>
              <a:ahLst/>
              <a:cxnLst/>
              <a:rect r="r" b="b" t="t" l="l"/>
              <a:pathLst>
                <a:path h="4876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47625"/>
              <a:ext cx="341376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DD4B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Full E2E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1316736" y="9400032"/>
            <a:ext cx="7863840" cy="329184"/>
            <a:chOff x="0" y="0"/>
            <a:chExt cx="10485120" cy="438912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10485120" cy="438912"/>
            </a:xfrm>
            <a:custGeom>
              <a:avLst/>
              <a:gdLst/>
              <a:ahLst/>
              <a:cxnLst/>
              <a:rect r="r" b="b" t="t" l="l"/>
              <a:pathLst>
                <a:path h="43891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5475" r="0" b="-415475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104851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AE8F0"/>
                  </a:solidFill>
                  <a:latin typeface="Consolas"/>
                  <a:ea typeface="Consolas"/>
                  <a:cs typeface="Consolas"/>
                  <a:sym typeface="Consolas"/>
                </a:rPr>
                <a:t>node reports/verify_module_b_e2e.js  →  all checks PASS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9875520" y="2523744"/>
            <a:ext cx="7900416" cy="512064"/>
            <a:chOff x="0" y="0"/>
            <a:chExt cx="10533888" cy="682752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10533888" cy="682752"/>
            </a:xfrm>
            <a:custGeom>
              <a:avLst/>
              <a:gdLst/>
              <a:ahLst/>
              <a:cxnLst/>
              <a:rect r="r" b="b" t="t" l="l"/>
              <a:pathLst>
                <a:path h="682752" w="10533888">
                  <a:moveTo>
                    <a:pt x="0" y="0"/>
                  </a:moveTo>
                  <a:lnTo>
                    <a:pt x="10533888" y="0"/>
                  </a:lnTo>
                  <a:lnTo>
                    <a:pt x="1053388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626" r="0" b="-250626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47625"/>
              <a:ext cx="10533888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399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A — Demo Sequence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9862823" y="3132839"/>
            <a:ext cx="7925819" cy="1012955"/>
            <a:chOff x="0" y="0"/>
            <a:chExt cx="10567759" cy="1350607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16891" y="16891"/>
              <a:ext cx="10533888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533888">
                  <a:moveTo>
                    <a:pt x="0" y="0"/>
                  </a:moveTo>
                  <a:lnTo>
                    <a:pt x="10533888" y="0"/>
                  </a:lnTo>
                  <a:lnTo>
                    <a:pt x="10533888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10567670" cy="1350518"/>
            </a:xfrm>
            <a:custGeom>
              <a:avLst/>
              <a:gdLst/>
              <a:ahLst/>
              <a:cxnLst/>
              <a:rect r="r" b="b" t="t" l="l"/>
              <a:pathLst>
                <a:path h="1350518" w="10567670">
                  <a:moveTo>
                    <a:pt x="16891" y="0"/>
                  </a:moveTo>
                  <a:lnTo>
                    <a:pt x="10550779" y="0"/>
                  </a:lnTo>
                  <a:cubicBezTo>
                    <a:pt x="10560177" y="0"/>
                    <a:pt x="10567670" y="7620"/>
                    <a:pt x="10567670" y="16891"/>
                  </a:cubicBezTo>
                  <a:lnTo>
                    <a:pt x="10567670" y="1333627"/>
                  </a:lnTo>
                  <a:cubicBezTo>
                    <a:pt x="10567670" y="1343025"/>
                    <a:pt x="10560050" y="1350518"/>
                    <a:pt x="10550779" y="1350518"/>
                  </a:cubicBezTo>
                  <a:lnTo>
                    <a:pt x="16891" y="1350518"/>
                  </a:lnTo>
                  <a:cubicBezTo>
                    <a:pt x="7493" y="1350518"/>
                    <a:pt x="0" y="1342898"/>
                    <a:pt x="0" y="13336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33627"/>
                  </a:lnTo>
                  <a:lnTo>
                    <a:pt x="16891" y="1333627"/>
                  </a:lnTo>
                  <a:lnTo>
                    <a:pt x="16891" y="1316736"/>
                  </a:lnTo>
                  <a:lnTo>
                    <a:pt x="10550779" y="1316736"/>
                  </a:lnTo>
                  <a:lnTo>
                    <a:pt x="10550779" y="1333627"/>
                  </a:lnTo>
                  <a:lnTo>
                    <a:pt x="10533888" y="1333627"/>
                  </a:lnTo>
                  <a:lnTo>
                    <a:pt x="10533888" y="16891"/>
                  </a:lnTo>
                  <a:lnTo>
                    <a:pt x="10550779" y="16891"/>
                  </a:lnTo>
                  <a:lnTo>
                    <a:pt x="105507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9970008" y="3258312"/>
            <a:ext cx="725424" cy="725424"/>
            <a:chOff x="0" y="0"/>
            <a:chExt cx="967232" cy="967232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20320" y="2032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391"/>
                    <a:pt x="926592" y="463296"/>
                  </a:cubicBezTo>
                  <a:cubicBezTo>
                    <a:pt x="926592" y="719201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06B6C8">
                <a:alpha val="8627"/>
              </a:srgbClr>
            </a:solidFill>
          </p:spPr>
        </p:sp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967232" cy="967232"/>
            </a:xfrm>
            <a:custGeom>
              <a:avLst/>
              <a:gdLst/>
              <a:ahLst/>
              <a:cxnLst/>
              <a:rect r="r" b="b" t="t" l="l"/>
              <a:pathLst>
                <a:path h="967232" w="967232">
                  <a:moveTo>
                    <a:pt x="0" y="483616"/>
                  </a:moveTo>
                  <a:cubicBezTo>
                    <a:pt x="0" y="216535"/>
                    <a:pt x="216535" y="0"/>
                    <a:pt x="483616" y="0"/>
                  </a:cubicBezTo>
                  <a:cubicBezTo>
                    <a:pt x="750697" y="0"/>
                    <a:pt x="967232" y="216535"/>
                    <a:pt x="967232" y="483616"/>
                  </a:cubicBezTo>
                  <a:lnTo>
                    <a:pt x="946912" y="483616"/>
                  </a:lnTo>
                  <a:lnTo>
                    <a:pt x="967232" y="483616"/>
                  </a:lnTo>
                  <a:cubicBezTo>
                    <a:pt x="967232" y="750697"/>
                    <a:pt x="750697" y="967232"/>
                    <a:pt x="483616" y="967232"/>
                  </a:cubicBezTo>
                  <a:lnTo>
                    <a:pt x="483616" y="946912"/>
                  </a:lnTo>
                  <a:lnTo>
                    <a:pt x="483616" y="967232"/>
                  </a:lnTo>
                  <a:cubicBezTo>
                    <a:pt x="216535" y="967232"/>
                    <a:pt x="0" y="750697"/>
                    <a:pt x="0" y="483616"/>
                  </a:cubicBezTo>
                  <a:lnTo>
                    <a:pt x="20320" y="483616"/>
                  </a:lnTo>
                  <a:lnTo>
                    <a:pt x="40640" y="483616"/>
                  </a:lnTo>
                  <a:lnTo>
                    <a:pt x="20320" y="483616"/>
                  </a:lnTo>
                  <a:lnTo>
                    <a:pt x="0" y="483616"/>
                  </a:lnTo>
                  <a:moveTo>
                    <a:pt x="40640" y="483616"/>
                  </a:moveTo>
                  <a:cubicBezTo>
                    <a:pt x="40640" y="494792"/>
                    <a:pt x="31496" y="503936"/>
                    <a:pt x="20320" y="503936"/>
                  </a:cubicBezTo>
                  <a:cubicBezTo>
                    <a:pt x="9144" y="503936"/>
                    <a:pt x="0" y="494792"/>
                    <a:pt x="0" y="483616"/>
                  </a:cubicBezTo>
                  <a:cubicBezTo>
                    <a:pt x="0" y="472440"/>
                    <a:pt x="9144" y="463296"/>
                    <a:pt x="20320" y="463296"/>
                  </a:cubicBezTo>
                  <a:cubicBezTo>
                    <a:pt x="31496" y="463296"/>
                    <a:pt x="40640" y="472440"/>
                    <a:pt x="40640" y="483616"/>
                  </a:cubicBezTo>
                  <a:cubicBezTo>
                    <a:pt x="40640" y="728218"/>
                    <a:pt x="239014" y="926592"/>
                    <a:pt x="483616" y="926592"/>
                  </a:cubicBezTo>
                  <a:cubicBezTo>
                    <a:pt x="728218" y="926592"/>
                    <a:pt x="926592" y="728218"/>
                    <a:pt x="926592" y="483616"/>
                  </a:cubicBezTo>
                  <a:cubicBezTo>
                    <a:pt x="926592" y="239014"/>
                    <a:pt x="728218" y="40640"/>
                    <a:pt x="483616" y="40640"/>
                  </a:cubicBezTo>
                  <a:lnTo>
                    <a:pt x="483616" y="20320"/>
                  </a:lnTo>
                  <a:lnTo>
                    <a:pt x="483616" y="40640"/>
                  </a:lnTo>
                  <a:cubicBezTo>
                    <a:pt x="239014" y="40640"/>
                    <a:pt x="40640" y="239014"/>
                    <a:pt x="40640" y="483616"/>
                  </a:cubicBez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9985248" y="3273552"/>
            <a:ext cx="694944" cy="694944"/>
            <a:chOff x="0" y="0"/>
            <a:chExt cx="926592" cy="926592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38100"/>
              <a:ext cx="926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10863072" y="3218688"/>
            <a:ext cx="6803136" cy="438912"/>
            <a:chOff x="0" y="0"/>
            <a:chExt cx="9070848" cy="585216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9070848" cy="585216"/>
            </a:xfrm>
            <a:custGeom>
              <a:avLst/>
              <a:gdLst/>
              <a:ahLst/>
              <a:cxnLst/>
              <a:rect r="r" b="b" t="t" l="l"/>
              <a:pathLst>
                <a:path h="585216" w="9070848">
                  <a:moveTo>
                    <a:pt x="0" y="0"/>
                  </a:moveTo>
                  <a:lnTo>
                    <a:pt x="9070848" y="0"/>
                  </a:lnTo>
                  <a:lnTo>
                    <a:pt x="907084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018" r="0" b="-252018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47625"/>
              <a:ext cx="9070848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Index Demo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0863072" y="3657600"/>
            <a:ext cx="6803136" cy="365760"/>
            <a:chOff x="0" y="0"/>
            <a:chExt cx="9070848" cy="487680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9070848" cy="487680"/>
            </a:xfrm>
            <a:custGeom>
              <a:avLst/>
              <a:gdLst/>
              <a:ahLst/>
              <a:cxnLst/>
              <a:rect r="r" b="b" t="t" l="l"/>
              <a:pathLst>
                <a:path h="487680" w="9070848">
                  <a:moveTo>
                    <a:pt x="0" y="0"/>
                  </a:moveTo>
                  <a:lnTo>
                    <a:pt x="9070848" y="0"/>
                  </a:lnTo>
                  <a:lnTo>
                    <a:pt x="907084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2421" r="0" b="-312421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38100"/>
              <a:ext cx="9070848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AE8F0"/>
                  </a:solidFill>
                  <a:latin typeface="Consolas"/>
                  <a:ea typeface="Consolas"/>
                  <a:cs typeface="Consolas"/>
                  <a:sym typeface="Consolas"/>
                </a:rPr>
                <a:t>python integration/blinddrop_index_demo.py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9862823" y="4230119"/>
            <a:ext cx="7925819" cy="1012955"/>
            <a:chOff x="0" y="0"/>
            <a:chExt cx="10567759" cy="1350607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16891" y="16891"/>
              <a:ext cx="10533888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533888">
                  <a:moveTo>
                    <a:pt x="0" y="0"/>
                  </a:moveTo>
                  <a:lnTo>
                    <a:pt x="10533888" y="0"/>
                  </a:lnTo>
                  <a:lnTo>
                    <a:pt x="10533888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10567670" cy="1350518"/>
            </a:xfrm>
            <a:custGeom>
              <a:avLst/>
              <a:gdLst/>
              <a:ahLst/>
              <a:cxnLst/>
              <a:rect r="r" b="b" t="t" l="l"/>
              <a:pathLst>
                <a:path h="1350518" w="10567670">
                  <a:moveTo>
                    <a:pt x="16891" y="0"/>
                  </a:moveTo>
                  <a:lnTo>
                    <a:pt x="10550779" y="0"/>
                  </a:lnTo>
                  <a:cubicBezTo>
                    <a:pt x="10560177" y="0"/>
                    <a:pt x="10567670" y="7620"/>
                    <a:pt x="10567670" y="16891"/>
                  </a:cubicBezTo>
                  <a:lnTo>
                    <a:pt x="10567670" y="1333627"/>
                  </a:lnTo>
                  <a:cubicBezTo>
                    <a:pt x="10567670" y="1343025"/>
                    <a:pt x="10560050" y="1350518"/>
                    <a:pt x="10550779" y="1350518"/>
                  </a:cubicBezTo>
                  <a:lnTo>
                    <a:pt x="16891" y="1350518"/>
                  </a:lnTo>
                  <a:cubicBezTo>
                    <a:pt x="7493" y="1350518"/>
                    <a:pt x="0" y="1342898"/>
                    <a:pt x="0" y="13336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33627"/>
                  </a:lnTo>
                  <a:lnTo>
                    <a:pt x="16891" y="1333627"/>
                  </a:lnTo>
                  <a:lnTo>
                    <a:pt x="16891" y="1316736"/>
                  </a:lnTo>
                  <a:lnTo>
                    <a:pt x="10550779" y="1316736"/>
                  </a:lnTo>
                  <a:lnTo>
                    <a:pt x="10550779" y="1333627"/>
                  </a:lnTo>
                  <a:lnTo>
                    <a:pt x="10533888" y="1333627"/>
                  </a:lnTo>
                  <a:lnTo>
                    <a:pt x="10533888" y="16891"/>
                  </a:lnTo>
                  <a:lnTo>
                    <a:pt x="10550779" y="16891"/>
                  </a:lnTo>
                  <a:lnTo>
                    <a:pt x="105507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9970008" y="4355592"/>
            <a:ext cx="725424" cy="725424"/>
            <a:chOff x="0" y="0"/>
            <a:chExt cx="967232" cy="967232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20320" y="2032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391"/>
                    <a:pt x="926592" y="463296"/>
                  </a:cubicBezTo>
                  <a:cubicBezTo>
                    <a:pt x="926592" y="719201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F59E0B">
                <a:alpha val="8627"/>
              </a:srgbClr>
            </a:solidFill>
          </p:spPr>
        </p:sp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967232" cy="967232"/>
            </a:xfrm>
            <a:custGeom>
              <a:avLst/>
              <a:gdLst/>
              <a:ahLst/>
              <a:cxnLst/>
              <a:rect r="r" b="b" t="t" l="l"/>
              <a:pathLst>
                <a:path h="967232" w="967232">
                  <a:moveTo>
                    <a:pt x="0" y="483616"/>
                  </a:moveTo>
                  <a:cubicBezTo>
                    <a:pt x="0" y="216535"/>
                    <a:pt x="216535" y="0"/>
                    <a:pt x="483616" y="0"/>
                  </a:cubicBezTo>
                  <a:cubicBezTo>
                    <a:pt x="750697" y="0"/>
                    <a:pt x="967232" y="216535"/>
                    <a:pt x="967232" y="483616"/>
                  </a:cubicBezTo>
                  <a:lnTo>
                    <a:pt x="946912" y="483616"/>
                  </a:lnTo>
                  <a:lnTo>
                    <a:pt x="967232" y="483616"/>
                  </a:lnTo>
                  <a:cubicBezTo>
                    <a:pt x="967232" y="750697"/>
                    <a:pt x="750697" y="967232"/>
                    <a:pt x="483616" y="967232"/>
                  </a:cubicBezTo>
                  <a:lnTo>
                    <a:pt x="483616" y="946912"/>
                  </a:lnTo>
                  <a:lnTo>
                    <a:pt x="483616" y="967232"/>
                  </a:lnTo>
                  <a:cubicBezTo>
                    <a:pt x="216535" y="967232"/>
                    <a:pt x="0" y="750697"/>
                    <a:pt x="0" y="483616"/>
                  </a:cubicBezTo>
                  <a:lnTo>
                    <a:pt x="20320" y="483616"/>
                  </a:lnTo>
                  <a:lnTo>
                    <a:pt x="40640" y="483616"/>
                  </a:lnTo>
                  <a:lnTo>
                    <a:pt x="20320" y="483616"/>
                  </a:lnTo>
                  <a:lnTo>
                    <a:pt x="0" y="483616"/>
                  </a:lnTo>
                  <a:moveTo>
                    <a:pt x="40640" y="483616"/>
                  </a:moveTo>
                  <a:cubicBezTo>
                    <a:pt x="40640" y="494792"/>
                    <a:pt x="31496" y="503936"/>
                    <a:pt x="20320" y="503936"/>
                  </a:cubicBezTo>
                  <a:cubicBezTo>
                    <a:pt x="9144" y="503936"/>
                    <a:pt x="0" y="494792"/>
                    <a:pt x="0" y="483616"/>
                  </a:cubicBezTo>
                  <a:cubicBezTo>
                    <a:pt x="0" y="472440"/>
                    <a:pt x="9144" y="463296"/>
                    <a:pt x="20320" y="463296"/>
                  </a:cubicBezTo>
                  <a:cubicBezTo>
                    <a:pt x="31496" y="463296"/>
                    <a:pt x="40640" y="472440"/>
                    <a:pt x="40640" y="483616"/>
                  </a:cubicBezTo>
                  <a:cubicBezTo>
                    <a:pt x="40640" y="728218"/>
                    <a:pt x="239014" y="926592"/>
                    <a:pt x="483616" y="926592"/>
                  </a:cubicBezTo>
                  <a:cubicBezTo>
                    <a:pt x="728218" y="926592"/>
                    <a:pt x="926592" y="728218"/>
                    <a:pt x="926592" y="483616"/>
                  </a:cubicBezTo>
                  <a:cubicBezTo>
                    <a:pt x="926592" y="239014"/>
                    <a:pt x="728218" y="40640"/>
                    <a:pt x="483616" y="40640"/>
                  </a:cubicBezTo>
                  <a:lnTo>
                    <a:pt x="483616" y="20320"/>
                  </a:lnTo>
                  <a:lnTo>
                    <a:pt x="483616" y="40640"/>
                  </a:lnTo>
                  <a:cubicBezTo>
                    <a:pt x="239014" y="40640"/>
                    <a:pt x="40640" y="239014"/>
                    <a:pt x="40640" y="483616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67" id="167"/>
          <p:cNvGrpSpPr/>
          <p:nvPr/>
        </p:nvGrpSpPr>
        <p:grpSpPr>
          <a:xfrm rot="0">
            <a:off x="9985248" y="4370832"/>
            <a:ext cx="694944" cy="694944"/>
            <a:chOff x="0" y="0"/>
            <a:chExt cx="926592" cy="926592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38100"/>
              <a:ext cx="926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</a:t>
              </a:r>
            </a:p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10863072" y="4315968"/>
            <a:ext cx="6803136" cy="438912"/>
            <a:chOff x="0" y="0"/>
            <a:chExt cx="9070848" cy="585216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9070848" cy="585216"/>
            </a:xfrm>
            <a:custGeom>
              <a:avLst/>
              <a:gdLst/>
              <a:ahLst/>
              <a:cxnLst/>
              <a:rect r="r" b="b" t="t" l="l"/>
              <a:pathLst>
                <a:path h="585216" w="9070848">
                  <a:moveTo>
                    <a:pt x="0" y="0"/>
                  </a:moveTo>
                  <a:lnTo>
                    <a:pt x="9070848" y="0"/>
                  </a:lnTo>
                  <a:lnTo>
                    <a:pt x="907084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018" r="0" b="-252018"/>
              </a:stretch>
            </a:blipFill>
          </p:spPr>
        </p:sp>
        <p:sp>
          <p:nvSpPr>
            <p:cNvPr name="TextBox 172" id="172"/>
            <p:cNvSpPr txBox="true"/>
            <p:nvPr/>
          </p:nvSpPr>
          <p:spPr>
            <a:xfrm>
              <a:off x="0" y="-47625"/>
              <a:ext cx="9070848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Parity Proof</a:t>
              </a:r>
            </a:p>
          </p:txBody>
        </p:sp>
      </p:grpSp>
      <p:grpSp>
        <p:nvGrpSpPr>
          <p:cNvPr name="Group 173" id="173"/>
          <p:cNvGrpSpPr/>
          <p:nvPr/>
        </p:nvGrpSpPr>
        <p:grpSpPr>
          <a:xfrm rot="0">
            <a:off x="10863072" y="4754880"/>
            <a:ext cx="6803136" cy="365760"/>
            <a:chOff x="0" y="0"/>
            <a:chExt cx="9070848" cy="487680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9070848" cy="487680"/>
            </a:xfrm>
            <a:custGeom>
              <a:avLst/>
              <a:gdLst/>
              <a:ahLst/>
              <a:cxnLst/>
              <a:rect r="r" b="b" t="t" l="l"/>
              <a:pathLst>
                <a:path h="487680" w="9070848">
                  <a:moveTo>
                    <a:pt x="0" y="0"/>
                  </a:moveTo>
                  <a:lnTo>
                    <a:pt x="9070848" y="0"/>
                  </a:lnTo>
                  <a:lnTo>
                    <a:pt x="907084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2421" r="0" b="-312421"/>
              </a:stretch>
            </a:blipFill>
          </p:spPr>
        </p:sp>
        <p:sp>
          <p:nvSpPr>
            <p:cNvPr name="TextBox 175" id="175"/>
            <p:cNvSpPr txBox="true"/>
            <p:nvPr/>
          </p:nvSpPr>
          <p:spPr>
            <a:xfrm>
              <a:off x="0" y="-38100"/>
              <a:ext cx="9070848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AE8F0"/>
                  </a:solidFill>
                  <a:latin typeface="Consolas"/>
                  <a:ea typeface="Consolas"/>
                  <a:cs typeface="Consolas"/>
                  <a:sym typeface="Consolas"/>
                </a:rPr>
                <a:t>python integration/db_index_parity_demo.py  →  8 scenarios PASS</a:t>
              </a:r>
            </a:p>
          </p:txBody>
        </p:sp>
      </p:grpSp>
      <p:grpSp>
        <p:nvGrpSpPr>
          <p:cNvPr name="Group 176" id="176"/>
          <p:cNvGrpSpPr/>
          <p:nvPr/>
        </p:nvGrpSpPr>
        <p:grpSpPr>
          <a:xfrm rot="0">
            <a:off x="9862823" y="5327399"/>
            <a:ext cx="7925819" cy="1012955"/>
            <a:chOff x="0" y="0"/>
            <a:chExt cx="10567759" cy="1350607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16891" y="16891"/>
              <a:ext cx="10533888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533888">
                  <a:moveTo>
                    <a:pt x="0" y="0"/>
                  </a:moveTo>
                  <a:lnTo>
                    <a:pt x="10533888" y="0"/>
                  </a:lnTo>
                  <a:lnTo>
                    <a:pt x="10533888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10567670" cy="1350518"/>
            </a:xfrm>
            <a:custGeom>
              <a:avLst/>
              <a:gdLst/>
              <a:ahLst/>
              <a:cxnLst/>
              <a:rect r="r" b="b" t="t" l="l"/>
              <a:pathLst>
                <a:path h="1350518" w="10567670">
                  <a:moveTo>
                    <a:pt x="16891" y="0"/>
                  </a:moveTo>
                  <a:lnTo>
                    <a:pt x="10550779" y="0"/>
                  </a:lnTo>
                  <a:cubicBezTo>
                    <a:pt x="10560177" y="0"/>
                    <a:pt x="10567670" y="7620"/>
                    <a:pt x="10567670" y="16891"/>
                  </a:cubicBezTo>
                  <a:lnTo>
                    <a:pt x="10567670" y="1333627"/>
                  </a:lnTo>
                  <a:cubicBezTo>
                    <a:pt x="10567670" y="1343025"/>
                    <a:pt x="10560050" y="1350518"/>
                    <a:pt x="10550779" y="1350518"/>
                  </a:cubicBezTo>
                  <a:lnTo>
                    <a:pt x="16891" y="1350518"/>
                  </a:lnTo>
                  <a:cubicBezTo>
                    <a:pt x="7493" y="1350518"/>
                    <a:pt x="0" y="1342898"/>
                    <a:pt x="0" y="13336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33627"/>
                  </a:lnTo>
                  <a:lnTo>
                    <a:pt x="16891" y="1333627"/>
                  </a:lnTo>
                  <a:lnTo>
                    <a:pt x="16891" y="1316736"/>
                  </a:lnTo>
                  <a:lnTo>
                    <a:pt x="10550779" y="1316736"/>
                  </a:lnTo>
                  <a:lnTo>
                    <a:pt x="10550779" y="1333627"/>
                  </a:lnTo>
                  <a:lnTo>
                    <a:pt x="10533888" y="1333627"/>
                  </a:lnTo>
                  <a:lnTo>
                    <a:pt x="10533888" y="16891"/>
                  </a:lnTo>
                  <a:lnTo>
                    <a:pt x="10550779" y="16891"/>
                  </a:lnTo>
                  <a:lnTo>
                    <a:pt x="105507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79" id="179"/>
          <p:cNvGrpSpPr/>
          <p:nvPr/>
        </p:nvGrpSpPr>
        <p:grpSpPr>
          <a:xfrm rot="0">
            <a:off x="9970008" y="5452872"/>
            <a:ext cx="725424" cy="725424"/>
            <a:chOff x="0" y="0"/>
            <a:chExt cx="967232" cy="967232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20320" y="2032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391"/>
                    <a:pt x="926592" y="463296"/>
                  </a:cubicBezTo>
                  <a:cubicBezTo>
                    <a:pt x="926592" y="719201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F97316">
                <a:alpha val="8627"/>
              </a:srgbClr>
            </a:solidFill>
          </p:spPr>
        </p:sp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967232" cy="967232"/>
            </a:xfrm>
            <a:custGeom>
              <a:avLst/>
              <a:gdLst/>
              <a:ahLst/>
              <a:cxnLst/>
              <a:rect r="r" b="b" t="t" l="l"/>
              <a:pathLst>
                <a:path h="967232" w="967232">
                  <a:moveTo>
                    <a:pt x="0" y="483616"/>
                  </a:moveTo>
                  <a:cubicBezTo>
                    <a:pt x="0" y="216535"/>
                    <a:pt x="216535" y="0"/>
                    <a:pt x="483616" y="0"/>
                  </a:cubicBezTo>
                  <a:cubicBezTo>
                    <a:pt x="750697" y="0"/>
                    <a:pt x="967232" y="216535"/>
                    <a:pt x="967232" y="483616"/>
                  </a:cubicBezTo>
                  <a:lnTo>
                    <a:pt x="946912" y="483616"/>
                  </a:lnTo>
                  <a:lnTo>
                    <a:pt x="967232" y="483616"/>
                  </a:lnTo>
                  <a:cubicBezTo>
                    <a:pt x="967232" y="750697"/>
                    <a:pt x="750697" y="967232"/>
                    <a:pt x="483616" y="967232"/>
                  </a:cubicBezTo>
                  <a:lnTo>
                    <a:pt x="483616" y="946912"/>
                  </a:lnTo>
                  <a:lnTo>
                    <a:pt x="483616" y="967232"/>
                  </a:lnTo>
                  <a:cubicBezTo>
                    <a:pt x="216535" y="967232"/>
                    <a:pt x="0" y="750697"/>
                    <a:pt x="0" y="483616"/>
                  </a:cubicBezTo>
                  <a:lnTo>
                    <a:pt x="20320" y="483616"/>
                  </a:lnTo>
                  <a:lnTo>
                    <a:pt x="40640" y="483616"/>
                  </a:lnTo>
                  <a:lnTo>
                    <a:pt x="20320" y="483616"/>
                  </a:lnTo>
                  <a:lnTo>
                    <a:pt x="0" y="483616"/>
                  </a:lnTo>
                  <a:moveTo>
                    <a:pt x="40640" y="483616"/>
                  </a:moveTo>
                  <a:cubicBezTo>
                    <a:pt x="40640" y="494792"/>
                    <a:pt x="31496" y="503936"/>
                    <a:pt x="20320" y="503936"/>
                  </a:cubicBezTo>
                  <a:cubicBezTo>
                    <a:pt x="9144" y="503936"/>
                    <a:pt x="0" y="494792"/>
                    <a:pt x="0" y="483616"/>
                  </a:cubicBezTo>
                  <a:cubicBezTo>
                    <a:pt x="0" y="472440"/>
                    <a:pt x="9144" y="463296"/>
                    <a:pt x="20320" y="463296"/>
                  </a:cubicBezTo>
                  <a:cubicBezTo>
                    <a:pt x="31496" y="463296"/>
                    <a:pt x="40640" y="472440"/>
                    <a:pt x="40640" y="483616"/>
                  </a:cubicBezTo>
                  <a:cubicBezTo>
                    <a:pt x="40640" y="728218"/>
                    <a:pt x="239014" y="926592"/>
                    <a:pt x="483616" y="926592"/>
                  </a:cubicBezTo>
                  <a:cubicBezTo>
                    <a:pt x="728218" y="926592"/>
                    <a:pt x="926592" y="728218"/>
                    <a:pt x="926592" y="483616"/>
                  </a:cubicBezTo>
                  <a:cubicBezTo>
                    <a:pt x="926592" y="239014"/>
                    <a:pt x="728218" y="40640"/>
                    <a:pt x="483616" y="40640"/>
                  </a:cubicBezTo>
                  <a:lnTo>
                    <a:pt x="483616" y="20320"/>
                  </a:lnTo>
                  <a:lnTo>
                    <a:pt x="483616" y="40640"/>
                  </a:lnTo>
                  <a:cubicBezTo>
                    <a:pt x="239014" y="40640"/>
                    <a:pt x="40640" y="239014"/>
                    <a:pt x="40640" y="483616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9985248" y="5468112"/>
            <a:ext cx="694944" cy="694944"/>
            <a:chOff x="0" y="0"/>
            <a:chExt cx="926592" cy="926592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-38100"/>
              <a:ext cx="926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10863072" y="5413248"/>
            <a:ext cx="6803136" cy="438912"/>
            <a:chOff x="0" y="0"/>
            <a:chExt cx="9070848" cy="585216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9070848" cy="585216"/>
            </a:xfrm>
            <a:custGeom>
              <a:avLst/>
              <a:gdLst/>
              <a:ahLst/>
              <a:cxnLst/>
              <a:rect r="r" b="b" t="t" l="l"/>
              <a:pathLst>
                <a:path h="585216" w="9070848">
                  <a:moveTo>
                    <a:pt x="0" y="0"/>
                  </a:moveTo>
                  <a:lnTo>
                    <a:pt x="9070848" y="0"/>
                  </a:lnTo>
                  <a:lnTo>
                    <a:pt x="907084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018" r="0" b="-252018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-47625"/>
              <a:ext cx="9070848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Domain Benchmark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10863072" y="5852160"/>
            <a:ext cx="6803136" cy="365760"/>
            <a:chOff x="0" y="0"/>
            <a:chExt cx="9070848" cy="487680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9070848" cy="487680"/>
            </a:xfrm>
            <a:custGeom>
              <a:avLst/>
              <a:gdLst/>
              <a:ahLst/>
              <a:cxnLst/>
              <a:rect r="r" b="b" t="t" l="l"/>
              <a:pathLst>
                <a:path h="487680" w="9070848">
                  <a:moveTo>
                    <a:pt x="0" y="0"/>
                  </a:moveTo>
                  <a:lnTo>
                    <a:pt x="9070848" y="0"/>
                  </a:lnTo>
                  <a:lnTo>
                    <a:pt x="907084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2421" r="0" b="-31242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-38100"/>
              <a:ext cx="9070848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AE8F0"/>
                  </a:solidFill>
                  <a:latin typeface="Consolas"/>
                  <a:ea typeface="Consolas"/>
                  <a:cs typeface="Consolas"/>
                  <a:sym typeface="Consolas"/>
                </a:rPr>
                <a:t>python integration/benchmark_blinddrop_paths.py</a:t>
              </a:r>
            </a:p>
          </p:txBody>
        </p:sp>
      </p:grpSp>
      <p:grpSp>
        <p:nvGrpSpPr>
          <p:cNvPr name="Group 191" id="191"/>
          <p:cNvGrpSpPr/>
          <p:nvPr/>
        </p:nvGrpSpPr>
        <p:grpSpPr>
          <a:xfrm rot="0">
            <a:off x="9862823" y="6424679"/>
            <a:ext cx="7925819" cy="1012955"/>
            <a:chOff x="0" y="0"/>
            <a:chExt cx="10567759" cy="1350607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16891" y="16891"/>
              <a:ext cx="10533888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533888">
                  <a:moveTo>
                    <a:pt x="0" y="0"/>
                  </a:moveTo>
                  <a:lnTo>
                    <a:pt x="10533888" y="0"/>
                  </a:lnTo>
                  <a:lnTo>
                    <a:pt x="10533888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10567670" cy="1350518"/>
            </a:xfrm>
            <a:custGeom>
              <a:avLst/>
              <a:gdLst/>
              <a:ahLst/>
              <a:cxnLst/>
              <a:rect r="r" b="b" t="t" l="l"/>
              <a:pathLst>
                <a:path h="1350518" w="10567670">
                  <a:moveTo>
                    <a:pt x="16891" y="0"/>
                  </a:moveTo>
                  <a:lnTo>
                    <a:pt x="10550779" y="0"/>
                  </a:lnTo>
                  <a:cubicBezTo>
                    <a:pt x="10560177" y="0"/>
                    <a:pt x="10567670" y="7620"/>
                    <a:pt x="10567670" y="16891"/>
                  </a:cubicBezTo>
                  <a:lnTo>
                    <a:pt x="10567670" y="1333627"/>
                  </a:lnTo>
                  <a:cubicBezTo>
                    <a:pt x="10567670" y="1343025"/>
                    <a:pt x="10560050" y="1350518"/>
                    <a:pt x="10550779" y="1350518"/>
                  </a:cubicBezTo>
                  <a:lnTo>
                    <a:pt x="16891" y="1350518"/>
                  </a:lnTo>
                  <a:cubicBezTo>
                    <a:pt x="7493" y="1350518"/>
                    <a:pt x="0" y="1342898"/>
                    <a:pt x="0" y="13336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33627"/>
                  </a:lnTo>
                  <a:lnTo>
                    <a:pt x="16891" y="1333627"/>
                  </a:lnTo>
                  <a:lnTo>
                    <a:pt x="16891" y="1316736"/>
                  </a:lnTo>
                  <a:lnTo>
                    <a:pt x="10550779" y="1316736"/>
                  </a:lnTo>
                  <a:lnTo>
                    <a:pt x="10550779" y="1333627"/>
                  </a:lnTo>
                  <a:lnTo>
                    <a:pt x="10533888" y="1333627"/>
                  </a:lnTo>
                  <a:lnTo>
                    <a:pt x="10533888" y="16891"/>
                  </a:lnTo>
                  <a:lnTo>
                    <a:pt x="10550779" y="16891"/>
                  </a:lnTo>
                  <a:lnTo>
                    <a:pt x="105507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9970008" y="6550152"/>
            <a:ext cx="725424" cy="725424"/>
            <a:chOff x="0" y="0"/>
            <a:chExt cx="967232" cy="967232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20320" y="2032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391"/>
                    <a:pt x="926592" y="463296"/>
                  </a:cubicBezTo>
                  <a:cubicBezTo>
                    <a:pt x="926592" y="719201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8B5CF6">
                <a:alpha val="8627"/>
              </a:srgbClr>
            </a:solidFill>
          </p:spPr>
        </p:sp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967232" cy="967232"/>
            </a:xfrm>
            <a:custGeom>
              <a:avLst/>
              <a:gdLst/>
              <a:ahLst/>
              <a:cxnLst/>
              <a:rect r="r" b="b" t="t" l="l"/>
              <a:pathLst>
                <a:path h="967232" w="967232">
                  <a:moveTo>
                    <a:pt x="0" y="483616"/>
                  </a:moveTo>
                  <a:cubicBezTo>
                    <a:pt x="0" y="216535"/>
                    <a:pt x="216535" y="0"/>
                    <a:pt x="483616" y="0"/>
                  </a:cubicBezTo>
                  <a:cubicBezTo>
                    <a:pt x="750697" y="0"/>
                    <a:pt x="967232" y="216535"/>
                    <a:pt x="967232" y="483616"/>
                  </a:cubicBezTo>
                  <a:lnTo>
                    <a:pt x="946912" y="483616"/>
                  </a:lnTo>
                  <a:lnTo>
                    <a:pt x="967232" y="483616"/>
                  </a:lnTo>
                  <a:cubicBezTo>
                    <a:pt x="967232" y="750697"/>
                    <a:pt x="750697" y="967232"/>
                    <a:pt x="483616" y="967232"/>
                  </a:cubicBezTo>
                  <a:lnTo>
                    <a:pt x="483616" y="946912"/>
                  </a:lnTo>
                  <a:lnTo>
                    <a:pt x="483616" y="967232"/>
                  </a:lnTo>
                  <a:cubicBezTo>
                    <a:pt x="216535" y="967232"/>
                    <a:pt x="0" y="750697"/>
                    <a:pt x="0" y="483616"/>
                  </a:cubicBezTo>
                  <a:lnTo>
                    <a:pt x="20320" y="483616"/>
                  </a:lnTo>
                  <a:lnTo>
                    <a:pt x="40640" y="483616"/>
                  </a:lnTo>
                  <a:lnTo>
                    <a:pt x="20320" y="483616"/>
                  </a:lnTo>
                  <a:lnTo>
                    <a:pt x="0" y="483616"/>
                  </a:lnTo>
                  <a:moveTo>
                    <a:pt x="40640" y="483616"/>
                  </a:moveTo>
                  <a:cubicBezTo>
                    <a:pt x="40640" y="494792"/>
                    <a:pt x="31496" y="503936"/>
                    <a:pt x="20320" y="503936"/>
                  </a:cubicBezTo>
                  <a:cubicBezTo>
                    <a:pt x="9144" y="503936"/>
                    <a:pt x="0" y="494792"/>
                    <a:pt x="0" y="483616"/>
                  </a:cubicBezTo>
                  <a:cubicBezTo>
                    <a:pt x="0" y="472440"/>
                    <a:pt x="9144" y="463296"/>
                    <a:pt x="20320" y="463296"/>
                  </a:cubicBezTo>
                  <a:cubicBezTo>
                    <a:pt x="31496" y="463296"/>
                    <a:pt x="40640" y="472440"/>
                    <a:pt x="40640" y="483616"/>
                  </a:cubicBezTo>
                  <a:cubicBezTo>
                    <a:pt x="40640" y="728218"/>
                    <a:pt x="239014" y="926592"/>
                    <a:pt x="483616" y="926592"/>
                  </a:cubicBezTo>
                  <a:cubicBezTo>
                    <a:pt x="728218" y="926592"/>
                    <a:pt x="926592" y="728218"/>
                    <a:pt x="926592" y="483616"/>
                  </a:cubicBezTo>
                  <a:cubicBezTo>
                    <a:pt x="926592" y="239014"/>
                    <a:pt x="728218" y="40640"/>
                    <a:pt x="483616" y="40640"/>
                  </a:cubicBezTo>
                  <a:lnTo>
                    <a:pt x="483616" y="20320"/>
                  </a:lnTo>
                  <a:lnTo>
                    <a:pt x="483616" y="40640"/>
                  </a:lnTo>
                  <a:cubicBezTo>
                    <a:pt x="239014" y="40640"/>
                    <a:pt x="40640" y="239014"/>
                    <a:pt x="40640" y="483616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197" id="197"/>
          <p:cNvGrpSpPr/>
          <p:nvPr/>
        </p:nvGrpSpPr>
        <p:grpSpPr>
          <a:xfrm rot="0">
            <a:off x="9985248" y="6565392"/>
            <a:ext cx="694944" cy="694944"/>
            <a:chOff x="0" y="0"/>
            <a:chExt cx="926592" cy="926592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-38100"/>
              <a:ext cx="926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8B5C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10863072" y="6510528"/>
            <a:ext cx="6803136" cy="438912"/>
            <a:chOff x="0" y="0"/>
            <a:chExt cx="9070848" cy="58521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9070848" cy="585216"/>
            </a:xfrm>
            <a:custGeom>
              <a:avLst/>
              <a:gdLst/>
              <a:ahLst/>
              <a:cxnLst/>
              <a:rect r="r" b="b" t="t" l="l"/>
              <a:pathLst>
                <a:path h="585216" w="9070848">
                  <a:moveTo>
                    <a:pt x="0" y="0"/>
                  </a:moveTo>
                  <a:lnTo>
                    <a:pt x="9070848" y="0"/>
                  </a:lnTo>
                  <a:lnTo>
                    <a:pt x="907084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018" r="0" b="-252018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-47625"/>
              <a:ext cx="9070848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8B5C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Detailed Benchmark</a:t>
              </a:r>
            </a:p>
          </p:txBody>
        </p:sp>
      </p:grpSp>
      <p:grpSp>
        <p:nvGrpSpPr>
          <p:cNvPr name="Group 203" id="203"/>
          <p:cNvGrpSpPr/>
          <p:nvPr/>
        </p:nvGrpSpPr>
        <p:grpSpPr>
          <a:xfrm rot="0">
            <a:off x="10863072" y="6949440"/>
            <a:ext cx="6803136" cy="365760"/>
            <a:chOff x="0" y="0"/>
            <a:chExt cx="9070848" cy="487680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0" y="0"/>
              <a:ext cx="9070848" cy="487680"/>
            </a:xfrm>
            <a:custGeom>
              <a:avLst/>
              <a:gdLst/>
              <a:ahLst/>
              <a:cxnLst/>
              <a:rect r="r" b="b" t="t" l="l"/>
              <a:pathLst>
                <a:path h="487680" w="9070848">
                  <a:moveTo>
                    <a:pt x="0" y="0"/>
                  </a:moveTo>
                  <a:lnTo>
                    <a:pt x="9070848" y="0"/>
                  </a:lnTo>
                  <a:lnTo>
                    <a:pt x="907084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2421" r="0" b="-312421"/>
              </a:stretch>
            </a:blipFill>
          </p:spPr>
        </p:sp>
        <p:sp>
          <p:nvSpPr>
            <p:cNvPr name="TextBox 205" id="205"/>
            <p:cNvSpPr txBox="true"/>
            <p:nvPr/>
          </p:nvSpPr>
          <p:spPr>
            <a:xfrm>
              <a:off x="0" y="-38100"/>
              <a:ext cx="9070848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CAE8F0"/>
                  </a:solidFill>
                  <a:latin typeface="Consolas"/>
                  <a:ea typeface="Consolas"/>
                  <a:cs typeface="Consolas"/>
                  <a:sym typeface="Consolas"/>
                </a:rPr>
                <a:t>python integration/benchmark_detailed.py  (22-pt sweep)</a:t>
              </a:r>
            </a:p>
          </p:txBody>
        </p:sp>
      </p:grpSp>
      <p:grpSp>
        <p:nvGrpSpPr>
          <p:cNvPr name="Group 206" id="206"/>
          <p:cNvGrpSpPr/>
          <p:nvPr/>
        </p:nvGrpSpPr>
        <p:grpSpPr>
          <a:xfrm rot="0">
            <a:off x="9862823" y="7521959"/>
            <a:ext cx="7925819" cy="1012955"/>
            <a:chOff x="0" y="0"/>
            <a:chExt cx="10567759" cy="1350607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16891" y="16891"/>
              <a:ext cx="10533888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533888">
                  <a:moveTo>
                    <a:pt x="0" y="0"/>
                  </a:moveTo>
                  <a:lnTo>
                    <a:pt x="10533888" y="0"/>
                  </a:lnTo>
                  <a:lnTo>
                    <a:pt x="10533888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208" id="208"/>
            <p:cNvSpPr/>
            <p:nvPr/>
          </p:nvSpPr>
          <p:spPr>
            <a:xfrm flipH="false" flipV="false" rot="0">
              <a:off x="0" y="0"/>
              <a:ext cx="10567670" cy="1350518"/>
            </a:xfrm>
            <a:custGeom>
              <a:avLst/>
              <a:gdLst/>
              <a:ahLst/>
              <a:cxnLst/>
              <a:rect r="r" b="b" t="t" l="l"/>
              <a:pathLst>
                <a:path h="1350518" w="10567670">
                  <a:moveTo>
                    <a:pt x="16891" y="0"/>
                  </a:moveTo>
                  <a:lnTo>
                    <a:pt x="10550779" y="0"/>
                  </a:lnTo>
                  <a:cubicBezTo>
                    <a:pt x="10560177" y="0"/>
                    <a:pt x="10567670" y="7620"/>
                    <a:pt x="10567670" y="16891"/>
                  </a:cubicBezTo>
                  <a:lnTo>
                    <a:pt x="10567670" y="1333627"/>
                  </a:lnTo>
                  <a:cubicBezTo>
                    <a:pt x="10567670" y="1343025"/>
                    <a:pt x="10560050" y="1350518"/>
                    <a:pt x="10550779" y="1350518"/>
                  </a:cubicBezTo>
                  <a:lnTo>
                    <a:pt x="16891" y="1350518"/>
                  </a:lnTo>
                  <a:cubicBezTo>
                    <a:pt x="7493" y="1350518"/>
                    <a:pt x="0" y="1342898"/>
                    <a:pt x="0" y="13336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33627"/>
                  </a:lnTo>
                  <a:lnTo>
                    <a:pt x="16891" y="1333627"/>
                  </a:lnTo>
                  <a:lnTo>
                    <a:pt x="16891" y="1316736"/>
                  </a:lnTo>
                  <a:lnTo>
                    <a:pt x="10550779" y="1316736"/>
                  </a:lnTo>
                  <a:lnTo>
                    <a:pt x="10550779" y="1333627"/>
                  </a:lnTo>
                  <a:lnTo>
                    <a:pt x="10533888" y="1333627"/>
                  </a:lnTo>
                  <a:lnTo>
                    <a:pt x="10533888" y="16891"/>
                  </a:lnTo>
                  <a:lnTo>
                    <a:pt x="10550779" y="16891"/>
                  </a:lnTo>
                  <a:lnTo>
                    <a:pt x="105507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209" id="209"/>
          <p:cNvGrpSpPr/>
          <p:nvPr/>
        </p:nvGrpSpPr>
        <p:grpSpPr>
          <a:xfrm rot="0">
            <a:off x="9970008" y="7647432"/>
            <a:ext cx="725424" cy="725424"/>
            <a:chOff x="0" y="0"/>
            <a:chExt cx="967232" cy="967232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20320" y="2032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391"/>
                    <a:pt x="926592" y="463296"/>
                  </a:cubicBezTo>
                  <a:cubicBezTo>
                    <a:pt x="926592" y="719201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2DD4BF">
                <a:alpha val="8627"/>
              </a:srgbClr>
            </a:solidFill>
          </p:spPr>
        </p:sp>
        <p:sp>
          <p:nvSpPr>
            <p:cNvPr name="Freeform 211" id="211"/>
            <p:cNvSpPr/>
            <p:nvPr/>
          </p:nvSpPr>
          <p:spPr>
            <a:xfrm flipH="false" flipV="false" rot="0">
              <a:off x="0" y="0"/>
              <a:ext cx="967232" cy="967232"/>
            </a:xfrm>
            <a:custGeom>
              <a:avLst/>
              <a:gdLst/>
              <a:ahLst/>
              <a:cxnLst/>
              <a:rect r="r" b="b" t="t" l="l"/>
              <a:pathLst>
                <a:path h="967232" w="967232">
                  <a:moveTo>
                    <a:pt x="0" y="483616"/>
                  </a:moveTo>
                  <a:cubicBezTo>
                    <a:pt x="0" y="216535"/>
                    <a:pt x="216535" y="0"/>
                    <a:pt x="483616" y="0"/>
                  </a:cubicBezTo>
                  <a:cubicBezTo>
                    <a:pt x="750697" y="0"/>
                    <a:pt x="967232" y="216535"/>
                    <a:pt x="967232" y="483616"/>
                  </a:cubicBezTo>
                  <a:lnTo>
                    <a:pt x="946912" y="483616"/>
                  </a:lnTo>
                  <a:lnTo>
                    <a:pt x="967232" y="483616"/>
                  </a:lnTo>
                  <a:cubicBezTo>
                    <a:pt x="967232" y="750697"/>
                    <a:pt x="750697" y="967232"/>
                    <a:pt x="483616" y="967232"/>
                  </a:cubicBezTo>
                  <a:lnTo>
                    <a:pt x="483616" y="946912"/>
                  </a:lnTo>
                  <a:lnTo>
                    <a:pt x="483616" y="967232"/>
                  </a:lnTo>
                  <a:cubicBezTo>
                    <a:pt x="216535" y="967232"/>
                    <a:pt x="0" y="750697"/>
                    <a:pt x="0" y="483616"/>
                  </a:cubicBezTo>
                  <a:lnTo>
                    <a:pt x="20320" y="483616"/>
                  </a:lnTo>
                  <a:lnTo>
                    <a:pt x="40640" y="483616"/>
                  </a:lnTo>
                  <a:lnTo>
                    <a:pt x="20320" y="483616"/>
                  </a:lnTo>
                  <a:lnTo>
                    <a:pt x="0" y="483616"/>
                  </a:lnTo>
                  <a:moveTo>
                    <a:pt x="40640" y="483616"/>
                  </a:moveTo>
                  <a:cubicBezTo>
                    <a:pt x="40640" y="494792"/>
                    <a:pt x="31496" y="503936"/>
                    <a:pt x="20320" y="503936"/>
                  </a:cubicBezTo>
                  <a:cubicBezTo>
                    <a:pt x="9144" y="503936"/>
                    <a:pt x="0" y="494792"/>
                    <a:pt x="0" y="483616"/>
                  </a:cubicBezTo>
                  <a:cubicBezTo>
                    <a:pt x="0" y="472440"/>
                    <a:pt x="9144" y="463296"/>
                    <a:pt x="20320" y="463296"/>
                  </a:cubicBezTo>
                  <a:cubicBezTo>
                    <a:pt x="31496" y="463296"/>
                    <a:pt x="40640" y="472440"/>
                    <a:pt x="40640" y="483616"/>
                  </a:cubicBezTo>
                  <a:cubicBezTo>
                    <a:pt x="40640" y="728218"/>
                    <a:pt x="239014" y="926592"/>
                    <a:pt x="483616" y="926592"/>
                  </a:cubicBezTo>
                  <a:cubicBezTo>
                    <a:pt x="728218" y="926592"/>
                    <a:pt x="926592" y="728218"/>
                    <a:pt x="926592" y="483616"/>
                  </a:cubicBezTo>
                  <a:cubicBezTo>
                    <a:pt x="926592" y="239014"/>
                    <a:pt x="728218" y="40640"/>
                    <a:pt x="483616" y="40640"/>
                  </a:cubicBezTo>
                  <a:lnTo>
                    <a:pt x="483616" y="20320"/>
                  </a:lnTo>
                  <a:lnTo>
                    <a:pt x="483616" y="40640"/>
                  </a:lnTo>
                  <a:cubicBezTo>
                    <a:pt x="239014" y="40640"/>
                    <a:pt x="40640" y="239014"/>
                    <a:pt x="40640" y="483616"/>
                  </a:cubicBez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212" id="212"/>
          <p:cNvGrpSpPr/>
          <p:nvPr/>
        </p:nvGrpSpPr>
        <p:grpSpPr>
          <a:xfrm rot="0">
            <a:off x="9985248" y="7662672"/>
            <a:ext cx="694944" cy="694944"/>
            <a:chOff x="0" y="0"/>
            <a:chExt cx="926592" cy="926592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-38100"/>
              <a:ext cx="926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2DD4B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</a:t>
              </a:r>
            </a:p>
          </p:txBody>
        </p:sp>
      </p:grpSp>
      <p:grpSp>
        <p:nvGrpSpPr>
          <p:cNvPr name="Group 215" id="215"/>
          <p:cNvGrpSpPr/>
          <p:nvPr/>
        </p:nvGrpSpPr>
        <p:grpSpPr>
          <a:xfrm rot="0">
            <a:off x="10863072" y="7607808"/>
            <a:ext cx="6803136" cy="438912"/>
            <a:chOff x="0" y="0"/>
            <a:chExt cx="9070848" cy="585216"/>
          </a:xfrm>
        </p:grpSpPr>
        <p:sp>
          <p:nvSpPr>
            <p:cNvPr name="Freeform 216" id="216"/>
            <p:cNvSpPr/>
            <p:nvPr/>
          </p:nvSpPr>
          <p:spPr>
            <a:xfrm flipH="false" flipV="false" rot="0">
              <a:off x="0" y="0"/>
              <a:ext cx="9070848" cy="585216"/>
            </a:xfrm>
            <a:custGeom>
              <a:avLst/>
              <a:gdLst/>
              <a:ahLst/>
              <a:cxnLst/>
              <a:rect r="r" b="b" t="t" l="l"/>
              <a:pathLst>
                <a:path h="585216" w="9070848">
                  <a:moveTo>
                    <a:pt x="0" y="0"/>
                  </a:moveTo>
                  <a:lnTo>
                    <a:pt x="9070848" y="0"/>
                  </a:lnTo>
                  <a:lnTo>
                    <a:pt x="907084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018" r="0" b="-252018"/>
              </a:stretch>
            </a:blipFill>
          </p:spPr>
        </p:sp>
        <p:sp>
          <p:nvSpPr>
            <p:cNvPr name="TextBox 217" id="217"/>
            <p:cNvSpPr txBox="true"/>
            <p:nvPr/>
          </p:nvSpPr>
          <p:spPr>
            <a:xfrm>
              <a:off x="0" y="-47625"/>
              <a:ext cx="9070848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2DD4B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Render Trees</a:t>
              </a:r>
            </a:p>
          </p:txBody>
        </p:sp>
      </p:grpSp>
      <p:grpSp>
        <p:nvGrpSpPr>
          <p:cNvPr name="Group 218" id="218"/>
          <p:cNvGrpSpPr/>
          <p:nvPr/>
        </p:nvGrpSpPr>
        <p:grpSpPr>
          <a:xfrm rot="0">
            <a:off x="10863072" y="8046720"/>
            <a:ext cx="6803136" cy="365760"/>
            <a:chOff x="0" y="0"/>
            <a:chExt cx="9070848" cy="487680"/>
          </a:xfrm>
        </p:grpSpPr>
        <p:sp>
          <p:nvSpPr>
            <p:cNvPr name="Freeform 219" id="219"/>
            <p:cNvSpPr/>
            <p:nvPr/>
          </p:nvSpPr>
          <p:spPr>
            <a:xfrm flipH="false" flipV="false" rot="0">
              <a:off x="0" y="0"/>
              <a:ext cx="9070848" cy="487680"/>
            </a:xfrm>
            <a:custGeom>
              <a:avLst/>
              <a:gdLst/>
              <a:ahLst/>
              <a:cxnLst/>
              <a:rect r="r" b="b" t="t" l="l"/>
              <a:pathLst>
                <a:path h="487680" w="9070848">
                  <a:moveTo>
                    <a:pt x="0" y="0"/>
                  </a:moveTo>
                  <a:lnTo>
                    <a:pt x="9070848" y="0"/>
                  </a:lnTo>
                  <a:lnTo>
                    <a:pt x="907084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2421" r="0" b="-312421"/>
              </a:stretch>
            </a:blipFill>
          </p:spPr>
        </p:sp>
        <p:sp>
          <p:nvSpPr>
            <p:cNvPr name="TextBox 220" id="220"/>
            <p:cNvSpPr txBox="true"/>
            <p:nvPr/>
          </p:nvSpPr>
          <p:spPr>
            <a:xfrm>
              <a:off x="0" y="-38100"/>
              <a:ext cx="9070848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CAE8F0"/>
                  </a:solidFill>
                  <a:latin typeface="Consolas"/>
                  <a:ea typeface="Consolas"/>
                  <a:cs typeface="Consolas"/>
                  <a:sym typeface="Consolas"/>
                </a:rPr>
                <a:t>python integration/render_bptree_v2.py  →  19 tree PNGs</a:t>
              </a:r>
            </a:p>
          </p:txBody>
        </p:sp>
      </p:grpSp>
      <p:grpSp>
        <p:nvGrpSpPr>
          <p:cNvPr name="Group 221" id="221"/>
          <p:cNvGrpSpPr/>
          <p:nvPr/>
        </p:nvGrpSpPr>
        <p:grpSpPr>
          <a:xfrm rot="0">
            <a:off x="9862823" y="8619239"/>
            <a:ext cx="7925819" cy="1012955"/>
            <a:chOff x="0" y="0"/>
            <a:chExt cx="10567759" cy="1350607"/>
          </a:xfrm>
        </p:grpSpPr>
        <p:sp>
          <p:nvSpPr>
            <p:cNvPr name="Freeform 222" id="222"/>
            <p:cNvSpPr/>
            <p:nvPr/>
          </p:nvSpPr>
          <p:spPr>
            <a:xfrm flipH="false" flipV="false" rot="0">
              <a:off x="16891" y="16891"/>
              <a:ext cx="10533888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533888">
                  <a:moveTo>
                    <a:pt x="0" y="0"/>
                  </a:moveTo>
                  <a:lnTo>
                    <a:pt x="10533888" y="0"/>
                  </a:lnTo>
                  <a:lnTo>
                    <a:pt x="10533888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223" id="223"/>
            <p:cNvSpPr/>
            <p:nvPr/>
          </p:nvSpPr>
          <p:spPr>
            <a:xfrm flipH="false" flipV="false" rot="0">
              <a:off x="0" y="0"/>
              <a:ext cx="10567670" cy="1350518"/>
            </a:xfrm>
            <a:custGeom>
              <a:avLst/>
              <a:gdLst/>
              <a:ahLst/>
              <a:cxnLst/>
              <a:rect r="r" b="b" t="t" l="l"/>
              <a:pathLst>
                <a:path h="1350518" w="10567670">
                  <a:moveTo>
                    <a:pt x="16891" y="0"/>
                  </a:moveTo>
                  <a:lnTo>
                    <a:pt x="10550779" y="0"/>
                  </a:lnTo>
                  <a:cubicBezTo>
                    <a:pt x="10560177" y="0"/>
                    <a:pt x="10567670" y="7620"/>
                    <a:pt x="10567670" y="16891"/>
                  </a:cubicBezTo>
                  <a:lnTo>
                    <a:pt x="10567670" y="1333627"/>
                  </a:lnTo>
                  <a:cubicBezTo>
                    <a:pt x="10567670" y="1343025"/>
                    <a:pt x="10560050" y="1350518"/>
                    <a:pt x="10550779" y="1350518"/>
                  </a:cubicBezTo>
                  <a:lnTo>
                    <a:pt x="16891" y="1350518"/>
                  </a:lnTo>
                  <a:cubicBezTo>
                    <a:pt x="7493" y="1350518"/>
                    <a:pt x="0" y="1342898"/>
                    <a:pt x="0" y="13336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33627"/>
                  </a:lnTo>
                  <a:lnTo>
                    <a:pt x="16891" y="1333627"/>
                  </a:lnTo>
                  <a:lnTo>
                    <a:pt x="16891" y="1316736"/>
                  </a:lnTo>
                  <a:lnTo>
                    <a:pt x="10550779" y="1316736"/>
                  </a:lnTo>
                  <a:lnTo>
                    <a:pt x="10550779" y="1333627"/>
                  </a:lnTo>
                  <a:lnTo>
                    <a:pt x="10533888" y="1333627"/>
                  </a:lnTo>
                  <a:lnTo>
                    <a:pt x="10533888" y="16891"/>
                  </a:lnTo>
                  <a:lnTo>
                    <a:pt x="10550779" y="16891"/>
                  </a:lnTo>
                  <a:lnTo>
                    <a:pt x="105507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224" id="224"/>
          <p:cNvGrpSpPr/>
          <p:nvPr/>
        </p:nvGrpSpPr>
        <p:grpSpPr>
          <a:xfrm rot="0">
            <a:off x="9970008" y="8744712"/>
            <a:ext cx="725424" cy="725424"/>
            <a:chOff x="0" y="0"/>
            <a:chExt cx="967232" cy="967232"/>
          </a:xfrm>
        </p:grpSpPr>
        <p:sp>
          <p:nvSpPr>
            <p:cNvPr name="Freeform 225" id="225"/>
            <p:cNvSpPr/>
            <p:nvPr/>
          </p:nvSpPr>
          <p:spPr>
            <a:xfrm flipH="false" flipV="false" rot="0">
              <a:off x="20320" y="2032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391"/>
                    <a:pt x="926592" y="463296"/>
                  </a:cubicBezTo>
                  <a:cubicBezTo>
                    <a:pt x="926592" y="719201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22C55E">
                <a:alpha val="8627"/>
              </a:srgbClr>
            </a:solidFill>
          </p:spPr>
        </p:sp>
        <p:sp>
          <p:nvSpPr>
            <p:cNvPr name="Freeform 226" id="226"/>
            <p:cNvSpPr/>
            <p:nvPr/>
          </p:nvSpPr>
          <p:spPr>
            <a:xfrm flipH="false" flipV="false" rot="0">
              <a:off x="0" y="0"/>
              <a:ext cx="967232" cy="967232"/>
            </a:xfrm>
            <a:custGeom>
              <a:avLst/>
              <a:gdLst/>
              <a:ahLst/>
              <a:cxnLst/>
              <a:rect r="r" b="b" t="t" l="l"/>
              <a:pathLst>
                <a:path h="967232" w="967232">
                  <a:moveTo>
                    <a:pt x="0" y="483616"/>
                  </a:moveTo>
                  <a:cubicBezTo>
                    <a:pt x="0" y="216535"/>
                    <a:pt x="216535" y="0"/>
                    <a:pt x="483616" y="0"/>
                  </a:cubicBezTo>
                  <a:cubicBezTo>
                    <a:pt x="750697" y="0"/>
                    <a:pt x="967232" y="216535"/>
                    <a:pt x="967232" y="483616"/>
                  </a:cubicBezTo>
                  <a:lnTo>
                    <a:pt x="946912" y="483616"/>
                  </a:lnTo>
                  <a:lnTo>
                    <a:pt x="967232" y="483616"/>
                  </a:lnTo>
                  <a:cubicBezTo>
                    <a:pt x="967232" y="750697"/>
                    <a:pt x="750697" y="967232"/>
                    <a:pt x="483616" y="967232"/>
                  </a:cubicBezTo>
                  <a:lnTo>
                    <a:pt x="483616" y="946912"/>
                  </a:lnTo>
                  <a:lnTo>
                    <a:pt x="483616" y="967232"/>
                  </a:lnTo>
                  <a:cubicBezTo>
                    <a:pt x="216535" y="967232"/>
                    <a:pt x="0" y="750697"/>
                    <a:pt x="0" y="483616"/>
                  </a:cubicBezTo>
                  <a:lnTo>
                    <a:pt x="20320" y="483616"/>
                  </a:lnTo>
                  <a:lnTo>
                    <a:pt x="40640" y="483616"/>
                  </a:lnTo>
                  <a:lnTo>
                    <a:pt x="20320" y="483616"/>
                  </a:lnTo>
                  <a:lnTo>
                    <a:pt x="0" y="483616"/>
                  </a:lnTo>
                  <a:moveTo>
                    <a:pt x="40640" y="483616"/>
                  </a:moveTo>
                  <a:cubicBezTo>
                    <a:pt x="40640" y="494792"/>
                    <a:pt x="31496" y="503936"/>
                    <a:pt x="20320" y="503936"/>
                  </a:cubicBezTo>
                  <a:cubicBezTo>
                    <a:pt x="9144" y="503936"/>
                    <a:pt x="0" y="494792"/>
                    <a:pt x="0" y="483616"/>
                  </a:cubicBezTo>
                  <a:cubicBezTo>
                    <a:pt x="0" y="472440"/>
                    <a:pt x="9144" y="463296"/>
                    <a:pt x="20320" y="463296"/>
                  </a:cubicBezTo>
                  <a:cubicBezTo>
                    <a:pt x="31496" y="463296"/>
                    <a:pt x="40640" y="472440"/>
                    <a:pt x="40640" y="483616"/>
                  </a:cubicBezTo>
                  <a:cubicBezTo>
                    <a:pt x="40640" y="728218"/>
                    <a:pt x="239014" y="926592"/>
                    <a:pt x="483616" y="926592"/>
                  </a:cubicBezTo>
                  <a:cubicBezTo>
                    <a:pt x="728218" y="926592"/>
                    <a:pt x="926592" y="728218"/>
                    <a:pt x="926592" y="483616"/>
                  </a:cubicBezTo>
                  <a:cubicBezTo>
                    <a:pt x="926592" y="239014"/>
                    <a:pt x="728218" y="40640"/>
                    <a:pt x="483616" y="40640"/>
                  </a:cubicBezTo>
                  <a:lnTo>
                    <a:pt x="483616" y="20320"/>
                  </a:lnTo>
                  <a:lnTo>
                    <a:pt x="483616" y="40640"/>
                  </a:lnTo>
                  <a:cubicBezTo>
                    <a:pt x="239014" y="40640"/>
                    <a:pt x="40640" y="239014"/>
                    <a:pt x="40640" y="483616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227" id="227"/>
          <p:cNvGrpSpPr/>
          <p:nvPr/>
        </p:nvGrpSpPr>
        <p:grpSpPr>
          <a:xfrm rot="0">
            <a:off x="9985248" y="8759952"/>
            <a:ext cx="694944" cy="694944"/>
            <a:chOff x="0" y="0"/>
            <a:chExt cx="926592" cy="926592"/>
          </a:xfrm>
        </p:grpSpPr>
        <p:sp>
          <p:nvSpPr>
            <p:cNvPr name="Freeform 228" id="228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9" id="229"/>
            <p:cNvSpPr txBox="true"/>
            <p:nvPr/>
          </p:nvSpPr>
          <p:spPr>
            <a:xfrm>
              <a:off x="0" y="-38100"/>
              <a:ext cx="926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</a:t>
              </a:r>
            </a:p>
          </p:txBody>
        </p:sp>
      </p:grpSp>
      <p:grpSp>
        <p:nvGrpSpPr>
          <p:cNvPr name="Group 230" id="230"/>
          <p:cNvGrpSpPr/>
          <p:nvPr/>
        </p:nvGrpSpPr>
        <p:grpSpPr>
          <a:xfrm rot="0">
            <a:off x="10863072" y="8705088"/>
            <a:ext cx="6803136" cy="438912"/>
            <a:chOff x="0" y="0"/>
            <a:chExt cx="9070848" cy="585216"/>
          </a:xfrm>
        </p:grpSpPr>
        <p:sp>
          <p:nvSpPr>
            <p:cNvPr name="Freeform 231" id="231"/>
            <p:cNvSpPr/>
            <p:nvPr/>
          </p:nvSpPr>
          <p:spPr>
            <a:xfrm flipH="false" flipV="false" rot="0">
              <a:off x="0" y="0"/>
              <a:ext cx="9070848" cy="585216"/>
            </a:xfrm>
            <a:custGeom>
              <a:avLst/>
              <a:gdLst/>
              <a:ahLst/>
              <a:cxnLst/>
              <a:rect r="r" b="b" t="t" l="l"/>
              <a:pathLst>
                <a:path h="585216" w="9070848">
                  <a:moveTo>
                    <a:pt x="0" y="0"/>
                  </a:moveTo>
                  <a:lnTo>
                    <a:pt x="9070848" y="0"/>
                  </a:lnTo>
                  <a:lnTo>
                    <a:pt x="907084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018" r="0" b="-252018"/>
              </a:stretch>
            </a:blipFill>
          </p:spPr>
        </p:sp>
        <p:sp>
          <p:nvSpPr>
            <p:cNvPr name="TextBox 232" id="232"/>
            <p:cNvSpPr txBox="true"/>
            <p:nvPr/>
          </p:nvSpPr>
          <p:spPr>
            <a:xfrm>
              <a:off x="0" y="-47625"/>
              <a:ext cx="9070848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View Evidence</a:t>
              </a:r>
            </a:p>
          </p:txBody>
        </p:sp>
      </p:grpSp>
      <p:grpSp>
        <p:nvGrpSpPr>
          <p:cNvPr name="Group 233" id="233"/>
          <p:cNvGrpSpPr/>
          <p:nvPr/>
        </p:nvGrpSpPr>
        <p:grpSpPr>
          <a:xfrm rot="0">
            <a:off x="10863072" y="9144000"/>
            <a:ext cx="6803136" cy="365760"/>
            <a:chOff x="0" y="0"/>
            <a:chExt cx="9070848" cy="487680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9070848" cy="487680"/>
            </a:xfrm>
            <a:custGeom>
              <a:avLst/>
              <a:gdLst/>
              <a:ahLst/>
              <a:cxnLst/>
              <a:rect r="r" b="b" t="t" l="l"/>
              <a:pathLst>
                <a:path h="487680" w="9070848">
                  <a:moveTo>
                    <a:pt x="0" y="0"/>
                  </a:moveTo>
                  <a:lnTo>
                    <a:pt x="9070848" y="0"/>
                  </a:lnTo>
                  <a:lnTo>
                    <a:pt x="907084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2421" r="0" b="-312421"/>
              </a:stretch>
            </a:blipFill>
          </p:spPr>
        </p:sp>
        <p:sp>
          <p:nvSpPr>
            <p:cNvPr name="TextBox 235" id="235"/>
            <p:cNvSpPr txBox="true"/>
            <p:nvPr/>
          </p:nvSpPr>
          <p:spPr>
            <a:xfrm>
              <a:off x="0" y="-38100"/>
              <a:ext cx="9070848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AE8F0"/>
                  </a:solidFill>
                  <a:latin typeface="Consolas"/>
                  <a:ea typeface="Consolas"/>
                  <a:cs typeface="Consolas"/>
                  <a:sym typeface="Consolas"/>
                </a:rPr>
                <a:t>evidence/  ·  integration/bptree_v2/  ·  report.ipynb</a:t>
              </a:r>
            </a:p>
          </p:txBody>
        </p:sp>
      </p:grpSp>
      <p:grpSp>
        <p:nvGrpSpPr>
          <p:cNvPr name="Group 236" id="236"/>
          <p:cNvGrpSpPr/>
          <p:nvPr/>
        </p:nvGrpSpPr>
        <p:grpSpPr>
          <a:xfrm rot="0">
            <a:off x="512064" y="9838944"/>
            <a:ext cx="17263872" cy="402336"/>
            <a:chOff x="0" y="0"/>
            <a:chExt cx="23018496" cy="536448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23018496" cy="536448"/>
            </a:xfrm>
            <a:custGeom>
              <a:avLst/>
              <a:gdLst/>
              <a:ahLst/>
              <a:cxnLst/>
              <a:rect r="r" b="b" t="t" l="l"/>
              <a:pathLst>
                <a:path h="536448" w="23018496">
                  <a:moveTo>
                    <a:pt x="0" y="0"/>
                  </a:moveTo>
                  <a:lnTo>
                    <a:pt x="23018496" y="0"/>
                  </a:lnTo>
                  <a:lnTo>
                    <a:pt x="23018496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6085" r="0" b="-786085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-47625"/>
              <a:ext cx="23018496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i="true">
                  <a:solidFill>
                    <a:srgbClr val="F59E0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Demo videos: Module A → youtu.be/T24vXjLI5dI   |   Module B → youtu.be/FzY8OeX4d5E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8283"/>
            <a:chOff x="0" y="0"/>
            <a:chExt cx="24417871" cy="2777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2DD4B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7624"/>
            </a:xfrm>
            <a:custGeom>
              <a:avLst/>
              <a:gdLst/>
              <a:ahLst/>
              <a:cxnLst/>
              <a:rect r="r" b="b" t="t" l="l"/>
              <a:pathLst>
                <a:path h="27762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0731"/>
                  </a:lnTo>
                  <a:cubicBezTo>
                    <a:pt x="24417782" y="270129"/>
                    <a:pt x="24410163" y="277622"/>
                    <a:pt x="2440089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4400890" y="243840"/>
                  </a:lnTo>
                  <a:lnTo>
                    <a:pt x="24400890" y="260731"/>
                  </a:lnTo>
                  <a:lnTo>
                    <a:pt x="24384000" y="2607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2064" y="274320"/>
            <a:ext cx="17373600" cy="914400"/>
            <a:chOff x="0" y="0"/>
            <a:chExt cx="2316480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64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31648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Outputs Produced — Comprehensive Evidence Package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99367" y="1413767"/>
            <a:ext cx="8346443" cy="4231643"/>
            <a:chOff x="0" y="0"/>
            <a:chExt cx="11128591" cy="56421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1094720" cy="5608320"/>
            </a:xfrm>
            <a:custGeom>
              <a:avLst/>
              <a:gdLst/>
              <a:ahLst/>
              <a:cxnLst/>
              <a:rect r="r" b="b" t="t" l="l"/>
              <a:pathLst>
                <a:path h="560832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5608320"/>
                  </a:lnTo>
                  <a:lnTo>
                    <a:pt x="0" y="560832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128501" cy="5642102"/>
            </a:xfrm>
            <a:custGeom>
              <a:avLst/>
              <a:gdLst/>
              <a:ahLst/>
              <a:cxnLst/>
              <a:rect r="r" b="b" t="t" l="l"/>
              <a:pathLst>
                <a:path h="564210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5625211"/>
                  </a:lnTo>
                  <a:cubicBezTo>
                    <a:pt x="11128501" y="5634609"/>
                    <a:pt x="11120882" y="5642102"/>
                    <a:pt x="11111611" y="5642102"/>
                  </a:cubicBezTo>
                  <a:lnTo>
                    <a:pt x="16891" y="5642102"/>
                  </a:lnTo>
                  <a:cubicBezTo>
                    <a:pt x="7493" y="5642102"/>
                    <a:pt x="0" y="5634482"/>
                    <a:pt x="0" y="5625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625211"/>
                  </a:lnTo>
                  <a:lnTo>
                    <a:pt x="16891" y="5625211"/>
                  </a:lnTo>
                  <a:lnTo>
                    <a:pt x="16891" y="5608320"/>
                  </a:lnTo>
                  <a:lnTo>
                    <a:pt x="11111611" y="5608320"/>
                  </a:lnTo>
                  <a:lnTo>
                    <a:pt x="11111611" y="5625211"/>
                  </a:lnTo>
                  <a:lnTo>
                    <a:pt x="11094720" y="562521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99367" y="1413767"/>
            <a:ext cx="8346443" cy="610619"/>
            <a:chOff x="0" y="0"/>
            <a:chExt cx="11128591" cy="8141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1094720" cy="780288"/>
            </a:xfrm>
            <a:custGeom>
              <a:avLst/>
              <a:gdLst/>
              <a:ahLst/>
              <a:cxnLst/>
              <a:rect r="r" b="b" t="t" l="l"/>
              <a:pathLst>
                <a:path h="780288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06B6C8">
                <a:alpha val="3137"/>
              </a:srgbClr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128501" cy="814072"/>
            </a:xfrm>
            <a:custGeom>
              <a:avLst/>
              <a:gdLst/>
              <a:ahLst/>
              <a:cxnLst/>
              <a:rect r="r" b="b" t="t" l="l"/>
              <a:pathLst>
                <a:path h="81407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797179"/>
                  </a:lnTo>
                  <a:cubicBezTo>
                    <a:pt x="11128501" y="806577"/>
                    <a:pt x="11120882" y="814070"/>
                    <a:pt x="1111161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11111611" y="780288"/>
                  </a:lnTo>
                  <a:lnTo>
                    <a:pt x="11111611" y="797179"/>
                  </a:lnTo>
                  <a:lnTo>
                    <a:pt x="11094720" y="797179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31520" y="1499616"/>
            <a:ext cx="7863840" cy="438912"/>
            <a:chOff x="0" y="0"/>
            <a:chExt cx="10485120" cy="5852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485120" cy="585216"/>
            </a:xfrm>
            <a:custGeom>
              <a:avLst/>
              <a:gdLst/>
              <a:ahLst/>
              <a:cxnLst/>
              <a:rect r="r" b="b" t="t" l="l"/>
              <a:pathLst>
                <a:path h="58521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9106" r="0" b="-29910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4851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A — Tree Artifacts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18823" y="2108711"/>
            <a:ext cx="7889243" cy="98555"/>
            <a:chOff x="0" y="0"/>
            <a:chExt cx="10518991" cy="13140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0485120" cy="97536"/>
            </a:xfrm>
            <a:custGeom>
              <a:avLst/>
              <a:gdLst/>
              <a:ahLst/>
              <a:cxnLst/>
              <a:rect r="r" b="b" t="t" l="l"/>
              <a:pathLst>
                <a:path h="9753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6B6C8">
                <a:alpha val="3922"/>
              </a:srgbClr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518901" cy="131320"/>
            </a:xfrm>
            <a:custGeom>
              <a:avLst/>
              <a:gdLst/>
              <a:ahLst/>
              <a:cxnLst/>
              <a:rect r="r" b="b" t="t" l="l"/>
              <a:pathLst>
                <a:path h="131320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4427"/>
                  </a:lnTo>
                  <a:cubicBezTo>
                    <a:pt x="10518901" y="123825"/>
                    <a:pt x="10511282" y="131318"/>
                    <a:pt x="1050201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0502011" y="97536"/>
                  </a:lnTo>
                  <a:lnTo>
                    <a:pt x="10502011" y="114427"/>
                  </a:lnTo>
                  <a:lnTo>
                    <a:pt x="10485120" y="114427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31520" y="2231136"/>
            <a:ext cx="3017520" cy="365760"/>
            <a:chOff x="0" y="0"/>
            <a:chExt cx="4023360" cy="4876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23360" cy="487680"/>
            </a:xfrm>
            <a:custGeom>
              <a:avLst/>
              <a:gdLst/>
              <a:ahLst/>
              <a:cxnLst/>
              <a:rect r="r" b="b" t="t" l="l"/>
              <a:pathLst>
                <a:path h="4876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402336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19 B+ Tree PNGs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767328" y="2231136"/>
            <a:ext cx="4864608" cy="658368"/>
            <a:chOff x="0" y="0"/>
            <a:chExt cx="6486144" cy="87782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486144" cy="877824"/>
            </a:xfrm>
            <a:custGeom>
              <a:avLst/>
              <a:gdLst/>
              <a:ahLst/>
              <a:cxnLst/>
              <a:rect r="r" b="b" t="t" l="l"/>
              <a:pathLst>
                <a:path h="877824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972" r="0" b="-9397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486144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One per BlindDrop index path, Graphviz-rendered with render_manifest.json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18823" y="2986535"/>
            <a:ext cx="7889243" cy="98555"/>
            <a:chOff x="0" y="0"/>
            <a:chExt cx="10518991" cy="13140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10485120" cy="97536"/>
            </a:xfrm>
            <a:custGeom>
              <a:avLst/>
              <a:gdLst/>
              <a:ahLst/>
              <a:cxnLst/>
              <a:rect r="r" b="b" t="t" l="l"/>
              <a:pathLst>
                <a:path h="9753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6B6C8">
                <a:alpha val="3922"/>
              </a:srgbClr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518901" cy="131320"/>
            </a:xfrm>
            <a:custGeom>
              <a:avLst/>
              <a:gdLst/>
              <a:ahLst/>
              <a:cxnLst/>
              <a:rect r="r" b="b" t="t" l="l"/>
              <a:pathLst>
                <a:path h="131320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4427"/>
                  </a:lnTo>
                  <a:cubicBezTo>
                    <a:pt x="10518901" y="123825"/>
                    <a:pt x="10511282" y="131318"/>
                    <a:pt x="1050201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0502011" y="97536"/>
                  </a:lnTo>
                  <a:lnTo>
                    <a:pt x="10502011" y="114427"/>
                  </a:lnTo>
                  <a:lnTo>
                    <a:pt x="10485120" y="114427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731520" y="3108960"/>
            <a:ext cx="3017520" cy="365760"/>
            <a:chOff x="0" y="0"/>
            <a:chExt cx="4023360" cy="4876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023360" cy="487680"/>
            </a:xfrm>
            <a:custGeom>
              <a:avLst/>
              <a:gdLst/>
              <a:ahLst/>
              <a:cxnLst/>
              <a:rect r="r" b="b" t="t" l="l"/>
              <a:pathLst>
                <a:path h="4876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402336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benchmark_detailed.json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3767328" y="3108960"/>
            <a:ext cx="4864608" cy="665169"/>
            <a:chOff x="0" y="0"/>
            <a:chExt cx="6486144" cy="88689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486144" cy="886892"/>
            </a:xfrm>
            <a:custGeom>
              <a:avLst/>
              <a:gdLst/>
              <a:ahLst/>
              <a:cxnLst/>
              <a:rect r="r" b="b" t="t" l="l"/>
              <a:pathLst>
                <a:path h="886892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886892"/>
                  </a:lnTo>
                  <a:lnTo>
                    <a:pt x="0" y="8868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012" r="0" b="-9198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6486144" cy="924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22-pt sweep: insert/search/delete/range/mixed workload, 2 runs each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18823" y="3864359"/>
            <a:ext cx="7889243" cy="98555"/>
            <a:chOff x="0" y="0"/>
            <a:chExt cx="10518991" cy="13140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0485120" cy="97536"/>
            </a:xfrm>
            <a:custGeom>
              <a:avLst/>
              <a:gdLst/>
              <a:ahLst/>
              <a:cxnLst/>
              <a:rect r="r" b="b" t="t" l="l"/>
              <a:pathLst>
                <a:path h="9753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6B6C8">
                <a:alpha val="3922"/>
              </a:srgbClr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518901" cy="131320"/>
            </a:xfrm>
            <a:custGeom>
              <a:avLst/>
              <a:gdLst/>
              <a:ahLst/>
              <a:cxnLst/>
              <a:rect r="r" b="b" t="t" l="l"/>
              <a:pathLst>
                <a:path h="131320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4427"/>
                  </a:lnTo>
                  <a:cubicBezTo>
                    <a:pt x="10518901" y="123825"/>
                    <a:pt x="10511282" y="131318"/>
                    <a:pt x="1050201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0502011" y="97536"/>
                  </a:lnTo>
                  <a:lnTo>
                    <a:pt x="10502011" y="114427"/>
                  </a:lnTo>
                  <a:lnTo>
                    <a:pt x="10485120" y="114427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731520" y="3986784"/>
            <a:ext cx="3017520" cy="732179"/>
            <a:chOff x="0" y="0"/>
            <a:chExt cx="4023360" cy="97623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023360" cy="976238"/>
            </a:xfrm>
            <a:custGeom>
              <a:avLst/>
              <a:gdLst/>
              <a:ahLst/>
              <a:cxnLst/>
              <a:rect r="r" b="b" t="t" l="l"/>
              <a:pathLst>
                <a:path h="97623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76238"/>
                  </a:lnTo>
                  <a:lnTo>
                    <a:pt x="0" y="9762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325" r="0" b="-528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4023360" cy="1023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benchmark_blinddrop_paths_summary.md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3767328" y="3986784"/>
            <a:ext cx="4864608" cy="658368"/>
            <a:chOff x="0" y="0"/>
            <a:chExt cx="6486144" cy="87782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486144" cy="877824"/>
            </a:xfrm>
            <a:custGeom>
              <a:avLst/>
              <a:gdLst/>
              <a:ahLst/>
              <a:cxnLst/>
              <a:rect r="r" b="b" t="t" l="l"/>
              <a:pathLst>
                <a:path h="877824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972" r="0" b="-9397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6486144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20-pt domain path summary table with per-path speedup figures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18823" y="4742183"/>
            <a:ext cx="7889243" cy="98555"/>
            <a:chOff x="0" y="0"/>
            <a:chExt cx="10518991" cy="13140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0485120" cy="97536"/>
            </a:xfrm>
            <a:custGeom>
              <a:avLst/>
              <a:gdLst/>
              <a:ahLst/>
              <a:cxnLst/>
              <a:rect r="r" b="b" t="t" l="l"/>
              <a:pathLst>
                <a:path h="9753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6B6C8">
                <a:alpha val="3922"/>
              </a:srgbClr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518901" cy="131320"/>
            </a:xfrm>
            <a:custGeom>
              <a:avLst/>
              <a:gdLst/>
              <a:ahLst/>
              <a:cxnLst/>
              <a:rect r="r" b="b" t="t" l="l"/>
              <a:pathLst>
                <a:path h="131320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4427"/>
                  </a:lnTo>
                  <a:cubicBezTo>
                    <a:pt x="10518901" y="123825"/>
                    <a:pt x="10511282" y="131318"/>
                    <a:pt x="1050201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0502011" y="97536"/>
                  </a:lnTo>
                  <a:lnTo>
                    <a:pt x="10502011" y="114427"/>
                  </a:lnTo>
                  <a:lnTo>
                    <a:pt x="10485120" y="114427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731520" y="4864608"/>
            <a:ext cx="3017520" cy="365760"/>
            <a:chOff x="0" y="0"/>
            <a:chExt cx="4023360" cy="4876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023360" cy="487680"/>
            </a:xfrm>
            <a:custGeom>
              <a:avLst/>
              <a:gdLst/>
              <a:ahLst/>
              <a:cxnLst/>
              <a:rect r="r" b="b" t="t" l="l"/>
              <a:pathLst>
                <a:path h="4876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402336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Parity proof output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3767328" y="4864608"/>
            <a:ext cx="4864608" cy="658368"/>
            <a:chOff x="0" y="0"/>
            <a:chExt cx="6486144" cy="87782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486144" cy="877824"/>
            </a:xfrm>
            <a:custGeom>
              <a:avLst/>
              <a:gdLst/>
              <a:ahLst/>
              <a:cxnLst/>
              <a:rect r="r" b="b" t="t" l="l"/>
              <a:pathLst>
                <a:path h="877824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972" r="0" b="-9397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6486144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 scenarios → all PASS: commit, rollback, diverge, repair, rebuild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405623" y="1413767"/>
            <a:ext cx="8346443" cy="4231643"/>
            <a:chOff x="0" y="0"/>
            <a:chExt cx="11128591" cy="564219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1094720" cy="5608320"/>
            </a:xfrm>
            <a:custGeom>
              <a:avLst/>
              <a:gdLst/>
              <a:ahLst/>
              <a:cxnLst/>
              <a:rect r="r" b="b" t="t" l="l"/>
              <a:pathLst>
                <a:path h="560832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5608320"/>
                  </a:lnTo>
                  <a:lnTo>
                    <a:pt x="0" y="560832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128501" cy="5642102"/>
            </a:xfrm>
            <a:custGeom>
              <a:avLst/>
              <a:gdLst/>
              <a:ahLst/>
              <a:cxnLst/>
              <a:rect r="r" b="b" t="t" l="l"/>
              <a:pathLst>
                <a:path h="564210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5625211"/>
                  </a:lnTo>
                  <a:cubicBezTo>
                    <a:pt x="11128501" y="5634609"/>
                    <a:pt x="11120882" y="5642102"/>
                    <a:pt x="11111611" y="5642102"/>
                  </a:cubicBezTo>
                  <a:lnTo>
                    <a:pt x="16891" y="5642102"/>
                  </a:lnTo>
                  <a:cubicBezTo>
                    <a:pt x="7493" y="5642102"/>
                    <a:pt x="0" y="5634482"/>
                    <a:pt x="0" y="5625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625211"/>
                  </a:lnTo>
                  <a:lnTo>
                    <a:pt x="16891" y="5625211"/>
                  </a:lnTo>
                  <a:lnTo>
                    <a:pt x="16891" y="5608320"/>
                  </a:lnTo>
                  <a:lnTo>
                    <a:pt x="11111611" y="5608320"/>
                  </a:lnTo>
                  <a:lnTo>
                    <a:pt x="11111611" y="5625211"/>
                  </a:lnTo>
                  <a:lnTo>
                    <a:pt x="11094720" y="562521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405623" y="1413767"/>
            <a:ext cx="8346443" cy="610619"/>
            <a:chOff x="0" y="0"/>
            <a:chExt cx="11128591" cy="81415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11094720" cy="780288"/>
            </a:xfrm>
            <a:custGeom>
              <a:avLst/>
              <a:gdLst/>
              <a:ahLst/>
              <a:cxnLst/>
              <a:rect r="r" b="b" t="t" l="l"/>
              <a:pathLst>
                <a:path h="780288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F59E0B">
                <a:alpha val="3137"/>
              </a:srgbClr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1128501" cy="814072"/>
            </a:xfrm>
            <a:custGeom>
              <a:avLst/>
              <a:gdLst/>
              <a:ahLst/>
              <a:cxnLst/>
              <a:rect r="r" b="b" t="t" l="l"/>
              <a:pathLst>
                <a:path h="81407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797179"/>
                  </a:lnTo>
                  <a:cubicBezTo>
                    <a:pt x="11128501" y="806577"/>
                    <a:pt x="11120882" y="814070"/>
                    <a:pt x="1111161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11111611" y="780288"/>
                  </a:lnTo>
                  <a:lnTo>
                    <a:pt x="11111611" y="797179"/>
                  </a:lnTo>
                  <a:lnTo>
                    <a:pt x="11094720" y="797179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637776" y="1499616"/>
            <a:ext cx="7863840" cy="438912"/>
            <a:chOff x="0" y="0"/>
            <a:chExt cx="10485120" cy="58521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485120" cy="585216"/>
            </a:xfrm>
            <a:custGeom>
              <a:avLst/>
              <a:gdLst/>
              <a:ahLst/>
              <a:cxnLst/>
              <a:rect r="r" b="b" t="t" l="l"/>
              <a:pathLst>
                <a:path h="58521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9106" r="0" b="-29910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104851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A — Plots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625079" y="2108711"/>
            <a:ext cx="7889243" cy="98555"/>
            <a:chOff x="0" y="0"/>
            <a:chExt cx="10518991" cy="131407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10485120" cy="97536"/>
            </a:xfrm>
            <a:custGeom>
              <a:avLst/>
              <a:gdLst/>
              <a:ahLst/>
              <a:cxnLst/>
              <a:rect r="r" b="b" t="t" l="l"/>
              <a:pathLst>
                <a:path h="9753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F59E0B">
                <a:alpha val="3922"/>
              </a:srgbClr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518901" cy="131320"/>
            </a:xfrm>
            <a:custGeom>
              <a:avLst/>
              <a:gdLst/>
              <a:ahLst/>
              <a:cxnLst/>
              <a:rect r="r" b="b" t="t" l="l"/>
              <a:pathLst>
                <a:path h="131320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4427"/>
                  </a:lnTo>
                  <a:cubicBezTo>
                    <a:pt x="10518901" y="123825"/>
                    <a:pt x="10511282" y="131318"/>
                    <a:pt x="1050201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0502011" y="97536"/>
                  </a:lnTo>
                  <a:lnTo>
                    <a:pt x="10502011" y="114427"/>
                  </a:lnTo>
                  <a:lnTo>
                    <a:pt x="10485120" y="114427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656064" y="2157989"/>
            <a:ext cx="3017520" cy="804672"/>
            <a:chOff x="0" y="0"/>
            <a:chExt cx="4023360" cy="107289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023360" cy="1072896"/>
            </a:xfrm>
            <a:custGeom>
              <a:avLst/>
              <a:gdLst/>
              <a:ahLst/>
              <a:cxnLst/>
              <a:rect r="r" b="b" t="t" l="l"/>
              <a:pathLst>
                <a:path h="1072896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341" r="0" b="4203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4023360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benchmark_operation_dashboard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2673584" y="2231136"/>
            <a:ext cx="4864608" cy="658368"/>
            <a:chOff x="0" y="0"/>
            <a:chExt cx="6486144" cy="87782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486144" cy="877824"/>
            </a:xfrm>
            <a:custGeom>
              <a:avLst/>
              <a:gdLst/>
              <a:ahLst/>
              <a:cxnLst/>
              <a:rect r="r" b="b" t="t" l="l"/>
              <a:pathLst>
                <a:path h="877824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972" r="0" b="-93972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6486144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Insert · Search · Delete · Range operations vs row count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625079" y="2986535"/>
            <a:ext cx="7889243" cy="98555"/>
            <a:chOff x="0" y="0"/>
            <a:chExt cx="10518991" cy="131407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10485120" cy="97536"/>
            </a:xfrm>
            <a:custGeom>
              <a:avLst/>
              <a:gdLst/>
              <a:ahLst/>
              <a:cxnLst/>
              <a:rect r="r" b="b" t="t" l="l"/>
              <a:pathLst>
                <a:path h="9753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F59E0B">
                <a:alpha val="3922"/>
              </a:srgbClr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518901" cy="131320"/>
            </a:xfrm>
            <a:custGeom>
              <a:avLst/>
              <a:gdLst/>
              <a:ahLst/>
              <a:cxnLst/>
              <a:rect r="r" b="b" t="t" l="l"/>
              <a:pathLst>
                <a:path h="131320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4427"/>
                  </a:lnTo>
                  <a:cubicBezTo>
                    <a:pt x="10518901" y="123825"/>
                    <a:pt x="10511282" y="131318"/>
                    <a:pt x="1050201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0502011" y="97536"/>
                  </a:lnTo>
                  <a:lnTo>
                    <a:pt x="10502011" y="114427"/>
                  </a:lnTo>
                  <a:lnTo>
                    <a:pt x="10485120" y="114427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625079" y="3108960"/>
            <a:ext cx="3017520" cy="775208"/>
            <a:chOff x="0" y="0"/>
            <a:chExt cx="4023360" cy="103361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023360" cy="1033611"/>
            </a:xfrm>
            <a:custGeom>
              <a:avLst/>
              <a:gdLst/>
              <a:ahLst/>
              <a:cxnLst/>
              <a:rect r="r" b="b" t="t" l="l"/>
              <a:pathLst>
                <a:path h="1033611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033611"/>
                  </a:lnTo>
                  <a:lnTo>
                    <a:pt x="0" y="10336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254" r="0" b="562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4023360" cy="10812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benchmark_memory_dashboard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2673584" y="3108960"/>
            <a:ext cx="4864608" cy="658368"/>
            <a:chOff x="0" y="0"/>
            <a:chExt cx="6486144" cy="87782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486144" cy="877824"/>
            </a:xfrm>
            <a:custGeom>
              <a:avLst/>
              <a:gdLst/>
              <a:ahLst/>
              <a:cxnLst/>
              <a:rect r="r" b="b" t="t" l="l"/>
              <a:pathLst>
                <a:path h="877824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972" r="0" b="-93972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6486144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Retained-size vs peak-allocation tracked separately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625079" y="3864359"/>
            <a:ext cx="7889243" cy="98555"/>
            <a:chOff x="0" y="0"/>
            <a:chExt cx="10518991" cy="131407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10485120" cy="97536"/>
            </a:xfrm>
            <a:custGeom>
              <a:avLst/>
              <a:gdLst/>
              <a:ahLst/>
              <a:cxnLst/>
              <a:rect r="r" b="b" t="t" l="l"/>
              <a:pathLst>
                <a:path h="9753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F59E0B">
                <a:alpha val="3922"/>
              </a:srgbClr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518901" cy="131320"/>
            </a:xfrm>
            <a:custGeom>
              <a:avLst/>
              <a:gdLst/>
              <a:ahLst/>
              <a:cxnLst/>
              <a:rect r="r" b="b" t="t" l="l"/>
              <a:pathLst>
                <a:path h="131320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4427"/>
                  </a:lnTo>
                  <a:cubicBezTo>
                    <a:pt x="10518901" y="123825"/>
                    <a:pt x="10511282" y="131318"/>
                    <a:pt x="1050201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0502011" y="97536"/>
                  </a:lnTo>
                  <a:lnTo>
                    <a:pt x="10502011" y="114427"/>
                  </a:lnTo>
                  <a:lnTo>
                    <a:pt x="10485120" y="114427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9637776" y="3986784"/>
            <a:ext cx="3017520" cy="365760"/>
            <a:chOff x="0" y="0"/>
            <a:chExt cx="4023360" cy="48768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023360" cy="487680"/>
            </a:xfrm>
            <a:custGeom>
              <a:avLst/>
              <a:gdLst/>
              <a:ahLst/>
              <a:cxnLst/>
              <a:rect r="r" b="b" t="t" l="l"/>
              <a:pathLst>
                <a:path h="4876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402336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benchmark_speedup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2673584" y="3986784"/>
            <a:ext cx="4864608" cy="658368"/>
            <a:chOff x="0" y="0"/>
            <a:chExt cx="6486144" cy="87782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486144" cy="877824"/>
            </a:xfrm>
            <a:custGeom>
              <a:avLst/>
              <a:gdLst/>
              <a:ahLst/>
              <a:cxnLst/>
              <a:rect r="r" b="b" t="t" l="l"/>
              <a:pathLst>
                <a:path h="877824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972" r="0" b="-93972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6486144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B+ Tree / Brute-Force ratio per operation across all dataset sizes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625079" y="4742183"/>
            <a:ext cx="7889243" cy="98555"/>
            <a:chOff x="0" y="0"/>
            <a:chExt cx="10518991" cy="131407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10485120" cy="97536"/>
            </a:xfrm>
            <a:custGeom>
              <a:avLst/>
              <a:gdLst/>
              <a:ahLst/>
              <a:cxnLst/>
              <a:rect r="r" b="b" t="t" l="l"/>
              <a:pathLst>
                <a:path h="9753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F59E0B">
                <a:alpha val="3922"/>
              </a:srgbClr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0518901" cy="131320"/>
            </a:xfrm>
            <a:custGeom>
              <a:avLst/>
              <a:gdLst/>
              <a:ahLst/>
              <a:cxnLst/>
              <a:rect r="r" b="b" t="t" l="l"/>
              <a:pathLst>
                <a:path h="131320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4427"/>
                  </a:lnTo>
                  <a:cubicBezTo>
                    <a:pt x="10518901" y="123825"/>
                    <a:pt x="10511282" y="131318"/>
                    <a:pt x="1050201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0502011" y="97536"/>
                  </a:lnTo>
                  <a:lnTo>
                    <a:pt x="10502011" y="114427"/>
                  </a:lnTo>
                  <a:lnTo>
                    <a:pt x="10485120" y="114427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9637776" y="4864608"/>
            <a:ext cx="3017520" cy="780802"/>
            <a:chOff x="0" y="0"/>
            <a:chExt cx="4023360" cy="104107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023360" cy="1041070"/>
            </a:xfrm>
            <a:custGeom>
              <a:avLst/>
              <a:gdLst/>
              <a:ahLst/>
              <a:cxnLst/>
              <a:rect r="r" b="b" t="t" l="l"/>
              <a:pathLst>
                <a:path h="104107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041070"/>
                  </a:lnTo>
                  <a:lnTo>
                    <a:pt x="0" y="10410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880" r="0" b="1275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4023360" cy="10886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benchmark_path_speedup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2673584" y="4864608"/>
            <a:ext cx="4864608" cy="658368"/>
            <a:chOff x="0" y="0"/>
            <a:chExt cx="6486144" cy="877824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486144" cy="877824"/>
            </a:xfrm>
            <a:custGeom>
              <a:avLst/>
              <a:gdLst/>
              <a:ahLst/>
              <a:cxnLst/>
              <a:rect r="r" b="b" t="t" l="l"/>
              <a:pathLst>
                <a:path h="877824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972" r="0" b="-93972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6486144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Per-domain-path speedup across 20 dataset sizes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499367" y="5839463"/>
            <a:ext cx="8346443" cy="4231643"/>
            <a:chOff x="0" y="0"/>
            <a:chExt cx="11128591" cy="5642191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6891" y="16891"/>
              <a:ext cx="11094720" cy="5608320"/>
            </a:xfrm>
            <a:custGeom>
              <a:avLst/>
              <a:gdLst/>
              <a:ahLst/>
              <a:cxnLst/>
              <a:rect r="r" b="b" t="t" l="l"/>
              <a:pathLst>
                <a:path h="560832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5608320"/>
                  </a:lnTo>
                  <a:lnTo>
                    <a:pt x="0" y="560832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1128501" cy="5642102"/>
            </a:xfrm>
            <a:custGeom>
              <a:avLst/>
              <a:gdLst/>
              <a:ahLst/>
              <a:cxnLst/>
              <a:rect r="r" b="b" t="t" l="l"/>
              <a:pathLst>
                <a:path h="564210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5625211"/>
                  </a:lnTo>
                  <a:cubicBezTo>
                    <a:pt x="11128501" y="5634609"/>
                    <a:pt x="11120882" y="5642102"/>
                    <a:pt x="11111611" y="5642102"/>
                  </a:cubicBezTo>
                  <a:lnTo>
                    <a:pt x="16891" y="5642102"/>
                  </a:lnTo>
                  <a:cubicBezTo>
                    <a:pt x="7493" y="5642102"/>
                    <a:pt x="0" y="5634482"/>
                    <a:pt x="0" y="5625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625211"/>
                  </a:lnTo>
                  <a:lnTo>
                    <a:pt x="16891" y="5625211"/>
                  </a:lnTo>
                  <a:lnTo>
                    <a:pt x="16891" y="5608320"/>
                  </a:lnTo>
                  <a:lnTo>
                    <a:pt x="11111611" y="5608320"/>
                  </a:lnTo>
                  <a:lnTo>
                    <a:pt x="11111611" y="5625211"/>
                  </a:lnTo>
                  <a:lnTo>
                    <a:pt x="11094720" y="562521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499367" y="5839463"/>
            <a:ext cx="8346443" cy="610619"/>
            <a:chOff x="0" y="0"/>
            <a:chExt cx="11128591" cy="814159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11094720" cy="780288"/>
            </a:xfrm>
            <a:custGeom>
              <a:avLst/>
              <a:gdLst/>
              <a:ahLst/>
              <a:cxnLst/>
              <a:rect r="r" b="b" t="t" l="l"/>
              <a:pathLst>
                <a:path h="780288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F97316">
                <a:alpha val="3137"/>
              </a:srgbClr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1128501" cy="814072"/>
            </a:xfrm>
            <a:custGeom>
              <a:avLst/>
              <a:gdLst/>
              <a:ahLst/>
              <a:cxnLst/>
              <a:rect r="r" b="b" t="t" l="l"/>
              <a:pathLst>
                <a:path h="81407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797179"/>
                  </a:lnTo>
                  <a:cubicBezTo>
                    <a:pt x="11128501" y="806577"/>
                    <a:pt x="11120882" y="814070"/>
                    <a:pt x="1111161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11111611" y="780288"/>
                  </a:lnTo>
                  <a:lnTo>
                    <a:pt x="11111611" y="797179"/>
                  </a:lnTo>
                  <a:lnTo>
                    <a:pt x="11094720" y="797179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731520" y="5925312"/>
            <a:ext cx="7863840" cy="438912"/>
            <a:chOff x="0" y="0"/>
            <a:chExt cx="10485120" cy="58521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0485120" cy="585216"/>
            </a:xfrm>
            <a:custGeom>
              <a:avLst/>
              <a:gdLst/>
              <a:ahLst/>
              <a:cxnLst/>
              <a:rect r="r" b="b" t="t" l="l"/>
              <a:pathLst>
                <a:path h="58521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9106" r="0" b="-299106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104851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B — API Evidence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718823" y="6534407"/>
            <a:ext cx="7889243" cy="98555"/>
            <a:chOff x="0" y="0"/>
            <a:chExt cx="10518991" cy="131407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16891" y="16891"/>
              <a:ext cx="10485120" cy="97536"/>
            </a:xfrm>
            <a:custGeom>
              <a:avLst/>
              <a:gdLst/>
              <a:ahLst/>
              <a:cxnLst/>
              <a:rect r="r" b="b" t="t" l="l"/>
              <a:pathLst>
                <a:path h="9753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F97316">
                <a:alpha val="3922"/>
              </a:srgbClr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0518901" cy="131320"/>
            </a:xfrm>
            <a:custGeom>
              <a:avLst/>
              <a:gdLst/>
              <a:ahLst/>
              <a:cxnLst/>
              <a:rect r="r" b="b" t="t" l="l"/>
              <a:pathLst>
                <a:path h="131320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4427"/>
                  </a:lnTo>
                  <a:cubicBezTo>
                    <a:pt x="10518901" y="123825"/>
                    <a:pt x="10511282" y="131318"/>
                    <a:pt x="1050201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0502011" y="97536"/>
                  </a:lnTo>
                  <a:lnTo>
                    <a:pt x="10502011" y="114427"/>
                  </a:lnTo>
                  <a:lnTo>
                    <a:pt x="10485120" y="114427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731520" y="6656832"/>
            <a:ext cx="3017520" cy="365760"/>
            <a:chOff x="0" y="0"/>
            <a:chExt cx="4023360" cy="48768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4023360" cy="487680"/>
            </a:xfrm>
            <a:custGeom>
              <a:avLst/>
              <a:gdLst/>
              <a:ahLst/>
              <a:cxnLst/>
              <a:rect r="r" b="b" t="t" l="l"/>
              <a:pathLst>
                <a:path h="4876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47625"/>
              <a:ext cx="402336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01–03 Login captures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3767328" y="6656832"/>
            <a:ext cx="4864608" cy="658368"/>
            <a:chOff x="0" y="0"/>
            <a:chExt cx="6486144" cy="877824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6486144" cy="877824"/>
            </a:xfrm>
            <a:custGeom>
              <a:avLst/>
              <a:gdLst/>
              <a:ahLst/>
              <a:cxnLst/>
              <a:rect r="r" b="b" t="t" l="l"/>
              <a:pathLst>
                <a:path h="877824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972" r="0" b="-93972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6486144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Admin login · isAuth · User login — full request/response JSON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718823" y="7412231"/>
            <a:ext cx="7889243" cy="98555"/>
            <a:chOff x="0" y="0"/>
            <a:chExt cx="10518991" cy="131407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16891" y="16891"/>
              <a:ext cx="10485120" cy="97536"/>
            </a:xfrm>
            <a:custGeom>
              <a:avLst/>
              <a:gdLst/>
              <a:ahLst/>
              <a:cxnLst/>
              <a:rect r="r" b="b" t="t" l="l"/>
              <a:pathLst>
                <a:path h="9753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F97316">
                <a:alpha val="3922"/>
              </a:srgbClr>
            </a:solid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0518901" cy="131320"/>
            </a:xfrm>
            <a:custGeom>
              <a:avLst/>
              <a:gdLst/>
              <a:ahLst/>
              <a:cxnLst/>
              <a:rect r="r" b="b" t="t" l="l"/>
              <a:pathLst>
                <a:path h="131320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4427"/>
                  </a:lnTo>
                  <a:cubicBezTo>
                    <a:pt x="10518901" y="123825"/>
                    <a:pt x="10511282" y="131318"/>
                    <a:pt x="1050201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0502011" y="97536"/>
                  </a:lnTo>
                  <a:lnTo>
                    <a:pt x="10502011" y="114427"/>
                  </a:lnTo>
                  <a:lnTo>
                    <a:pt x="10485120" y="114427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731520" y="7534656"/>
            <a:ext cx="3017520" cy="365760"/>
            <a:chOff x="0" y="0"/>
            <a:chExt cx="4023360" cy="48768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4023360" cy="487680"/>
            </a:xfrm>
            <a:custGeom>
              <a:avLst/>
              <a:gdLst/>
              <a:ahLst/>
              <a:cxnLst/>
              <a:rect r="r" b="b" t="t" l="l"/>
              <a:pathLst>
                <a:path h="4876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47625"/>
              <a:ext cx="402336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04–08 Portfolio CRUD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3767328" y="7534656"/>
            <a:ext cx="4864608" cy="658368"/>
            <a:chOff x="0" y="0"/>
            <a:chExt cx="6486144" cy="877824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6486144" cy="877824"/>
            </a:xfrm>
            <a:custGeom>
              <a:avLst/>
              <a:gdLst/>
              <a:ahLst/>
              <a:cxnLst/>
              <a:rect r="r" b="b" t="t" l="l"/>
              <a:pathLst>
                <a:path h="877824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972" r="0" b="-93972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6486144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List · Create · Get · Update · Delete — all admin scenarios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718823" y="8290055"/>
            <a:ext cx="7889243" cy="98555"/>
            <a:chOff x="0" y="0"/>
            <a:chExt cx="10518991" cy="131407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16891" y="16891"/>
              <a:ext cx="10485120" cy="97536"/>
            </a:xfrm>
            <a:custGeom>
              <a:avLst/>
              <a:gdLst/>
              <a:ahLst/>
              <a:cxnLst/>
              <a:rect r="r" b="b" t="t" l="l"/>
              <a:pathLst>
                <a:path h="9753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F97316">
                <a:alpha val="3922"/>
              </a:srgbClr>
            </a:solidFill>
          </p:spPr>
        </p:sp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10518901" cy="131320"/>
            </a:xfrm>
            <a:custGeom>
              <a:avLst/>
              <a:gdLst/>
              <a:ahLst/>
              <a:cxnLst/>
              <a:rect r="r" b="b" t="t" l="l"/>
              <a:pathLst>
                <a:path h="131320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4427"/>
                  </a:lnTo>
                  <a:cubicBezTo>
                    <a:pt x="10518901" y="123825"/>
                    <a:pt x="10511282" y="131318"/>
                    <a:pt x="1050201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0502011" y="97536"/>
                  </a:lnTo>
                  <a:lnTo>
                    <a:pt x="10502011" y="114427"/>
                  </a:lnTo>
                  <a:lnTo>
                    <a:pt x="10485120" y="114427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731520" y="8412480"/>
            <a:ext cx="3017520" cy="365760"/>
            <a:chOff x="0" y="0"/>
            <a:chExt cx="4023360" cy="48768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4023360" cy="487680"/>
            </a:xfrm>
            <a:custGeom>
              <a:avLst/>
              <a:gdLst/>
              <a:ahLst/>
              <a:cxnLst/>
              <a:rect r="r" b="b" t="t" l="l"/>
              <a:pathLst>
                <a:path h="4876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47625"/>
              <a:ext cx="402336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09 Role denial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3767328" y="8412480"/>
            <a:ext cx="4864608" cy="658368"/>
            <a:chOff x="0" y="0"/>
            <a:chExt cx="6486144" cy="877824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6486144" cy="877824"/>
            </a:xfrm>
            <a:custGeom>
              <a:avLst/>
              <a:gdLst/>
              <a:ahLst/>
              <a:cxnLst/>
              <a:rect r="r" b="b" t="t" l="l"/>
              <a:pathLst>
                <a:path h="877824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972" r="0" b="-93972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38100"/>
              <a:ext cx="6486144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 attempts admin action → 403 body captured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718823" y="9167879"/>
            <a:ext cx="7889243" cy="98555"/>
            <a:chOff x="0" y="0"/>
            <a:chExt cx="10518991" cy="131407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16891" y="16891"/>
              <a:ext cx="10485120" cy="97536"/>
            </a:xfrm>
            <a:custGeom>
              <a:avLst/>
              <a:gdLst/>
              <a:ahLst/>
              <a:cxnLst/>
              <a:rect r="r" b="b" t="t" l="l"/>
              <a:pathLst>
                <a:path h="9753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F97316">
                <a:alpha val="3922"/>
              </a:srgbClr>
            </a:solidFill>
          </p:spPr>
        </p:sp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0518901" cy="131320"/>
            </a:xfrm>
            <a:custGeom>
              <a:avLst/>
              <a:gdLst/>
              <a:ahLst/>
              <a:cxnLst/>
              <a:rect r="r" b="b" t="t" l="l"/>
              <a:pathLst>
                <a:path h="131320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4427"/>
                  </a:lnTo>
                  <a:cubicBezTo>
                    <a:pt x="10518901" y="123825"/>
                    <a:pt x="10511282" y="131318"/>
                    <a:pt x="1050201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0502011" y="97536"/>
                  </a:lnTo>
                  <a:lnTo>
                    <a:pt x="10502011" y="114427"/>
                  </a:lnTo>
                  <a:lnTo>
                    <a:pt x="10485120" y="114427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731520" y="9290304"/>
            <a:ext cx="3017520" cy="365760"/>
            <a:chOff x="0" y="0"/>
            <a:chExt cx="4023360" cy="48768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4023360" cy="487680"/>
            </a:xfrm>
            <a:custGeom>
              <a:avLst/>
              <a:gdLst/>
              <a:ahLst/>
              <a:cxnLst/>
              <a:rect r="r" b="b" t="t" l="l"/>
              <a:pathLst>
                <a:path h="4876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47625"/>
              <a:ext cx="402336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10–11 Unauthorized check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3767328" y="9290304"/>
            <a:ext cx="4864608" cy="658368"/>
            <a:chOff x="0" y="0"/>
            <a:chExt cx="6486144" cy="877824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6486144" cy="877824"/>
            </a:xfrm>
            <a:custGeom>
              <a:avLst/>
              <a:gdLst/>
              <a:ahLst/>
              <a:cxnLst/>
              <a:rect r="r" b="b" t="t" l="l"/>
              <a:pathLst>
                <a:path h="877824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972" r="0" b="-93972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6486144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Direct DB edit before/after tamper detection endpoint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9405623" y="5839463"/>
            <a:ext cx="8346443" cy="4231643"/>
            <a:chOff x="0" y="0"/>
            <a:chExt cx="11128591" cy="5642191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16891" y="16891"/>
              <a:ext cx="11094720" cy="5608320"/>
            </a:xfrm>
            <a:custGeom>
              <a:avLst/>
              <a:gdLst/>
              <a:ahLst/>
              <a:cxnLst/>
              <a:rect r="r" b="b" t="t" l="l"/>
              <a:pathLst>
                <a:path h="560832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5608320"/>
                  </a:lnTo>
                  <a:lnTo>
                    <a:pt x="0" y="560832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11128501" cy="5642102"/>
            </a:xfrm>
            <a:custGeom>
              <a:avLst/>
              <a:gdLst/>
              <a:ahLst/>
              <a:cxnLst/>
              <a:rect r="r" b="b" t="t" l="l"/>
              <a:pathLst>
                <a:path h="564210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5625211"/>
                  </a:lnTo>
                  <a:cubicBezTo>
                    <a:pt x="11128501" y="5634609"/>
                    <a:pt x="11120882" y="5642102"/>
                    <a:pt x="11111611" y="5642102"/>
                  </a:cubicBezTo>
                  <a:lnTo>
                    <a:pt x="16891" y="5642102"/>
                  </a:lnTo>
                  <a:cubicBezTo>
                    <a:pt x="7493" y="5642102"/>
                    <a:pt x="0" y="5634482"/>
                    <a:pt x="0" y="5625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625211"/>
                  </a:lnTo>
                  <a:lnTo>
                    <a:pt x="16891" y="5625211"/>
                  </a:lnTo>
                  <a:lnTo>
                    <a:pt x="16891" y="5608320"/>
                  </a:lnTo>
                  <a:lnTo>
                    <a:pt x="11111611" y="5608320"/>
                  </a:lnTo>
                  <a:lnTo>
                    <a:pt x="11111611" y="5625211"/>
                  </a:lnTo>
                  <a:lnTo>
                    <a:pt x="11094720" y="562521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9405623" y="5839463"/>
            <a:ext cx="8346443" cy="610619"/>
            <a:chOff x="0" y="0"/>
            <a:chExt cx="11128591" cy="814159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16891" y="16891"/>
              <a:ext cx="11094720" cy="780288"/>
            </a:xfrm>
            <a:custGeom>
              <a:avLst/>
              <a:gdLst/>
              <a:ahLst/>
              <a:cxnLst/>
              <a:rect r="r" b="b" t="t" l="l"/>
              <a:pathLst>
                <a:path h="780288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22C55E">
                <a:alpha val="3137"/>
              </a:srgbClr>
            </a:solidFill>
          </p:spPr>
        </p:sp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11128501" cy="814072"/>
            </a:xfrm>
            <a:custGeom>
              <a:avLst/>
              <a:gdLst/>
              <a:ahLst/>
              <a:cxnLst/>
              <a:rect r="r" b="b" t="t" l="l"/>
              <a:pathLst>
                <a:path h="81407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797179"/>
                  </a:lnTo>
                  <a:cubicBezTo>
                    <a:pt x="11128501" y="806577"/>
                    <a:pt x="11120882" y="814070"/>
                    <a:pt x="1111161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11111611" y="780288"/>
                  </a:lnTo>
                  <a:lnTo>
                    <a:pt x="11111611" y="797179"/>
                  </a:lnTo>
                  <a:lnTo>
                    <a:pt x="11094720" y="797179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9637776" y="5925312"/>
            <a:ext cx="7863840" cy="438912"/>
            <a:chOff x="0" y="0"/>
            <a:chExt cx="10485120" cy="585216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10485120" cy="585216"/>
            </a:xfrm>
            <a:custGeom>
              <a:avLst/>
              <a:gdLst/>
              <a:ahLst/>
              <a:cxnLst/>
              <a:rect r="r" b="b" t="t" l="l"/>
              <a:pathLst>
                <a:path h="58521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9106" r="0" b="-299106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38100"/>
              <a:ext cx="104851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B — DB + Audit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9625079" y="6534407"/>
            <a:ext cx="7889243" cy="98555"/>
            <a:chOff x="0" y="0"/>
            <a:chExt cx="10518991" cy="131407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16891" y="16891"/>
              <a:ext cx="10485120" cy="97536"/>
            </a:xfrm>
            <a:custGeom>
              <a:avLst/>
              <a:gdLst/>
              <a:ahLst/>
              <a:cxnLst/>
              <a:rect r="r" b="b" t="t" l="l"/>
              <a:pathLst>
                <a:path h="9753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22C55E">
                <a:alpha val="3922"/>
              </a:srgbClr>
            </a:solidFill>
          </p:spPr>
        </p:sp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10518901" cy="131320"/>
            </a:xfrm>
            <a:custGeom>
              <a:avLst/>
              <a:gdLst/>
              <a:ahLst/>
              <a:cxnLst/>
              <a:rect r="r" b="b" t="t" l="l"/>
              <a:pathLst>
                <a:path h="131320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4427"/>
                  </a:lnTo>
                  <a:cubicBezTo>
                    <a:pt x="10518901" y="123825"/>
                    <a:pt x="10511282" y="131318"/>
                    <a:pt x="1050201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0502011" y="97536"/>
                  </a:lnTo>
                  <a:lnTo>
                    <a:pt x="10502011" y="114427"/>
                  </a:lnTo>
                  <a:lnTo>
                    <a:pt x="10485120" y="114427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9637776" y="6656832"/>
            <a:ext cx="3017520" cy="365760"/>
            <a:chOff x="0" y="0"/>
            <a:chExt cx="4023360" cy="487680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4023360" cy="487680"/>
            </a:xfrm>
            <a:custGeom>
              <a:avLst/>
              <a:gdLst/>
              <a:ahLst/>
              <a:cxnLst/>
              <a:rect r="r" b="b" t="t" l="l"/>
              <a:pathLst>
                <a:path h="4876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47625"/>
              <a:ext cx="402336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DB snapshot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2673584" y="6656832"/>
            <a:ext cx="4864608" cy="658368"/>
            <a:chOff x="0" y="0"/>
            <a:chExt cx="6486144" cy="877824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6486144" cy="877824"/>
            </a:xfrm>
            <a:custGeom>
              <a:avLst/>
              <a:gdLst/>
              <a:ahLst/>
              <a:cxnLst/>
              <a:rect r="r" b="b" t="t" l="l"/>
              <a:pathLst>
                <a:path h="877824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972" r="0" b="-93972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38100"/>
              <a:ext cx="6486144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Full table dump: schema, indexes, row counts, integrity_hash values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9625079" y="7412231"/>
            <a:ext cx="7889243" cy="98555"/>
            <a:chOff x="0" y="0"/>
            <a:chExt cx="10518991" cy="131407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16891" y="16891"/>
              <a:ext cx="10485120" cy="97536"/>
            </a:xfrm>
            <a:custGeom>
              <a:avLst/>
              <a:gdLst/>
              <a:ahLst/>
              <a:cxnLst/>
              <a:rect r="r" b="b" t="t" l="l"/>
              <a:pathLst>
                <a:path h="9753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22C55E">
                <a:alpha val="3922"/>
              </a:srgbClr>
            </a:solidFill>
          </p:spPr>
        </p:sp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10518901" cy="131320"/>
            </a:xfrm>
            <a:custGeom>
              <a:avLst/>
              <a:gdLst/>
              <a:ahLst/>
              <a:cxnLst/>
              <a:rect r="r" b="b" t="t" l="l"/>
              <a:pathLst>
                <a:path h="131320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4427"/>
                  </a:lnTo>
                  <a:cubicBezTo>
                    <a:pt x="10518901" y="123825"/>
                    <a:pt x="10511282" y="131318"/>
                    <a:pt x="1050201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0502011" y="97536"/>
                  </a:lnTo>
                  <a:lnTo>
                    <a:pt x="10502011" y="114427"/>
                  </a:lnTo>
                  <a:lnTo>
                    <a:pt x="10485120" y="114427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9637776" y="7534656"/>
            <a:ext cx="3017520" cy="365760"/>
            <a:chOff x="0" y="0"/>
            <a:chExt cx="4023360" cy="487680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4023360" cy="487680"/>
            </a:xfrm>
            <a:custGeom>
              <a:avLst/>
              <a:gdLst/>
              <a:ahLst/>
              <a:cxnLst/>
              <a:rect r="r" b="b" t="t" l="l"/>
              <a:pathLst>
                <a:path h="4876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47625"/>
              <a:ext cx="402336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Schema inventory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12673584" y="7534656"/>
            <a:ext cx="4864608" cy="658368"/>
            <a:chOff x="0" y="0"/>
            <a:chExt cx="6486144" cy="877824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6486144" cy="877824"/>
            </a:xfrm>
            <a:custGeom>
              <a:avLst/>
              <a:gdLst/>
              <a:ahLst/>
              <a:cxnLst/>
              <a:rect r="r" b="b" t="t" l="l"/>
              <a:pathLst>
                <a:path h="877824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972" r="0" b="-93972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38100"/>
              <a:ext cx="6486144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 9 tables with column types, FK constraints, index definitions</a:t>
              </a:r>
            </a:p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9625079" y="8290055"/>
            <a:ext cx="7889243" cy="98555"/>
            <a:chOff x="0" y="0"/>
            <a:chExt cx="10518991" cy="131407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16891" y="16891"/>
              <a:ext cx="10485120" cy="97536"/>
            </a:xfrm>
            <a:custGeom>
              <a:avLst/>
              <a:gdLst/>
              <a:ahLst/>
              <a:cxnLst/>
              <a:rect r="r" b="b" t="t" l="l"/>
              <a:pathLst>
                <a:path h="9753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22C55E">
                <a:alpha val="3922"/>
              </a:srgbClr>
            </a:solidFill>
          </p:spPr>
        </p:sp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10518901" cy="131320"/>
            </a:xfrm>
            <a:custGeom>
              <a:avLst/>
              <a:gdLst/>
              <a:ahLst/>
              <a:cxnLst/>
              <a:rect r="r" b="b" t="t" l="l"/>
              <a:pathLst>
                <a:path h="131320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4427"/>
                  </a:lnTo>
                  <a:cubicBezTo>
                    <a:pt x="10518901" y="123825"/>
                    <a:pt x="10511282" y="131318"/>
                    <a:pt x="1050201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0502011" y="97536"/>
                  </a:lnTo>
                  <a:lnTo>
                    <a:pt x="10502011" y="114427"/>
                  </a:lnTo>
                  <a:lnTo>
                    <a:pt x="10485120" y="114427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173" id="173"/>
          <p:cNvGrpSpPr/>
          <p:nvPr/>
        </p:nvGrpSpPr>
        <p:grpSpPr>
          <a:xfrm rot="0">
            <a:off x="9637776" y="8412480"/>
            <a:ext cx="3017520" cy="365760"/>
            <a:chOff x="0" y="0"/>
            <a:chExt cx="4023360" cy="487680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4023360" cy="487680"/>
            </a:xfrm>
            <a:custGeom>
              <a:avLst/>
              <a:gdLst/>
              <a:ahLst/>
              <a:cxnLst/>
              <a:rect r="r" b="b" t="t" l="l"/>
              <a:pathLst>
                <a:path h="4876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175" id="175"/>
            <p:cNvSpPr txBox="true"/>
            <p:nvPr/>
          </p:nvSpPr>
          <p:spPr>
            <a:xfrm>
              <a:off x="0" y="-47625"/>
              <a:ext cx="402336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Tamper evidence</a:t>
              </a:r>
            </a:p>
          </p:txBody>
        </p:sp>
      </p:grpSp>
      <p:grpSp>
        <p:nvGrpSpPr>
          <p:cNvPr name="Group 176" id="176"/>
          <p:cNvGrpSpPr/>
          <p:nvPr/>
        </p:nvGrpSpPr>
        <p:grpSpPr>
          <a:xfrm rot="0">
            <a:off x="12673584" y="8412480"/>
            <a:ext cx="4864608" cy="658368"/>
            <a:chOff x="0" y="0"/>
            <a:chExt cx="6486144" cy="877824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6486144" cy="877824"/>
            </a:xfrm>
            <a:custGeom>
              <a:avLst/>
              <a:gdLst/>
              <a:ahLst/>
              <a:cxnLst/>
              <a:rect r="r" b="b" t="t" l="l"/>
              <a:pathLst>
                <a:path h="877824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972" r="0" b="-93972"/>
              </a:stretch>
            </a:blipFill>
          </p:spPr>
        </p:sp>
        <p:sp>
          <p:nvSpPr>
            <p:cNvPr name="TextBox 178" id="178"/>
            <p:cNvSpPr txBox="true"/>
            <p:nvPr/>
          </p:nvSpPr>
          <p:spPr>
            <a:xfrm>
              <a:off x="0" y="-38100"/>
              <a:ext cx="6486144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Before edit + detection result side-by-side in DB_EVIDENCE/</a:t>
              </a:r>
            </a:p>
          </p:txBody>
        </p:sp>
      </p:grpSp>
      <p:grpSp>
        <p:nvGrpSpPr>
          <p:cNvPr name="Group 179" id="179"/>
          <p:cNvGrpSpPr/>
          <p:nvPr/>
        </p:nvGrpSpPr>
        <p:grpSpPr>
          <a:xfrm rot="0">
            <a:off x="9625079" y="9167879"/>
            <a:ext cx="7889243" cy="98555"/>
            <a:chOff x="0" y="0"/>
            <a:chExt cx="10518991" cy="131407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16891" y="16891"/>
              <a:ext cx="10485120" cy="97536"/>
            </a:xfrm>
            <a:custGeom>
              <a:avLst/>
              <a:gdLst/>
              <a:ahLst/>
              <a:cxnLst/>
              <a:rect r="r" b="b" t="t" l="l"/>
              <a:pathLst>
                <a:path h="9753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22C55E">
                <a:alpha val="3922"/>
              </a:srgbClr>
            </a:solidFill>
          </p:spPr>
        </p:sp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10518901" cy="131320"/>
            </a:xfrm>
            <a:custGeom>
              <a:avLst/>
              <a:gdLst/>
              <a:ahLst/>
              <a:cxnLst/>
              <a:rect r="r" b="b" t="t" l="l"/>
              <a:pathLst>
                <a:path h="131320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4427"/>
                  </a:lnTo>
                  <a:cubicBezTo>
                    <a:pt x="10518901" y="123825"/>
                    <a:pt x="10511282" y="131318"/>
                    <a:pt x="1050201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0502011" y="97536"/>
                  </a:lnTo>
                  <a:lnTo>
                    <a:pt x="10502011" y="114427"/>
                  </a:lnTo>
                  <a:lnTo>
                    <a:pt x="10485120" y="114427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9637776" y="9290304"/>
            <a:ext cx="3017520" cy="365760"/>
            <a:chOff x="0" y="0"/>
            <a:chExt cx="4023360" cy="487680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4023360" cy="487680"/>
            </a:xfrm>
            <a:custGeom>
              <a:avLst/>
              <a:gdLst/>
              <a:ahLst/>
              <a:cxnLst/>
              <a:rect r="r" b="b" t="t" l="l"/>
              <a:pathLst>
                <a:path h="4876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-47625"/>
              <a:ext cx="402336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audit.log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12673584" y="9290304"/>
            <a:ext cx="4864608" cy="658368"/>
            <a:chOff x="0" y="0"/>
            <a:chExt cx="6486144" cy="877824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6486144" cy="877824"/>
            </a:xfrm>
            <a:custGeom>
              <a:avLst/>
              <a:gdLst/>
              <a:ahLst/>
              <a:cxnLst/>
              <a:rect r="r" b="b" t="t" l="l"/>
              <a:pathLst>
                <a:path h="877824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972" r="0" b="-93972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-38100"/>
              <a:ext cx="6486144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Chained JSON-line events: hash chain valid, 40+ events captured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8283"/>
            <a:chOff x="0" y="0"/>
            <a:chExt cx="24417871" cy="2777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EF4444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7624"/>
            </a:xfrm>
            <a:custGeom>
              <a:avLst/>
              <a:gdLst/>
              <a:ahLst/>
              <a:cxnLst/>
              <a:rect r="r" b="b" t="t" l="l"/>
              <a:pathLst>
                <a:path h="27762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0731"/>
                  </a:lnTo>
                  <a:cubicBezTo>
                    <a:pt x="24417782" y="270129"/>
                    <a:pt x="24410163" y="277622"/>
                    <a:pt x="2440089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4400890" y="243840"/>
                  </a:lnTo>
                  <a:lnTo>
                    <a:pt x="24400890" y="260731"/>
                  </a:lnTo>
                  <a:lnTo>
                    <a:pt x="24384000" y="2607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2064" y="274320"/>
            <a:ext cx="17373600" cy="914400"/>
            <a:chOff x="0" y="0"/>
            <a:chExt cx="2316480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64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31648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Current Limitations — Honest Engineering Assessment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48640" y="1426464"/>
            <a:ext cx="17190720" cy="694944"/>
            <a:chOff x="0" y="0"/>
            <a:chExt cx="22920960" cy="92659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920961" cy="926592"/>
            </a:xfrm>
            <a:custGeom>
              <a:avLst/>
              <a:gdLst/>
              <a:ahLst/>
              <a:cxnLst/>
              <a:rect r="r" b="b" t="t" l="l"/>
              <a:pathLst>
                <a:path h="926592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1998" r="0" b="-43199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92096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i="true">
                  <a:solidFill>
                    <a:srgbClr val="FCD34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"Functional and defensible for assignment scope — not yet production-hardened."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99367" y="2328167"/>
            <a:ext cx="17289275" cy="1378715"/>
            <a:chOff x="0" y="0"/>
            <a:chExt cx="23052367" cy="183828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23018497" cy="1804416"/>
            </a:xfrm>
            <a:custGeom>
              <a:avLst/>
              <a:gdLst/>
              <a:ahLst/>
              <a:cxnLst/>
              <a:rect r="r" b="b" t="t" l="l"/>
              <a:pathLst>
                <a:path h="1804416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052278" cy="1838198"/>
            </a:xfrm>
            <a:custGeom>
              <a:avLst/>
              <a:gdLst/>
              <a:ahLst/>
              <a:cxnLst/>
              <a:rect r="r" b="b" t="t" l="l"/>
              <a:pathLst>
                <a:path h="1838198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1821307"/>
                  </a:lnTo>
                  <a:cubicBezTo>
                    <a:pt x="23052278" y="1830705"/>
                    <a:pt x="23044658" y="1838198"/>
                    <a:pt x="23035388" y="1838198"/>
                  </a:cubicBezTo>
                  <a:lnTo>
                    <a:pt x="16891" y="1838198"/>
                  </a:lnTo>
                  <a:cubicBezTo>
                    <a:pt x="7493" y="1838198"/>
                    <a:pt x="0" y="1830578"/>
                    <a:pt x="0" y="18213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21307"/>
                  </a:lnTo>
                  <a:lnTo>
                    <a:pt x="16891" y="1821307"/>
                  </a:lnTo>
                  <a:lnTo>
                    <a:pt x="16891" y="1804416"/>
                  </a:lnTo>
                  <a:lnTo>
                    <a:pt x="23035388" y="1804416"/>
                  </a:lnTo>
                  <a:lnTo>
                    <a:pt x="23035388" y="1821307"/>
                  </a:lnTo>
                  <a:lnTo>
                    <a:pt x="23018497" y="1821307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99367" y="2328167"/>
            <a:ext cx="171707" cy="1378715"/>
            <a:chOff x="0" y="0"/>
            <a:chExt cx="228943" cy="183828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95072" cy="1804416"/>
            </a:xfrm>
            <a:custGeom>
              <a:avLst/>
              <a:gdLst/>
              <a:ahLst/>
              <a:cxnLst/>
              <a:rect r="r" b="b" t="t" l="l"/>
              <a:pathLst>
                <a:path h="1804416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8854" cy="1838198"/>
            </a:xfrm>
            <a:custGeom>
              <a:avLst/>
              <a:gdLst/>
              <a:ahLst/>
              <a:cxnLst/>
              <a:rect r="r" b="b" t="t" l="l"/>
              <a:pathLst>
                <a:path h="1838198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821307"/>
                  </a:lnTo>
                  <a:cubicBezTo>
                    <a:pt x="228854" y="1830705"/>
                    <a:pt x="221234" y="1838198"/>
                    <a:pt x="211963" y="1838198"/>
                  </a:cubicBezTo>
                  <a:lnTo>
                    <a:pt x="16891" y="1838198"/>
                  </a:lnTo>
                  <a:cubicBezTo>
                    <a:pt x="7493" y="1838198"/>
                    <a:pt x="0" y="1830578"/>
                    <a:pt x="0" y="18213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21307"/>
                  </a:lnTo>
                  <a:lnTo>
                    <a:pt x="16891" y="1821307"/>
                  </a:lnTo>
                  <a:lnTo>
                    <a:pt x="16891" y="1804416"/>
                  </a:lnTo>
                  <a:lnTo>
                    <a:pt x="211963" y="1804416"/>
                  </a:lnTo>
                  <a:lnTo>
                    <a:pt x="211963" y="1821307"/>
                  </a:lnTo>
                  <a:lnTo>
                    <a:pt x="195072" y="1821307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6446503" y="2657351"/>
            <a:ext cx="1159259" cy="537467"/>
            <a:chOff x="0" y="0"/>
            <a:chExt cx="1545679" cy="71662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511935" cy="682752"/>
            </a:xfrm>
            <a:custGeom>
              <a:avLst/>
              <a:gdLst/>
              <a:ahLst/>
              <a:cxnLst/>
              <a:rect r="r" b="b" t="t" l="l"/>
              <a:pathLst>
                <a:path h="682752" w="1511935">
                  <a:moveTo>
                    <a:pt x="0" y="121920"/>
                  </a:moveTo>
                  <a:cubicBezTo>
                    <a:pt x="0" y="54610"/>
                    <a:pt x="56007" y="0"/>
                    <a:pt x="125222" y="0"/>
                  </a:cubicBezTo>
                  <a:lnTo>
                    <a:pt x="1386713" y="0"/>
                  </a:lnTo>
                  <a:cubicBezTo>
                    <a:pt x="1455801" y="0"/>
                    <a:pt x="1511935" y="54610"/>
                    <a:pt x="1511935" y="121920"/>
                  </a:cubicBezTo>
                  <a:lnTo>
                    <a:pt x="1511935" y="560832"/>
                  </a:lnTo>
                  <a:cubicBezTo>
                    <a:pt x="1511935" y="628142"/>
                    <a:pt x="1455928" y="682752"/>
                    <a:pt x="1386713" y="682752"/>
                  </a:cubicBezTo>
                  <a:lnTo>
                    <a:pt x="125222" y="682752"/>
                  </a:lnTo>
                  <a:cubicBezTo>
                    <a:pt x="56134" y="682752"/>
                    <a:pt x="0" y="628142"/>
                    <a:pt x="0" y="560832"/>
                  </a:cubicBezTo>
                  <a:close/>
                </a:path>
              </a:pathLst>
            </a:custGeom>
            <a:solidFill>
              <a:srgbClr val="F97316">
                <a:alpha val="3922"/>
              </a:srgbClr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45717" cy="716534"/>
            </a:xfrm>
            <a:custGeom>
              <a:avLst/>
              <a:gdLst/>
              <a:ahLst/>
              <a:cxnLst/>
              <a:rect r="r" b="b" t="t" l="l"/>
              <a:pathLst>
                <a:path h="716534" w="1545717">
                  <a:moveTo>
                    <a:pt x="0" y="138811"/>
                  </a:moveTo>
                  <a:cubicBezTo>
                    <a:pt x="0" y="61722"/>
                    <a:pt x="64008" y="0"/>
                    <a:pt x="142113" y="0"/>
                  </a:cubicBezTo>
                  <a:lnTo>
                    <a:pt x="1403604" y="0"/>
                  </a:lnTo>
                  <a:lnTo>
                    <a:pt x="1403604" y="16891"/>
                  </a:lnTo>
                  <a:lnTo>
                    <a:pt x="1403604" y="0"/>
                  </a:lnTo>
                  <a:cubicBezTo>
                    <a:pt x="1481709" y="0"/>
                    <a:pt x="1545717" y="61722"/>
                    <a:pt x="1545717" y="138811"/>
                  </a:cubicBezTo>
                  <a:lnTo>
                    <a:pt x="1528826" y="138811"/>
                  </a:lnTo>
                  <a:lnTo>
                    <a:pt x="1545717" y="138811"/>
                  </a:lnTo>
                  <a:lnTo>
                    <a:pt x="1545717" y="577723"/>
                  </a:lnTo>
                  <a:lnTo>
                    <a:pt x="1528826" y="577723"/>
                  </a:lnTo>
                  <a:lnTo>
                    <a:pt x="1545717" y="577723"/>
                  </a:lnTo>
                  <a:cubicBezTo>
                    <a:pt x="1545717" y="654812"/>
                    <a:pt x="1481709" y="716534"/>
                    <a:pt x="1403604" y="716534"/>
                  </a:cubicBezTo>
                  <a:lnTo>
                    <a:pt x="1403604" y="699643"/>
                  </a:lnTo>
                  <a:lnTo>
                    <a:pt x="1403604" y="716534"/>
                  </a:lnTo>
                  <a:lnTo>
                    <a:pt x="142113" y="716534"/>
                  </a:lnTo>
                  <a:lnTo>
                    <a:pt x="142113" y="699643"/>
                  </a:lnTo>
                  <a:lnTo>
                    <a:pt x="142113" y="716534"/>
                  </a:lnTo>
                  <a:cubicBezTo>
                    <a:pt x="64008" y="716661"/>
                    <a:pt x="0" y="654812"/>
                    <a:pt x="0" y="577723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577723"/>
                  </a:lnTo>
                  <a:lnTo>
                    <a:pt x="16891" y="577723"/>
                  </a:lnTo>
                  <a:lnTo>
                    <a:pt x="33909" y="577723"/>
                  </a:lnTo>
                  <a:cubicBezTo>
                    <a:pt x="33909" y="635254"/>
                    <a:pt x="81915" y="682752"/>
                    <a:pt x="142113" y="682752"/>
                  </a:cubicBezTo>
                  <a:lnTo>
                    <a:pt x="1403604" y="682752"/>
                  </a:lnTo>
                  <a:cubicBezTo>
                    <a:pt x="1463802" y="682752"/>
                    <a:pt x="1511808" y="635381"/>
                    <a:pt x="1511808" y="577723"/>
                  </a:cubicBezTo>
                  <a:lnTo>
                    <a:pt x="1511808" y="138811"/>
                  </a:lnTo>
                  <a:cubicBezTo>
                    <a:pt x="1511808" y="81280"/>
                    <a:pt x="1463802" y="33782"/>
                    <a:pt x="1403604" y="33782"/>
                  </a:cubicBezTo>
                  <a:lnTo>
                    <a:pt x="142113" y="33782"/>
                  </a:lnTo>
                  <a:lnTo>
                    <a:pt x="142113" y="16891"/>
                  </a:lnTo>
                  <a:lnTo>
                    <a:pt x="142113" y="33909"/>
                  </a:lnTo>
                  <a:cubicBezTo>
                    <a:pt x="81915" y="33909"/>
                    <a:pt x="33909" y="81280"/>
                    <a:pt x="33909" y="138938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6459200" y="2670048"/>
            <a:ext cx="1133856" cy="512064"/>
            <a:chOff x="0" y="0"/>
            <a:chExt cx="1511808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11808" cy="682752"/>
            </a:xfrm>
            <a:custGeom>
              <a:avLst/>
              <a:gdLst/>
              <a:ahLst/>
              <a:cxnLst/>
              <a:rect r="r" b="b" t="t" l="l"/>
              <a:pathLst>
                <a:path h="682752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943" t="0" r="-794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51180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MED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04672" y="2432304"/>
            <a:ext cx="7315200" cy="475488"/>
            <a:chOff x="0" y="0"/>
            <a:chExt cx="9753600" cy="63398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753600" cy="633984"/>
            </a:xfrm>
            <a:custGeom>
              <a:avLst/>
              <a:gdLst/>
              <a:ahLst/>
              <a:cxnLst/>
              <a:rect r="r" b="b" t="t" l="l"/>
              <a:pathLst>
                <a:path h="63398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769" r="0" b="-24976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975360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Session + Security State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04672" y="2926080"/>
            <a:ext cx="12435840" cy="402336"/>
            <a:chOff x="0" y="0"/>
            <a:chExt cx="16581120" cy="53644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6581120" cy="536448"/>
            </a:xfrm>
            <a:custGeom>
              <a:avLst/>
              <a:gdLst/>
              <a:ahLst/>
              <a:cxnLst/>
              <a:rect r="r" b="b" t="t" l="l"/>
              <a:pathLst>
                <a:path h="536448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264" r="0" b="-55226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65811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Impact: A server restart clears all abuse-protection state. Not suitable for horizontal scaling or persistent attack scenarios.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04672" y="3291840"/>
            <a:ext cx="15179040" cy="329184"/>
            <a:chOff x="0" y="0"/>
            <a:chExt cx="20238720" cy="43891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0238720" cy="438912"/>
            </a:xfrm>
            <a:custGeom>
              <a:avLst/>
              <a:gdLst/>
              <a:ahLst/>
              <a:cxnLst/>
              <a:rect r="r" b="b" t="t" l="l"/>
              <a:pathLst>
                <a:path h="438912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8476" r="0" b="-84847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02387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8BAFC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Scope: Acceptable for single-process local assignment evaluation.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99367" y="3827783"/>
            <a:ext cx="17289275" cy="1378715"/>
            <a:chOff x="0" y="0"/>
            <a:chExt cx="23052367" cy="183828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23018497" cy="1804416"/>
            </a:xfrm>
            <a:custGeom>
              <a:avLst/>
              <a:gdLst/>
              <a:ahLst/>
              <a:cxnLst/>
              <a:rect r="r" b="b" t="t" l="l"/>
              <a:pathLst>
                <a:path h="1804416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3052278" cy="1838198"/>
            </a:xfrm>
            <a:custGeom>
              <a:avLst/>
              <a:gdLst/>
              <a:ahLst/>
              <a:cxnLst/>
              <a:rect r="r" b="b" t="t" l="l"/>
              <a:pathLst>
                <a:path h="1838198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1821307"/>
                  </a:lnTo>
                  <a:cubicBezTo>
                    <a:pt x="23052278" y="1830705"/>
                    <a:pt x="23044658" y="1838198"/>
                    <a:pt x="23035388" y="1838198"/>
                  </a:cubicBezTo>
                  <a:lnTo>
                    <a:pt x="16891" y="1838198"/>
                  </a:lnTo>
                  <a:cubicBezTo>
                    <a:pt x="7493" y="1838198"/>
                    <a:pt x="0" y="1830578"/>
                    <a:pt x="0" y="18213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21307"/>
                  </a:lnTo>
                  <a:lnTo>
                    <a:pt x="16891" y="1821307"/>
                  </a:lnTo>
                  <a:lnTo>
                    <a:pt x="16891" y="1804416"/>
                  </a:lnTo>
                  <a:lnTo>
                    <a:pt x="23035388" y="1804416"/>
                  </a:lnTo>
                  <a:lnTo>
                    <a:pt x="23035388" y="1821307"/>
                  </a:lnTo>
                  <a:lnTo>
                    <a:pt x="23018497" y="1821307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499367" y="3827783"/>
            <a:ext cx="171707" cy="1378715"/>
            <a:chOff x="0" y="0"/>
            <a:chExt cx="228943" cy="183828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95072" cy="1804416"/>
            </a:xfrm>
            <a:custGeom>
              <a:avLst/>
              <a:gdLst/>
              <a:ahLst/>
              <a:cxnLst/>
              <a:rect r="r" b="b" t="t" l="l"/>
              <a:pathLst>
                <a:path h="1804416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28854" cy="1838198"/>
            </a:xfrm>
            <a:custGeom>
              <a:avLst/>
              <a:gdLst/>
              <a:ahLst/>
              <a:cxnLst/>
              <a:rect r="r" b="b" t="t" l="l"/>
              <a:pathLst>
                <a:path h="1838198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821307"/>
                  </a:lnTo>
                  <a:cubicBezTo>
                    <a:pt x="228854" y="1830705"/>
                    <a:pt x="221234" y="1838198"/>
                    <a:pt x="211963" y="1838198"/>
                  </a:cubicBezTo>
                  <a:lnTo>
                    <a:pt x="16891" y="1838198"/>
                  </a:lnTo>
                  <a:cubicBezTo>
                    <a:pt x="7493" y="1838198"/>
                    <a:pt x="0" y="1830578"/>
                    <a:pt x="0" y="18213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21307"/>
                  </a:lnTo>
                  <a:lnTo>
                    <a:pt x="16891" y="1821307"/>
                  </a:lnTo>
                  <a:lnTo>
                    <a:pt x="16891" y="1804416"/>
                  </a:lnTo>
                  <a:lnTo>
                    <a:pt x="211963" y="1804416"/>
                  </a:lnTo>
                  <a:lnTo>
                    <a:pt x="211963" y="1821307"/>
                  </a:lnTo>
                  <a:lnTo>
                    <a:pt x="195072" y="1821307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6446503" y="4156967"/>
            <a:ext cx="1159259" cy="537467"/>
            <a:chOff x="0" y="0"/>
            <a:chExt cx="1545679" cy="71662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511935" cy="682752"/>
            </a:xfrm>
            <a:custGeom>
              <a:avLst/>
              <a:gdLst/>
              <a:ahLst/>
              <a:cxnLst/>
              <a:rect r="r" b="b" t="t" l="l"/>
              <a:pathLst>
                <a:path h="682752" w="1511935">
                  <a:moveTo>
                    <a:pt x="0" y="121920"/>
                  </a:moveTo>
                  <a:cubicBezTo>
                    <a:pt x="0" y="54610"/>
                    <a:pt x="56007" y="0"/>
                    <a:pt x="125222" y="0"/>
                  </a:cubicBezTo>
                  <a:lnTo>
                    <a:pt x="1386713" y="0"/>
                  </a:lnTo>
                  <a:cubicBezTo>
                    <a:pt x="1455801" y="0"/>
                    <a:pt x="1511935" y="54610"/>
                    <a:pt x="1511935" y="121920"/>
                  </a:cubicBezTo>
                  <a:lnTo>
                    <a:pt x="1511935" y="560832"/>
                  </a:lnTo>
                  <a:cubicBezTo>
                    <a:pt x="1511935" y="628142"/>
                    <a:pt x="1455928" y="682752"/>
                    <a:pt x="1386713" y="682752"/>
                  </a:cubicBezTo>
                  <a:lnTo>
                    <a:pt x="125222" y="682752"/>
                  </a:lnTo>
                  <a:cubicBezTo>
                    <a:pt x="56134" y="682752"/>
                    <a:pt x="0" y="628142"/>
                    <a:pt x="0" y="560832"/>
                  </a:cubicBezTo>
                  <a:close/>
                </a:path>
              </a:pathLst>
            </a:custGeom>
            <a:solidFill>
              <a:srgbClr val="F59E0B">
                <a:alpha val="3922"/>
              </a:srgbClr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545717" cy="716534"/>
            </a:xfrm>
            <a:custGeom>
              <a:avLst/>
              <a:gdLst/>
              <a:ahLst/>
              <a:cxnLst/>
              <a:rect r="r" b="b" t="t" l="l"/>
              <a:pathLst>
                <a:path h="716534" w="1545717">
                  <a:moveTo>
                    <a:pt x="0" y="138811"/>
                  </a:moveTo>
                  <a:cubicBezTo>
                    <a:pt x="0" y="61722"/>
                    <a:pt x="64008" y="0"/>
                    <a:pt x="142113" y="0"/>
                  </a:cubicBezTo>
                  <a:lnTo>
                    <a:pt x="1403604" y="0"/>
                  </a:lnTo>
                  <a:lnTo>
                    <a:pt x="1403604" y="16891"/>
                  </a:lnTo>
                  <a:lnTo>
                    <a:pt x="1403604" y="0"/>
                  </a:lnTo>
                  <a:cubicBezTo>
                    <a:pt x="1481709" y="0"/>
                    <a:pt x="1545717" y="61722"/>
                    <a:pt x="1545717" y="138811"/>
                  </a:cubicBezTo>
                  <a:lnTo>
                    <a:pt x="1528826" y="138811"/>
                  </a:lnTo>
                  <a:lnTo>
                    <a:pt x="1545717" y="138811"/>
                  </a:lnTo>
                  <a:lnTo>
                    <a:pt x="1545717" y="577723"/>
                  </a:lnTo>
                  <a:lnTo>
                    <a:pt x="1528826" y="577723"/>
                  </a:lnTo>
                  <a:lnTo>
                    <a:pt x="1545717" y="577723"/>
                  </a:lnTo>
                  <a:cubicBezTo>
                    <a:pt x="1545717" y="654812"/>
                    <a:pt x="1481709" y="716534"/>
                    <a:pt x="1403604" y="716534"/>
                  </a:cubicBezTo>
                  <a:lnTo>
                    <a:pt x="1403604" y="699643"/>
                  </a:lnTo>
                  <a:lnTo>
                    <a:pt x="1403604" y="716534"/>
                  </a:lnTo>
                  <a:lnTo>
                    <a:pt x="142113" y="716534"/>
                  </a:lnTo>
                  <a:lnTo>
                    <a:pt x="142113" y="699643"/>
                  </a:lnTo>
                  <a:lnTo>
                    <a:pt x="142113" y="716534"/>
                  </a:lnTo>
                  <a:cubicBezTo>
                    <a:pt x="64008" y="716661"/>
                    <a:pt x="0" y="654812"/>
                    <a:pt x="0" y="577723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577723"/>
                  </a:lnTo>
                  <a:lnTo>
                    <a:pt x="16891" y="577723"/>
                  </a:lnTo>
                  <a:lnTo>
                    <a:pt x="33909" y="577723"/>
                  </a:lnTo>
                  <a:cubicBezTo>
                    <a:pt x="33909" y="635254"/>
                    <a:pt x="81915" y="682752"/>
                    <a:pt x="142113" y="682752"/>
                  </a:cubicBezTo>
                  <a:lnTo>
                    <a:pt x="1403604" y="682752"/>
                  </a:lnTo>
                  <a:cubicBezTo>
                    <a:pt x="1463802" y="682752"/>
                    <a:pt x="1511808" y="635381"/>
                    <a:pt x="1511808" y="577723"/>
                  </a:cubicBezTo>
                  <a:lnTo>
                    <a:pt x="1511808" y="138811"/>
                  </a:lnTo>
                  <a:cubicBezTo>
                    <a:pt x="1511808" y="81280"/>
                    <a:pt x="1463802" y="33782"/>
                    <a:pt x="1403604" y="33782"/>
                  </a:cubicBezTo>
                  <a:lnTo>
                    <a:pt x="142113" y="33782"/>
                  </a:lnTo>
                  <a:lnTo>
                    <a:pt x="142113" y="16891"/>
                  </a:lnTo>
                  <a:lnTo>
                    <a:pt x="142113" y="33909"/>
                  </a:lnTo>
                  <a:cubicBezTo>
                    <a:pt x="81915" y="33909"/>
                    <a:pt x="33909" y="81280"/>
                    <a:pt x="33909" y="138938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6459200" y="4169664"/>
            <a:ext cx="1133856" cy="512064"/>
            <a:chOff x="0" y="0"/>
            <a:chExt cx="1511808" cy="68275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511808" cy="682752"/>
            </a:xfrm>
            <a:custGeom>
              <a:avLst/>
              <a:gdLst/>
              <a:ahLst/>
              <a:cxnLst/>
              <a:rect r="r" b="b" t="t" l="l"/>
              <a:pathLst>
                <a:path h="682752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943" t="0" r="-794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51180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LOW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04672" y="3931920"/>
            <a:ext cx="7315200" cy="475488"/>
            <a:chOff x="0" y="0"/>
            <a:chExt cx="9753600" cy="63398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753600" cy="633984"/>
            </a:xfrm>
            <a:custGeom>
              <a:avLst/>
              <a:gdLst/>
              <a:ahLst/>
              <a:cxnLst/>
              <a:rect r="r" b="b" t="t" l="l"/>
              <a:pathLst>
                <a:path h="63398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769" r="0" b="-24976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975360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Token SUB Storage Helper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04672" y="4425696"/>
            <a:ext cx="12435840" cy="402336"/>
            <a:chOff x="0" y="0"/>
            <a:chExt cx="16581120" cy="53644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6581120" cy="536448"/>
            </a:xfrm>
            <a:custGeom>
              <a:avLst/>
              <a:gdLst/>
              <a:ahLst/>
              <a:cxnLst/>
              <a:rect r="r" b="b" t="t" l="l"/>
              <a:pathLst>
                <a:path h="536448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264" r="0" b="-55226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65811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Impact: Plain token visibility in DB is a minor credential hygiene issue in a controlled local setup.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04672" y="4791456"/>
            <a:ext cx="15179040" cy="329184"/>
            <a:chOff x="0" y="0"/>
            <a:chExt cx="20238720" cy="43891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0238720" cy="438912"/>
            </a:xfrm>
            <a:custGeom>
              <a:avLst/>
              <a:gdLst/>
              <a:ahLst/>
              <a:cxnLst/>
              <a:rect r="r" b="b" t="t" l="l"/>
              <a:pathLst>
                <a:path h="438912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8476" r="0" b="-84847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202387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8BAFC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Scope: Does not affect MAIN token security; inner_tokens table still uses PBKDF2 hashing.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499367" y="5327399"/>
            <a:ext cx="17289275" cy="1378715"/>
            <a:chOff x="0" y="0"/>
            <a:chExt cx="23052367" cy="183828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23018497" cy="1804416"/>
            </a:xfrm>
            <a:custGeom>
              <a:avLst/>
              <a:gdLst/>
              <a:ahLst/>
              <a:cxnLst/>
              <a:rect r="r" b="b" t="t" l="l"/>
              <a:pathLst>
                <a:path h="1804416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3052278" cy="1838198"/>
            </a:xfrm>
            <a:custGeom>
              <a:avLst/>
              <a:gdLst/>
              <a:ahLst/>
              <a:cxnLst/>
              <a:rect r="r" b="b" t="t" l="l"/>
              <a:pathLst>
                <a:path h="1838198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1821307"/>
                  </a:lnTo>
                  <a:cubicBezTo>
                    <a:pt x="23052278" y="1830705"/>
                    <a:pt x="23044658" y="1838198"/>
                    <a:pt x="23035388" y="1838198"/>
                  </a:cubicBezTo>
                  <a:lnTo>
                    <a:pt x="16891" y="1838198"/>
                  </a:lnTo>
                  <a:cubicBezTo>
                    <a:pt x="7493" y="1838198"/>
                    <a:pt x="0" y="1830578"/>
                    <a:pt x="0" y="18213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21307"/>
                  </a:lnTo>
                  <a:lnTo>
                    <a:pt x="16891" y="1821307"/>
                  </a:lnTo>
                  <a:lnTo>
                    <a:pt x="16891" y="1804416"/>
                  </a:lnTo>
                  <a:lnTo>
                    <a:pt x="23035388" y="1804416"/>
                  </a:lnTo>
                  <a:lnTo>
                    <a:pt x="23035388" y="1821307"/>
                  </a:lnTo>
                  <a:lnTo>
                    <a:pt x="23018497" y="1821307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499367" y="5327399"/>
            <a:ext cx="171707" cy="1378715"/>
            <a:chOff x="0" y="0"/>
            <a:chExt cx="228943" cy="1838287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195072" cy="1804416"/>
            </a:xfrm>
            <a:custGeom>
              <a:avLst/>
              <a:gdLst/>
              <a:ahLst/>
              <a:cxnLst/>
              <a:rect r="r" b="b" t="t" l="l"/>
              <a:pathLst>
                <a:path h="1804416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28854" cy="1838198"/>
            </a:xfrm>
            <a:custGeom>
              <a:avLst/>
              <a:gdLst/>
              <a:ahLst/>
              <a:cxnLst/>
              <a:rect r="r" b="b" t="t" l="l"/>
              <a:pathLst>
                <a:path h="1838198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821307"/>
                  </a:lnTo>
                  <a:cubicBezTo>
                    <a:pt x="228854" y="1830705"/>
                    <a:pt x="221234" y="1838198"/>
                    <a:pt x="211963" y="1838198"/>
                  </a:cubicBezTo>
                  <a:lnTo>
                    <a:pt x="16891" y="1838198"/>
                  </a:lnTo>
                  <a:cubicBezTo>
                    <a:pt x="7493" y="1838198"/>
                    <a:pt x="0" y="1830578"/>
                    <a:pt x="0" y="18213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21307"/>
                  </a:lnTo>
                  <a:lnTo>
                    <a:pt x="16891" y="1821307"/>
                  </a:lnTo>
                  <a:lnTo>
                    <a:pt x="16891" y="1804416"/>
                  </a:lnTo>
                  <a:lnTo>
                    <a:pt x="211963" y="1804416"/>
                  </a:lnTo>
                  <a:lnTo>
                    <a:pt x="211963" y="1821307"/>
                  </a:lnTo>
                  <a:lnTo>
                    <a:pt x="195072" y="1821307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6446503" y="5656583"/>
            <a:ext cx="1159259" cy="537467"/>
            <a:chOff x="0" y="0"/>
            <a:chExt cx="1545679" cy="71662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1511935" cy="682752"/>
            </a:xfrm>
            <a:custGeom>
              <a:avLst/>
              <a:gdLst/>
              <a:ahLst/>
              <a:cxnLst/>
              <a:rect r="r" b="b" t="t" l="l"/>
              <a:pathLst>
                <a:path h="682752" w="1511935">
                  <a:moveTo>
                    <a:pt x="0" y="121920"/>
                  </a:moveTo>
                  <a:cubicBezTo>
                    <a:pt x="0" y="54610"/>
                    <a:pt x="56007" y="0"/>
                    <a:pt x="125222" y="0"/>
                  </a:cubicBezTo>
                  <a:lnTo>
                    <a:pt x="1386713" y="0"/>
                  </a:lnTo>
                  <a:cubicBezTo>
                    <a:pt x="1455801" y="0"/>
                    <a:pt x="1511935" y="54610"/>
                    <a:pt x="1511935" y="121920"/>
                  </a:cubicBezTo>
                  <a:lnTo>
                    <a:pt x="1511935" y="560832"/>
                  </a:lnTo>
                  <a:cubicBezTo>
                    <a:pt x="1511935" y="628142"/>
                    <a:pt x="1455928" y="682752"/>
                    <a:pt x="1386713" y="682752"/>
                  </a:cubicBezTo>
                  <a:lnTo>
                    <a:pt x="125222" y="682752"/>
                  </a:lnTo>
                  <a:cubicBezTo>
                    <a:pt x="56134" y="682752"/>
                    <a:pt x="0" y="628142"/>
                    <a:pt x="0" y="560832"/>
                  </a:cubicBezTo>
                  <a:close/>
                </a:path>
              </a:pathLst>
            </a:custGeom>
            <a:solidFill>
              <a:srgbClr val="F97316">
                <a:alpha val="3922"/>
              </a:srgbClr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545717" cy="716534"/>
            </a:xfrm>
            <a:custGeom>
              <a:avLst/>
              <a:gdLst/>
              <a:ahLst/>
              <a:cxnLst/>
              <a:rect r="r" b="b" t="t" l="l"/>
              <a:pathLst>
                <a:path h="716534" w="1545717">
                  <a:moveTo>
                    <a:pt x="0" y="138811"/>
                  </a:moveTo>
                  <a:cubicBezTo>
                    <a:pt x="0" y="61722"/>
                    <a:pt x="64008" y="0"/>
                    <a:pt x="142113" y="0"/>
                  </a:cubicBezTo>
                  <a:lnTo>
                    <a:pt x="1403604" y="0"/>
                  </a:lnTo>
                  <a:lnTo>
                    <a:pt x="1403604" y="16891"/>
                  </a:lnTo>
                  <a:lnTo>
                    <a:pt x="1403604" y="0"/>
                  </a:lnTo>
                  <a:cubicBezTo>
                    <a:pt x="1481709" y="0"/>
                    <a:pt x="1545717" y="61722"/>
                    <a:pt x="1545717" y="138811"/>
                  </a:cubicBezTo>
                  <a:lnTo>
                    <a:pt x="1528826" y="138811"/>
                  </a:lnTo>
                  <a:lnTo>
                    <a:pt x="1545717" y="138811"/>
                  </a:lnTo>
                  <a:lnTo>
                    <a:pt x="1545717" y="577723"/>
                  </a:lnTo>
                  <a:lnTo>
                    <a:pt x="1528826" y="577723"/>
                  </a:lnTo>
                  <a:lnTo>
                    <a:pt x="1545717" y="577723"/>
                  </a:lnTo>
                  <a:cubicBezTo>
                    <a:pt x="1545717" y="654812"/>
                    <a:pt x="1481709" y="716534"/>
                    <a:pt x="1403604" y="716534"/>
                  </a:cubicBezTo>
                  <a:lnTo>
                    <a:pt x="1403604" y="699643"/>
                  </a:lnTo>
                  <a:lnTo>
                    <a:pt x="1403604" y="716534"/>
                  </a:lnTo>
                  <a:lnTo>
                    <a:pt x="142113" y="716534"/>
                  </a:lnTo>
                  <a:lnTo>
                    <a:pt x="142113" y="699643"/>
                  </a:lnTo>
                  <a:lnTo>
                    <a:pt x="142113" y="716534"/>
                  </a:lnTo>
                  <a:cubicBezTo>
                    <a:pt x="64008" y="716661"/>
                    <a:pt x="0" y="654812"/>
                    <a:pt x="0" y="577723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577723"/>
                  </a:lnTo>
                  <a:lnTo>
                    <a:pt x="16891" y="577723"/>
                  </a:lnTo>
                  <a:lnTo>
                    <a:pt x="33909" y="577723"/>
                  </a:lnTo>
                  <a:cubicBezTo>
                    <a:pt x="33909" y="635254"/>
                    <a:pt x="81915" y="682752"/>
                    <a:pt x="142113" y="682752"/>
                  </a:cubicBezTo>
                  <a:lnTo>
                    <a:pt x="1403604" y="682752"/>
                  </a:lnTo>
                  <a:cubicBezTo>
                    <a:pt x="1463802" y="682752"/>
                    <a:pt x="1511808" y="635381"/>
                    <a:pt x="1511808" y="577723"/>
                  </a:cubicBezTo>
                  <a:lnTo>
                    <a:pt x="1511808" y="138811"/>
                  </a:lnTo>
                  <a:cubicBezTo>
                    <a:pt x="1511808" y="81280"/>
                    <a:pt x="1463802" y="33782"/>
                    <a:pt x="1403604" y="33782"/>
                  </a:cubicBezTo>
                  <a:lnTo>
                    <a:pt x="142113" y="33782"/>
                  </a:lnTo>
                  <a:lnTo>
                    <a:pt x="142113" y="16891"/>
                  </a:lnTo>
                  <a:lnTo>
                    <a:pt x="142113" y="33909"/>
                  </a:lnTo>
                  <a:cubicBezTo>
                    <a:pt x="81915" y="33909"/>
                    <a:pt x="33909" y="81280"/>
                    <a:pt x="33909" y="138938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6459200" y="5669280"/>
            <a:ext cx="1133856" cy="512064"/>
            <a:chOff x="0" y="0"/>
            <a:chExt cx="1511808" cy="68275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511808" cy="682752"/>
            </a:xfrm>
            <a:custGeom>
              <a:avLst/>
              <a:gdLst/>
              <a:ahLst/>
              <a:cxnLst/>
              <a:rect r="r" b="b" t="t" l="l"/>
              <a:pathLst>
                <a:path h="682752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943" t="0" r="-7943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151180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MED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804672" y="5431536"/>
            <a:ext cx="7315200" cy="475488"/>
            <a:chOff x="0" y="0"/>
            <a:chExt cx="9753600" cy="63398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753600" cy="633984"/>
            </a:xfrm>
            <a:custGeom>
              <a:avLst/>
              <a:gdLst/>
              <a:ahLst/>
              <a:cxnLst/>
              <a:rect r="r" b="b" t="t" l="l"/>
              <a:pathLst>
                <a:path h="63398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769" r="0" b="-249769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975360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File Content Validation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804672" y="5925312"/>
            <a:ext cx="12435840" cy="402336"/>
            <a:chOff x="0" y="0"/>
            <a:chExt cx="16581120" cy="53644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6581120" cy="536448"/>
            </a:xfrm>
            <a:custGeom>
              <a:avLst/>
              <a:gdLst/>
              <a:ahLst/>
              <a:cxnLst/>
              <a:rect r="r" b="b" t="t" l="l"/>
              <a:pathLst>
                <a:path h="536448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264" r="0" b="-552264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165811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Impact: Deeper malware scanning, content policy enforcement, or quarantine pipeline is absent.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804672" y="6291072"/>
            <a:ext cx="15179040" cy="329184"/>
            <a:chOff x="0" y="0"/>
            <a:chExt cx="20238720" cy="43891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0238720" cy="438912"/>
            </a:xfrm>
            <a:custGeom>
              <a:avLst/>
              <a:gdLst/>
              <a:ahLst/>
              <a:cxnLst/>
              <a:rect r="r" b="b" t="t" l="l"/>
              <a:pathLst>
                <a:path h="438912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8476" r="0" b="-848476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202387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8BAFC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Scope: MIME check + size limit is appropriate for the file-sharing scope of this submission.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499367" y="6827015"/>
            <a:ext cx="17289275" cy="1378715"/>
            <a:chOff x="0" y="0"/>
            <a:chExt cx="23052367" cy="1838287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23018497" cy="1804416"/>
            </a:xfrm>
            <a:custGeom>
              <a:avLst/>
              <a:gdLst/>
              <a:ahLst/>
              <a:cxnLst/>
              <a:rect r="r" b="b" t="t" l="l"/>
              <a:pathLst>
                <a:path h="1804416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3052278" cy="1838198"/>
            </a:xfrm>
            <a:custGeom>
              <a:avLst/>
              <a:gdLst/>
              <a:ahLst/>
              <a:cxnLst/>
              <a:rect r="r" b="b" t="t" l="l"/>
              <a:pathLst>
                <a:path h="1838198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1821307"/>
                  </a:lnTo>
                  <a:cubicBezTo>
                    <a:pt x="23052278" y="1830705"/>
                    <a:pt x="23044658" y="1838198"/>
                    <a:pt x="23035388" y="1838198"/>
                  </a:cubicBezTo>
                  <a:lnTo>
                    <a:pt x="16891" y="1838198"/>
                  </a:lnTo>
                  <a:cubicBezTo>
                    <a:pt x="7493" y="1838198"/>
                    <a:pt x="0" y="1830578"/>
                    <a:pt x="0" y="18213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21307"/>
                  </a:lnTo>
                  <a:lnTo>
                    <a:pt x="16891" y="1821307"/>
                  </a:lnTo>
                  <a:lnTo>
                    <a:pt x="16891" y="1804416"/>
                  </a:lnTo>
                  <a:lnTo>
                    <a:pt x="23035388" y="1804416"/>
                  </a:lnTo>
                  <a:lnTo>
                    <a:pt x="23035388" y="1821307"/>
                  </a:lnTo>
                  <a:lnTo>
                    <a:pt x="23018497" y="1821307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499367" y="6827015"/>
            <a:ext cx="171707" cy="1378715"/>
            <a:chOff x="0" y="0"/>
            <a:chExt cx="228943" cy="183828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195072" cy="1804416"/>
            </a:xfrm>
            <a:custGeom>
              <a:avLst/>
              <a:gdLst/>
              <a:ahLst/>
              <a:cxnLst/>
              <a:rect r="r" b="b" t="t" l="l"/>
              <a:pathLst>
                <a:path h="1804416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28854" cy="1838198"/>
            </a:xfrm>
            <a:custGeom>
              <a:avLst/>
              <a:gdLst/>
              <a:ahLst/>
              <a:cxnLst/>
              <a:rect r="r" b="b" t="t" l="l"/>
              <a:pathLst>
                <a:path h="1838198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821307"/>
                  </a:lnTo>
                  <a:cubicBezTo>
                    <a:pt x="228854" y="1830705"/>
                    <a:pt x="221234" y="1838198"/>
                    <a:pt x="211963" y="1838198"/>
                  </a:cubicBezTo>
                  <a:lnTo>
                    <a:pt x="16891" y="1838198"/>
                  </a:lnTo>
                  <a:cubicBezTo>
                    <a:pt x="7493" y="1838198"/>
                    <a:pt x="0" y="1830578"/>
                    <a:pt x="0" y="18213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21307"/>
                  </a:lnTo>
                  <a:lnTo>
                    <a:pt x="16891" y="1821307"/>
                  </a:lnTo>
                  <a:lnTo>
                    <a:pt x="16891" y="1804416"/>
                  </a:lnTo>
                  <a:lnTo>
                    <a:pt x="211963" y="1804416"/>
                  </a:lnTo>
                  <a:lnTo>
                    <a:pt x="211963" y="1821307"/>
                  </a:lnTo>
                  <a:lnTo>
                    <a:pt x="195072" y="1821307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6446503" y="7156199"/>
            <a:ext cx="1159259" cy="537467"/>
            <a:chOff x="0" y="0"/>
            <a:chExt cx="1545679" cy="716623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1511935" cy="682752"/>
            </a:xfrm>
            <a:custGeom>
              <a:avLst/>
              <a:gdLst/>
              <a:ahLst/>
              <a:cxnLst/>
              <a:rect r="r" b="b" t="t" l="l"/>
              <a:pathLst>
                <a:path h="682752" w="1511935">
                  <a:moveTo>
                    <a:pt x="0" y="121920"/>
                  </a:moveTo>
                  <a:cubicBezTo>
                    <a:pt x="0" y="54610"/>
                    <a:pt x="56007" y="0"/>
                    <a:pt x="125222" y="0"/>
                  </a:cubicBezTo>
                  <a:lnTo>
                    <a:pt x="1386713" y="0"/>
                  </a:lnTo>
                  <a:cubicBezTo>
                    <a:pt x="1455801" y="0"/>
                    <a:pt x="1511935" y="54610"/>
                    <a:pt x="1511935" y="121920"/>
                  </a:cubicBezTo>
                  <a:lnTo>
                    <a:pt x="1511935" y="560832"/>
                  </a:lnTo>
                  <a:cubicBezTo>
                    <a:pt x="1511935" y="628142"/>
                    <a:pt x="1455928" y="682752"/>
                    <a:pt x="1386713" y="682752"/>
                  </a:cubicBezTo>
                  <a:lnTo>
                    <a:pt x="125222" y="682752"/>
                  </a:lnTo>
                  <a:cubicBezTo>
                    <a:pt x="56134" y="682752"/>
                    <a:pt x="0" y="628142"/>
                    <a:pt x="0" y="560832"/>
                  </a:cubicBezTo>
                  <a:close/>
                </a:path>
              </a:pathLst>
            </a:custGeom>
            <a:solidFill>
              <a:srgbClr val="06B6C8">
                <a:alpha val="3922"/>
              </a:srgbClr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545717" cy="716534"/>
            </a:xfrm>
            <a:custGeom>
              <a:avLst/>
              <a:gdLst/>
              <a:ahLst/>
              <a:cxnLst/>
              <a:rect r="r" b="b" t="t" l="l"/>
              <a:pathLst>
                <a:path h="716534" w="1545717">
                  <a:moveTo>
                    <a:pt x="0" y="138811"/>
                  </a:moveTo>
                  <a:cubicBezTo>
                    <a:pt x="0" y="61722"/>
                    <a:pt x="64008" y="0"/>
                    <a:pt x="142113" y="0"/>
                  </a:cubicBezTo>
                  <a:lnTo>
                    <a:pt x="1403604" y="0"/>
                  </a:lnTo>
                  <a:lnTo>
                    <a:pt x="1403604" y="16891"/>
                  </a:lnTo>
                  <a:lnTo>
                    <a:pt x="1403604" y="0"/>
                  </a:lnTo>
                  <a:cubicBezTo>
                    <a:pt x="1481709" y="0"/>
                    <a:pt x="1545717" y="61722"/>
                    <a:pt x="1545717" y="138811"/>
                  </a:cubicBezTo>
                  <a:lnTo>
                    <a:pt x="1528826" y="138811"/>
                  </a:lnTo>
                  <a:lnTo>
                    <a:pt x="1545717" y="138811"/>
                  </a:lnTo>
                  <a:lnTo>
                    <a:pt x="1545717" y="577723"/>
                  </a:lnTo>
                  <a:lnTo>
                    <a:pt x="1528826" y="577723"/>
                  </a:lnTo>
                  <a:lnTo>
                    <a:pt x="1545717" y="577723"/>
                  </a:lnTo>
                  <a:cubicBezTo>
                    <a:pt x="1545717" y="654812"/>
                    <a:pt x="1481709" y="716534"/>
                    <a:pt x="1403604" y="716534"/>
                  </a:cubicBezTo>
                  <a:lnTo>
                    <a:pt x="1403604" y="699643"/>
                  </a:lnTo>
                  <a:lnTo>
                    <a:pt x="1403604" y="716534"/>
                  </a:lnTo>
                  <a:lnTo>
                    <a:pt x="142113" y="716534"/>
                  </a:lnTo>
                  <a:lnTo>
                    <a:pt x="142113" y="699643"/>
                  </a:lnTo>
                  <a:lnTo>
                    <a:pt x="142113" y="716534"/>
                  </a:lnTo>
                  <a:cubicBezTo>
                    <a:pt x="64008" y="716661"/>
                    <a:pt x="0" y="654812"/>
                    <a:pt x="0" y="577723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577723"/>
                  </a:lnTo>
                  <a:lnTo>
                    <a:pt x="16891" y="577723"/>
                  </a:lnTo>
                  <a:lnTo>
                    <a:pt x="33909" y="577723"/>
                  </a:lnTo>
                  <a:cubicBezTo>
                    <a:pt x="33909" y="635254"/>
                    <a:pt x="81915" y="682752"/>
                    <a:pt x="142113" y="682752"/>
                  </a:cubicBezTo>
                  <a:lnTo>
                    <a:pt x="1403604" y="682752"/>
                  </a:lnTo>
                  <a:cubicBezTo>
                    <a:pt x="1463802" y="682752"/>
                    <a:pt x="1511808" y="635381"/>
                    <a:pt x="1511808" y="577723"/>
                  </a:cubicBezTo>
                  <a:lnTo>
                    <a:pt x="1511808" y="138811"/>
                  </a:lnTo>
                  <a:cubicBezTo>
                    <a:pt x="1511808" y="81280"/>
                    <a:pt x="1463802" y="33782"/>
                    <a:pt x="1403604" y="33782"/>
                  </a:cubicBezTo>
                  <a:lnTo>
                    <a:pt x="142113" y="33782"/>
                  </a:lnTo>
                  <a:lnTo>
                    <a:pt x="142113" y="16891"/>
                  </a:lnTo>
                  <a:lnTo>
                    <a:pt x="142113" y="33909"/>
                  </a:lnTo>
                  <a:cubicBezTo>
                    <a:pt x="81915" y="33909"/>
                    <a:pt x="33909" y="81280"/>
                    <a:pt x="33909" y="138938"/>
                  </a:cubicBez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6459200" y="7168896"/>
            <a:ext cx="1133856" cy="512064"/>
            <a:chOff x="0" y="0"/>
            <a:chExt cx="1511808" cy="68275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511808" cy="682752"/>
            </a:xfrm>
            <a:custGeom>
              <a:avLst/>
              <a:gdLst/>
              <a:ahLst/>
              <a:cxnLst/>
              <a:rect r="r" b="b" t="t" l="l"/>
              <a:pathLst>
                <a:path h="682752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943" t="0" r="-7943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151180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LOW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804672" y="6931152"/>
            <a:ext cx="7315200" cy="475488"/>
            <a:chOff x="0" y="0"/>
            <a:chExt cx="9753600" cy="63398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9753600" cy="633984"/>
            </a:xfrm>
            <a:custGeom>
              <a:avLst/>
              <a:gdLst/>
              <a:ahLst/>
              <a:cxnLst/>
              <a:rect r="r" b="b" t="t" l="l"/>
              <a:pathLst>
                <a:path h="63398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769" r="0" b="-249769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47625"/>
              <a:ext cx="975360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A as Simulation Layer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804672" y="7424928"/>
            <a:ext cx="12435840" cy="402336"/>
            <a:chOff x="0" y="0"/>
            <a:chExt cx="16581120" cy="53644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6581120" cy="536448"/>
            </a:xfrm>
            <a:custGeom>
              <a:avLst/>
              <a:gdLst/>
              <a:ahLst/>
              <a:cxnLst/>
              <a:rect r="r" b="b" t="t" l="l"/>
              <a:pathLst>
                <a:path h="536448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264" r="0" b="-552264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165811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Impact: The tree does not serve live queries — it is an assignment-facing index demonstration.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804672" y="7790688"/>
            <a:ext cx="15179040" cy="329184"/>
            <a:chOff x="0" y="0"/>
            <a:chExt cx="20238720" cy="43891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0238720" cy="438912"/>
            </a:xfrm>
            <a:custGeom>
              <a:avLst/>
              <a:gdLst/>
              <a:ahLst/>
              <a:cxnLst/>
              <a:rect r="r" b="b" t="t" l="l"/>
              <a:pathLst>
                <a:path h="438912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8476" r="0" b="-848476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202387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8BAFC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Scope: This is by design. MySQL is the authoritative production data layer.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499367" y="8326631"/>
            <a:ext cx="17289275" cy="1378715"/>
            <a:chOff x="0" y="0"/>
            <a:chExt cx="23052367" cy="1838287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23018497" cy="1804416"/>
            </a:xfrm>
            <a:custGeom>
              <a:avLst/>
              <a:gdLst/>
              <a:ahLst/>
              <a:cxnLst/>
              <a:rect r="r" b="b" t="t" l="l"/>
              <a:pathLst>
                <a:path h="1804416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3052278" cy="1838198"/>
            </a:xfrm>
            <a:custGeom>
              <a:avLst/>
              <a:gdLst/>
              <a:ahLst/>
              <a:cxnLst/>
              <a:rect r="r" b="b" t="t" l="l"/>
              <a:pathLst>
                <a:path h="1838198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1821307"/>
                  </a:lnTo>
                  <a:cubicBezTo>
                    <a:pt x="23052278" y="1830705"/>
                    <a:pt x="23044658" y="1838198"/>
                    <a:pt x="23035388" y="1838198"/>
                  </a:cubicBezTo>
                  <a:lnTo>
                    <a:pt x="16891" y="1838198"/>
                  </a:lnTo>
                  <a:cubicBezTo>
                    <a:pt x="7493" y="1838198"/>
                    <a:pt x="0" y="1830578"/>
                    <a:pt x="0" y="18213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21307"/>
                  </a:lnTo>
                  <a:lnTo>
                    <a:pt x="16891" y="1821307"/>
                  </a:lnTo>
                  <a:lnTo>
                    <a:pt x="16891" y="1804416"/>
                  </a:lnTo>
                  <a:lnTo>
                    <a:pt x="23035388" y="1804416"/>
                  </a:lnTo>
                  <a:lnTo>
                    <a:pt x="23035388" y="1821307"/>
                  </a:lnTo>
                  <a:lnTo>
                    <a:pt x="23018497" y="1821307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499367" y="8326631"/>
            <a:ext cx="171707" cy="1378715"/>
            <a:chOff x="0" y="0"/>
            <a:chExt cx="228943" cy="1838287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6891" y="16891"/>
              <a:ext cx="195072" cy="1804416"/>
            </a:xfrm>
            <a:custGeom>
              <a:avLst/>
              <a:gdLst/>
              <a:ahLst/>
              <a:cxnLst/>
              <a:rect r="r" b="b" t="t" l="l"/>
              <a:pathLst>
                <a:path h="1804416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8BAFC7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28854" cy="1838198"/>
            </a:xfrm>
            <a:custGeom>
              <a:avLst/>
              <a:gdLst/>
              <a:ahLst/>
              <a:cxnLst/>
              <a:rect r="r" b="b" t="t" l="l"/>
              <a:pathLst>
                <a:path h="1838198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821307"/>
                  </a:lnTo>
                  <a:cubicBezTo>
                    <a:pt x="228854" y="1830705"/>
                    <a:pt x="221234" y="1838198"/>
                    <a:pt x="211963" y="1838198"/>
                  </a:cubicBezTo>
                  <a:lnTo>
                    <a:pt x="16891" y="1838198"/>
                  </a:lnTo>
                  <a:cubicBezTo>
                    <a:pt x="7493" y="1838198"/>
                    <a:pt x="0" y="1830578"/>
                    <a:pt x="0" y="18213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21307"/>
                  </a:lnTo>
                  <a:lnTo>
                    <a:pt x="16891" y="1821307"/>
                  </a:lnTo>
                  <a:lnTo>
                    <a:pt x="16891" y="1804416"/>
                  </a:lnTo>
                  <a:lnTo>
                    <a:pt x="211963" y="1804416"/>
                  </a:lnTo>
                  <a:lnTo>
                    <a:pt x="211963" y="1821307"/>
                  </a:lnTo>
                  <a:lnTo>
                    <a:pt x="195072" y="1821307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6446503" y="8655815"/>
            <a:ext cx="1159259" cy="537467"/>
            <a:chOff x="0" y="0"/>
            <a:chExt cx="1545679" cy="716623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1511935" cy="682752"/>
            </a:xfrm>
            <a:custGeom>
              <a:avLst/>
              <a:gdLst/>
              <a:ahLst/>
              <a:cxnLst/>
              <a:rect r="r" b="b" t="t" l="l"/>
              <a:pathLst>
                <a:path h="682752" w="1511935">
                  <a:moveTo>
                    <a:pt x="0" y="121920"/>
                  </a:moveTo>
                  <a:cubicBezTo>
                    <a:pt x="0" y="54610"/>
                    <a:pt x="56007" y="0"/>
                    <a:pt x="125222" y="0"/>
                  </a:cubicBezTo>
                  <a:lnTo>
                    <a:pt x="1386713" y="0"/>
                  </a:lnTo>
                  <a:cubicBezTo>
                    <a:pt x="1455801" y="0"/>
                    <a:pt x="1511935" y="54610"/>
                    <a:pt x="1511935" y="121920"/>
                  </a:cubicBezTo>
                  <a:lnTo>
                    <a:pt x="1511935" y="560832"/>
                  </a:lnTo>
                  <a:cubicBezTo>
                    <a:pt x="1511935" y="628142"/>
                    <a:pt x="1455928" y="682752"/>
                    <a:pt x="1386713" y="682752"/>
                  </a:cubicBezTo>
                  <a:lnTo>
                    <a:pt x="125222" y="682752"/>
                  </a:lnTo>
                  <a:cubicBezTo>
                    <a:pt x="56134" y="682752"/>
                    <a:pt x="0" y="628142"/>
                    <a:pt x="0" y="560832"/>
                  </a:cubicBezTo>
                  <a:close/>
                </a:path>
              </a:pathLst>
            </a:custGeom>
            <a:solidFill>
              <a:srgbClr val="8BAFC7">
                <a:alpha val="3922"/>
              </a:srgbClr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545717" cy="716534"/>
            </a:xfrm>
            <a:custGeom>
              <a:avLst/>
              <a:gdLst/>
              <a:ahLst/>
              <a:cxnLst/>
              <a:rect r="r" b="b" t="t" l="l"/>
              <a:pathLst>
                <a:path h="716534" w="1545717">
                  <a:moveTo>
                    <a:pt x="0" y="138811"/>
                  </a:moveTo>
                  <a:cubicBezTo>
                    <a:pt x="0" y="61722"/>
                    <a:pt x="64008" y="0"/>
                    <a:pt x="142113" y="0"/>
                  </a:cubicBezTo>
                  <a:lnTo>
                    <a:pt x="1403604" y="0"/>
                  </a:lnTo>
                  <a:lnTo>
                    <a:pt x="1403604" y="16891"/>
                  </a:lnTo>
                  <a:lnTo>
                    <a:pt x="1403604" y="0"/>
                  </a:lnTo>
                  <a:cubicBezTo>
                    <a:pt x="1481709" y="0"/>
                    <a:pt x="1545717" y="61722"/>
                    <a:pt x="1545717" y="138811"/>
                  </a:cubicBezTo>
                  <a:lnTo>
                    <a:pt x="1528826" y="138811"/>
                  </a:lnTo>
                  <a:lnTo>
                    <a:pt x="1545717" y="138811"/>
                  </a:lnTo>
                  <a:lnTo>
                    <a:pt x="1545717" y="577723"/>
                  </a:lnTo>
                  <a:lnTo>
                    <a:pt x="1528826" y="577723"/>
                  </a:lnTo>
                  <a:lnTo>
                    <a:pt x="1545717" y="577723"/>
                  </a:lnTo>
                  <a:cubicBezTo>
                    <a:pt x="1545717" y="654812"/>
                    <a:pt x="1481709" y="716534"/>
                    <a:pt x="1403604" y="716534"/>
                  </a:cubicBezTo>
                  <a:lnTo>
                    <a:pt x="1403604" y="699643"/>
                  </a:lnTo>
                  <a:lnTo>
                    <a:pt x="1403604" y="716534"/>
                  </a:lnTo>
                  <a:lnTo>
                    <a:pt x="142113" y="716534"/>
                  </a:lnTo>
                  <a:lnTo>
                    <a:pt x="142113" y="699643"/>
                  </a:lnTo>
                  <a:lnTo>
                    <a:pt x="142113" y="716534"/>
                  </a:lnTo>
                  <a:cubicBezTo>
                    <a:pt x="64008" y="716661"/>
                    <a:pt x="0" y="654812"/>
                    <a:pt x="0" y="577723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577723"/>
                  </a:lnTo>
                  <a:lnTo>
                    <a:pt x="16891" y="577723"/>
                  </a:lnTo>
                  <a:lnTo>
                    <a:pt x="33909" y="577723"/>
                  </a:lnTo>
                  <a:cubicBezTo>
                    <a:pt x="33909" y="635254"/>
                    <a:pt x="81915" y="682752"/>
                    <a:pt x="142113" y="682752"/>
                  </a:cubicBezTo>
                  <a:lnTo>
                    <a:pt x="1403604" y="682752"/>
                  </a:lnTo>
                  <a:cubicBezTo>
                    <a:pt x="1463802" y="682752"/>
                    <a:pt x="1511808" y="635381"/>
                    <a:pt x="1511808" y="577723"/>
                  </a:cubicBezTo>
                  <a:lnTo>
                    <a:pt x="1511808" y="138811"/>
                  </a:lnTo>
                  <a:cubicBezTo>
                    <a:pt x="1511808" y="81280"/>
                    <a:pt x="1463802" y="33782"/>
                    <a:pt x="1403604" y="33782"/>
                  </a:cubicBezTo>
                  <a:lnTo>
                    <a:pt x="142113" y="33782"/>
                  </a:lnTo>
                  <a:lnTo>
                    <a:pt x="142113" y="16891"/>
                  </a:lnTo>
                  <a:lnTo>
                    <a:pt x="142113" y="33909"/>
                  </a:lnTo>
                  <a:cubicBezTo>
                    <a:pt x="81915" y="33909"/>
                    <a:pt x="33909" y="81280"/>
                    <a:pt x="33909" y="138938"/>
                  </a:cubicBez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6459200" y="8668512"/>
            <a:ext cx="1133856" cy="512064"/>
            <a:chOff x="0" y="0"/>
            <a:chExt cx="1511808" cy="68275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511808" cy="682752"/>
            </a:xfrm>
            <a:custGeom>
              <a:avLst/>
              <a:gdLst/>
              <a:ahLst/>
              <a:cxnLst/>
              <a:rect r="r" b="b" t="t" l="l"/>
              <a:pathLst>
                <a:path h="682752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943" t="0" r="-7943" b="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151180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8BAFC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INFO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804672" y="8430768"/>
            <a:ext cx="7315200" cy="475488"/>
            <a:chOff x="0" y="0"/>
            <a:chExt cx="9753600" cy="633984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9753600" cy="633984"/>
            </a:xfrm>
            <a:custGeom>
              <a:avLst/>
              <a:gdLst/>
              <a:ahLst/>
              <a:cxnLst/>
              <a:rect r="r" b="b" t="t" l="l"/>
              <a:pathLst>
                <a:path h="63398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769" r="0" b="-249769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47625"/>
              <a:ext cx="975360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8BAFC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Drive Credentials Optional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804672" y="8924544"/>
            <a:ext cx="12435840" cy="402336"/>
            <a:chOff x="0" y="0"/>
            <a:chExt cx="16581120" cy="536448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6581120" cy="536448"/>
            </a:xfrm>
            <a:custGeom>
              <a:avLst/>
              <a:gdLst/>
              <a:ahLst/>
              <a:cxnLst/>
              <a:rect r="r" b="b" t="t" l="l"/>
              <a:pathLst>
                <a:path h="536448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264" r="0" b="-552264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165811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Impact: File upload/download flows that call Drive will fail without credentials.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804672" y="9290304"/>
            <a:ext cx="15179040" cy="329184"/>
            <a:chOff x="0" y="0"/>
            <a:chExt cx="20238720" cy="438912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0238720" cy="438912"/>
            </a:xfrm>
            <a:custGeom>
              <a:avLst/>
              <a:gdLst/>
              <a:ahLst/>
              <a:cxnLst/>
              <a:rect r="r" b="b" t="t" l="l"/>
              <a:pathLst>
                <a:path h="438912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8476" r="0" b="-848476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202387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8BAFC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Scope: All Module B API evidence is captured without Drive — portfolio CRUD works standalone.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8283"/>
            <a:chOff x="0" y="0"/>
            <a:chExt cx="24417871" cy="2777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2DD4B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7624"/>
            </a:xfrm>
            <a:custGeom>
              <a:avLst/>
              <a:gdLst/>
              <a:ahLst/>
              <a:cxnLst/>
              <a:rect r="r" b="b" t="t" l="l"/>
              <a:pathLst>
                <a:path h="27762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0731"/>
                  </a:lnTo>
                  <a:cubicBezTo>
                    <a:pt x="24417782" y="270129"/>
                    <a:pt x="24410163" y="277622"/>
                    <a:pt x="2440089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4400890" y="243840"/>
                  </a:lnTo>
                  <a:lnTo>
                    <a:pt x="24400890" y="260731"/>
                  </a:lnTo>
                  <a:lnTo>
                    <a:pt x="24384000" y="2607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2064" y="274320"/>
            <a:ext cx="17373600" cy="914400"/>
            <a:chOff x="0" y="0"/>
            <a:chExt cx="2316480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64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31648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Future Roadmap — Security · Reliability · Operability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99367" y="1486919"/>
            <a:ext cx="5694683" cy="3957323"/>
            <a:chOff x="0" y="0"/>
            <a:chExt cx="7592911" cy="527643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7559040" cy="5242560"/>
            </a:xfrm>
            <a:custGeom>
              <a:avLst/>
              <a:gdLst/>
              <a:ahLst/>
              <a:cxnLst/>
              <a:rect r="r" b="b" t="t" l="l"/>
              <a:pathLst>
                <a:path h="524256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5242560"/>
                  </a:lnTo>
                  <a:lnTo>
                    <a:pt x="0" y="524256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592822" cy="5276342"/>
            </a:xfrm>
            <a:custGeom>
              <a:avLst/>
              <a:gdLst/>
              <a:ahLst/>
              <a:cxnLst/>
              <a:rect r="r" b="b" t="t" l="l"/>
              <a:pathLst>
                <a:path h="527634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5259451"/>
                  </a:lnTo>
                  <a:cubicBezTo>
                    <a:pt x="7592822" y="5268849"/>
                    <a:pt x="7585202" y="5276342"/>
                    <a:pt x="7575931" y="5276342"/>
                  </a:cubicBezTo>
                  <a:lnTo>
                    <a:pt x="16891" y="5276342"/>
                  </a:lnTo>
                  <a:cubicBezTo>
                    <a:pt x="7493" y="5276342"/>
                    <a:pt x="0" y="5268722"/>
                    <a:pt x="0" y="5259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259451"/>
                  </a:lnTo>
                  <a:lnTo>
                    <a:pt x="16891" y="5259451"/>
                  </a:lnTo>
                  <a:lnTo>
                    <a:pt x="16891" y="5242560"/>
                  </a:lnTo>
                  <a:lnTo>
                    <a:pt x="7575931" y="5242560"/>
                  </a:lnTo>
                  <a:lnTo>
                    <a:pt x="7575931" y="5259451"/>
                  </a:lnTo>
                  <a:lnTo>
                    <a:pt x="7559040" y="525945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99367" y="1486919"/>
            <a:ext cx="5694683" cy="208283"/>
            <a:chOff x="0" y="0"/>
            <a:chExt cx="7592911" cy="2777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7559040" cy="243840"/>
            </a:xfrm>
            <a:custGeom>
              <a:avLst/>
              <a:gdLst/>
              <a:ahLst/>
              <a:cxnLst/>
              <a:rect r="r" b="b" t="t" l="l"/>
              <a:pathLst>
                <a:path h="2438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592822" cy="277624"/>
            </a:xfrm>
            <a:custGeom>
              <a:avLst/>
              <a:gdLst/>
              <a:ahLst/>
              <a:cxnLst/>
              <a:rect r="r" b="b" t="t" l="l"/>
              <a:pathLst>
                <a:path h="277624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260731"/>
                  </a:lnTo>
                  <a:cubicBezTo>
                    <a:pt x="7592822" y="270129"/>
                    <a:pt x="7585202" y="277622"/>
                    <a:pt x="7575931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7575931" y="243840"/>
                  </a:lnTo>
                  <a:lnTo>
                    <a:pt x="7575931" y="260731"/>
                  </a:lnTo>
                  <a:lnTo>
                    <a:pt x="7559040" y="2607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31520" y="1773936"/>
            <a:ext cx="1609344" cy="475488"/>
            <a:chOff x="0" y="0"/>
            <a:chExt cx="2145792" cy="6339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45792" cy="633984"/>
            </a:xfrm>
            <a:custGeom>
              <a:avLst/>
              <a:gdLst/>
              <a:ahLst/>
              <a:cxnLst/>
              <a:rect r="r" b="b" t="t" l="l"/>
              <a:pathLst>
                <a:path h="633984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49" r="0" b="-1594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14579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b="true" sz="1900" spc="399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31520" y="2267712"/>
            <a:ext cx="5266944" cy="640080"/>
            <a:chOff x="0" y="0"/>
            <a:chExt cx="7022592" cy="853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022592" cy="853440"/>
            </a:xfrm>
            <a:custGeom>
              <a:avLst/>
              <a:gdLst/>
              <a:ahLst/>
              <a:cxnLst/>
              <a:rect r="r" b="b" t="t" l="l"/>
              <a:pathLst>
                <a:path h="853440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334" r="0" b="-11033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7022592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Session &amp; State Persistence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31520" y="2999232"/>
            <a:ext cx="5266944" cy="694944"/>
            <a:chOff x="0" y="0"/>
            <a:chExt cx="7022592" cy="9265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22592" cy="926592"/>
            </a:xfrm>
            <a:custGeom>
              <a:avLst/>
              <a:gdLst/>
              <a:ahLst/>
              <a:cxnLst/>
              <a:rect r="r" b="b" t="t" l="l"/>
              <a:pathLst>
                <a:path h="926592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676" r="0" b="-9767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7022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Move rate-limit + CAPTCHA counters to Redis — survives restarts, scales horizontally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31520" y="3767328"/>
            <a:ext cx="5266944" cy="694944"/>
            <a:chOff x="0" y="0"/>
            <a:chExt cx="7022592" cy="9265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22592" cy="926592"/>
            </a:xfrm>
            <a:custGeom>
              <a:avLst/>
              <a:gdLst/>
              <a:ahLst/>
              <a:cxnLst/>
              <a:rect r="r" b="b" t="t" l="l"/>
              <a:pathLst>
                <a:path h="926592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676" r="0" b="-9767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7022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Persistent session store with TTL-backed eviction instead of in-memory map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31520" y="4535424"/>
            <a:ext cx="5266944" cy="694944"/>
            <a:chOff x="0" y="0"/>
            <a:chExt cx="7022592" cy="9265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022592" cy="926592"/>
            </a:xfrm>
            <a:custGeom>
              <a:avLst/>
              <a:gdLst/>
              <a:ahLst/>
              <a:cxnLst/>
              <a:rect r="r" b="b" t="t" l="l"/>
              <a:pathLst>
                <a:path h="926592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676" r="0" b="-9767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7022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Enables multi-instance deployments behind a load balancer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442967" y="1486919"/>
            <a:ext cx="5694683" cy="3957323"/>
            <a:chOff x="0" y="0"/>
            <a:chExt cx="7592911" cy="527643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7559040" cy="5242560"/>
            </a:xfrm>
            <a:custGeom>
              <a:avLst/>
              <a:gdLst/>
              <a:ahLst/>
              <a:cxnLst/>
              <a:rect r="r" b="b" t="t" l="l"/>
              <a:pathLst>
                <a:path h="524256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5242560"/>
                  </a:lnTo>
                  <a:lnTo>
                    <a:pt x="0" y="524256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592822" cy="5276342"/>
            </a:xfrm>
            <a:custGeom>
              <a:avLst/>
              <a:gdLst/>
              <a:ahLst/>
              <a:cxnLst/>
              <a:rect r="r" b="b" t="t" l="l"/>
              <a:pathLst>
                <a:path h="527634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5259451"/>
                  </a:lnTo>
                  <a:cubicBezTo>
                    <a:pt x="7592822" y="5268849"/>
                    <a:pt x="7585202" y="5276342"/>
                    <a:pt x="7575931" y="5276342"/>
                  </a:cubicBezTo>
                  <a:lnTo>
                    <a:pt x="16891" y="5276342"/>
                  </a:lnTo>
                  <a:cubicBezTo>
                    <a:pt x="7493" y="5276342"/>
                    <a:pt x="0" y="5268722"/>
                    <a:pt x="0" y="5259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259451"/>
                  </a:lnTo>
                  <a:lnTo>
                    <a:pt x="16891" y="5259451"/>
                  </a:lnTo>
                  <a:lnTo>
                    <a:pt x="16891" y="5242560"/>
                  </a:lnTo>
                  <a:lnTo>
                    <a:pt x="7575931" y="5242560"/>
                  </a:lnTo>
                  <a:lnTo>
                    <a:pt x="7575931" y="5259451"/>
                  </a:lnTo>
                  <a:lnTo>
                    <a:pt x="7559040" y="525945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442967" y="1486919"/>
            <a:ext cx="5694683" cy="208283"/>
            <a:chOff x="0" y="0"/>
            <a:chExt cx="7592911" cy="27771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7559040" cy="243840"/>
            </a:xfrm>
            <a:custGeom>
              <a:avLst/>
              <a:gdLst/>
              <a:ahLst/>
              <a:cxnLst/>
              <a:rect r="r" b="b" t="t" l="l"/>
              <a:pathLst>
                <a:path h="2438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592822" cy="277624"/>
            </a:xfrm>
            <a:custGeom>
              <a:avLst/>
              <a:gdLst/>
              <a:ahLst/>
              <a:cxnLst/>
              <a:rect r="r" b="b" t="t" l="l"/>
              <a:pathLst>
                <a:path h="277624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260731"/>
                  </a:lnTo>
                  <a:cubicBezTo>
                    <a:pt x="7592822" y="270129"/>
                    <a:pt x="7585202" y="277622"/>
                    <a:pt x="7575931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7575931" y="243840"/>
                  </a:lnTo>
                  <a:lnTo>
                    <a:pt x="7575931" y="260731"/>
                  </a:lnTo>
                  <a:lnTo>
                    <a:pt x="7559040" y="2607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675120" y="1773936"/>
            <a:ext cx="1609344" cy="475488"/>
            <a:chOff x="0" y="0"/>
            <a:chExt cx="2145792" cy="63398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45792" cy="633984"/>
            </a:xfrm>
            <a:custGeom>
              <a:avLst/>
              <a:gdLst/>
              <a:ahLst/>
              <a:cxnLst/>
              <a:rect r="r" b="b" t="t" l="l"/>
              <a:pathLst>
                <a:path h="633984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49" r="0" b="-1594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214579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b="true" sz="1900" spc="399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2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675120" y="2267712"/>
            <a:ext cx="5266944" cy="640080"/>
            <a:chOff x="0" y="0"/>
            <a:chExt cx="7022592" cy="8534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022592" cy="853440"/>
            </a:xfrm>
            <a:custGeom>
              <a:avLst/>
              <a:gdLst/>
              <a:ahLst/>
              <a:cxnLst/>
              <a:rect r="r" b="b" t="t" l="l"/>
              <a:pathLst>
                <a:path h="853440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334" r="0" b="-11033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7022592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Stronger File Security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675120" y="2999232"/>
            <a:ext cx="5266944" cy="694944"/>
            <a:chOff x="0" y="0"/>
            <a:chExt cx="7022592" cy="92659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022592" cy="926592"/>
            </a:xfrm>
            <a:custGeom>
              <a:avLst/>
              <a:gdLst/>
              <a:ahLst/>
              <a:cxnLst/>
              <a:rect r="r" b="b" t="t" l="l"/>
              <a:pathLst>
                <a:path h="926592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676" r="0" b="-97676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7022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Signed expiring download URLs (pre-signed Drive links with time bound)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675120" y="3767328"/>
            <a:ext cx="5266944" cy="694944"/>
            <a:chOff x="0" y="0"/>
            <a:chExt cx="7022592" cy="92659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022592" cy="926592"/>
            </a:xfrm>
            <a:custGeom>
              <a:avLst/>
              <a:gdLst/>
              <a:ahLst/>
              <a:cxnLst/>
              <a:rect r="r" b="b" t="t" l="l"/>
              <a:pathLst>
                <a:path h="926592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676" r="0" b="-9767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7022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KMS-backed key management for file_key_iv and file_hmac fields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675120" y="4535424"/>
            <a:ext cx="5266944" cy="694944"/>
            <a:chOff x="0" y="0"/>
            <a:chExt cx="7022592" cy="92659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022592" cy="926592"/>
            </a:xfrm>
            <a:custGeom>
              <a:avLst/>
              <a:gdLst/>
              <a:ahLst/>
              <a:cxnLst/>
              <a:rect r="r" b="b" t="t" l="l"/>
              <a:pathLst>
                <a:path h="926592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676" r="0" b="-9767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7022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Antivirus + content-policy scan pipeline in upload middleware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386567" y="1486919"/>
            <a:ext cx="5694683" cy="3957323"/>
            <a:chOff x="0" y="0"/>
            <a:chExt cx="7592911" cy="527643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7559040" cy="5242560"/>
            </a:xfrm>
            <a:custGeom>
              <a:avLst/>
              <a:gdLst/>
              <a:ahLst/>
              <a:cxnLst/>
              <a:rect r="r" b="b" t="t" l="l"/>
              <a:pathLst>
                <a:path h="524256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5242560"/>
                  </a:lnTo>
                  <a:lnTo>
                    <a:pt x="0" y="524256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592822" cy="5276342"/>
            </a:xfrm>
            <a:custGeom>
              <a:avLst/>
              <a:gdLst/>
              <a:ahLst/>
              <a:cxnLst/>
              <a:rect r="r" b="b" t="t" l="l"/>
              <a:pathLst>
                <a:path h="527634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5259451"/>
                  </a:lnTo>
                  <a:cubicBezTo>
                    <a:pt x="7592822" y="5268849"/>
                    <a:pt x="7585202" y="5276342"/>
                    <a:pt x="7575931" y="5276342"/>
                  </a:cubicBezTo>
                  <a:lnTo>
                    <a:pt x="16891" y="5276342"/>
                  </a:lnTo>
                  <a:cubicBezTo>
                    <a:pt x="7493" y="5276342"/>
                    <a:pt x="0" y="5268722"/>
                    <a:pt x="0" y="5259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259451"/>
                  </a:lnTo>
                  <a:lnTo>
                    <a:pt x="16891" y="5259451"/>
                  </a:lnTo>
                  <a:lnTo>
                    <a:pt x="16891" y="5242560"/>
                  </a:lnTo>
                  <a:lnTo>
                    <a:pt x="7575931" y="5242560"/>
                  </a:lnTo>
                  <a:lnTo>
                    <a:pt x="7575931" y="5259451"/>
                  </a:lnTo>
                  <a:lnTo>
                    <a:pt x="7559040" y="525945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2386567" y="1486919"/>
            <a:ext cx="5694683" cy="208283"/>
            <a:chOff x="0" y="0"/>
            <a:chExt cx="7592911" cy="27771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7559040" cy="243840"/>
            </a:xfrm>
            <a:custGeom>
              <a:avLst/>
              <a:gdLst/>
              <a:ahLst/>
              <a:cxnLst/>
              <a:rect r="r" b="b" t="t" l="l"/>
              <a:pathLst>
                <a:path h="2438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592822" cy="277624"/>
            </a:xfrm>
            <a:custGeom>
              <a:avLst/>
              <a:gdLst/>
              <a:ahLst/>
              <a:cxnLst/>
              <a:rect r="r" b="b" t="t" l="l"/>
              <a:pathLst>
                <a:path h="277624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260731"/>
                  </a:lnTo>
                  <a:cubicBezTo>
                    <a:pt x="7592822" y="270129"/>
                    <a:pt x="7585202" y="277622"/>
                    <a:pt x="7575931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7575931" y="243840"/>
                  </a:lnTo>
                  <a:lnTo>
                    <a:pt x="7575931" y="260731"/>
                  </a:lnTo>
                  <a:lnTo>
                    <a:pt x="7559040" y="2607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2618720" y="1773936"/>
            <a:ext cx="1609344" cy="475488"/>
            <a:chOff x="0" y="0"/>
            <a:chExt cx="2145792" cy="63398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145792" cy="633984"/>
            </a:xfrm>
            <a:custGeom>
              <a:avLst/>
              <a:gdLst/>
              <a:ahLst/>
              <a:cxnLst/>
              <a:rect r="r" b="b" t="t" l="l"/>
              <a:pathLst>
                <a:path h="633984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49" r="0" b="-15949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214579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b="true" sz="1900" spc="399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3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2618720" y="2267712"/>
            <a:ext cx="5266944" cy="640080"/>
            <a:chOff x="0" y="0"/>
            <a:chExt cx="7022592" cy="8534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022592" cy="853440"/>
            </a:xfrm>
            <a:custGeom>
              <a:avLst/>
              <a:gdLst/>
              <a:ahLst/>
              <a:cxnLst/>
              <a:rect r="r" b="b" t="t" l="l"/>
              <a:pathLst>
                <a:path h="853440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334" r="0" b="-110334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7022592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Audit &amp; Integrity Hardening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618720" y="2999232"/>
            <a:ext cx="5266944" cy="694944"/>
            <a:chOff x="0" y="0"/>
            <a:chExt cx="7022592" cy="92659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022592" cy="926592"/>
            </a:xfrm>
            <a:custGeom>
              <a:avLst/>
              <a:gdLst/>
              <a:ahLst/>
              <a:cxnLst/>
              <a:rect r="r" b="b" t="t" l="l"/>
              <a:pathLst>
                <a:path h="926592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676" r="0" b="-97676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7022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Immutable audit log shipping to append-only external sink (S3/CloudWatch)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618720" y="3767328"/>
            <a:ext cx="5266944" cy="694944"/>
            <a:chOff x="0" y="0"/>
            <a:chExt cx="7022592" cy="92659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022592" cy="926592"/>
            </a:xfrm>
            <a:custGeom>
              <a:avLst/>
              <a:gdLst/>
              <a:ahLst/>
              <a:cxnLst/>
              <a:rect r="r" b="b" t="t" l="l"/>
              <a:pathLst>
                <a:path h="926592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676" r="0" b="-97676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7022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Merkle-tree backed audit chain for cryptographic proof of non-tampering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2618720" y="4535424"/>
            <a:ext cx="5266944" cy="694944"/>
            <a:chOff x="0" y="0"/>
            <a:chExt cx="7022592" cy="92659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022592" cy="926592"/>
            </a:xfrm>
            <a:custGeom>
              <a:avLst/>
              <a:gdLst/>
              <a:ahLst/>
              <a:cxnLst/>
              <a:rect r="r" b="b" t="t" l="l"/>
              <a:pathLst>
                <a:path h="926592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676" r="0" b="-97676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7022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Automated integrity sweep job — not just on-demand admin check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499367" y="5693159"/>
            <a:ext cx="5694683" cy="3957323"/>
            <a:chOff x="0" y="0"/>
            <a:chExt cx="7592911" cy="527643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7559040" cy="5242560"/>
            </a:xfrm>
            <a:custGeom>
              <a:avLst/>
              <a:gdLst/>
              <a:ahLst/>
              <a:cxnLst/>
              <a:rect r="r" b="b" t="t" l="l"/>
              <a:pathLst>
                <a:path h="524256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5242560"/>
                  </a:lnTo>
                  <a:lnTo>
                    <a:pt x="0" y="524256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592822" cy="5276342"/>
            </a:xfrm>
            <a:custGeom>
              <a:avLst/>
              <a:gdLst/>
              <a:ahLst/>
              <a:cxnLst/>
              <a:rect r="r" b="b" t="t" l="l"/>
              <a:pathLst>
                <a:path h="527634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5259451"/>
                  </a:lnTo>
                  <a:cubicBezTo>
                    <a:pt x="7592822" y="5268849"/>
                    <a:pt x="7585202" y="5276342"/>
                    <a:pt x="7575931" y="5276342"/>
                  </a:cubicBezTo>
                  <a:lnTo>
                    <a:pt x="16891" y="5276342"/>
                  </a:lnTo>
                  <a:cubicBezTo>
                    <a:pt x="7493" y="5276342"/>
                    <a:pt x="0" y="5268722"/>
                    <a:pt x="0" y="5259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259451"/>
                  </a:lnTo>
                  <a:lnTo>
                    <a:pt x="16891" y="5259451"/>
                  </a:lnTo>
                  <a:lnTo>
                    <a:pt x="16891" y="5242560"/>
                  </a:lnTo>
                  <a:lnTo>
                    <a:pt x="7575931" y="5242560"/>
                  </a:lnTo>
                  <a:lnTo>
                    <a:pt x="7575931" y="5259451"/>
                  </a:lnTo>
                  <a:lnTo>
                    <a:pt x="7559040" y="525945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499367" y="5693159"/>
            <a:ext cx="5694683" cy="208283"/>
            <a:chOff x="0" y="0"/>
            <a:chExt cx="7592911" cy="27771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7559040" cy="243840"/>
            </a:xfrm>
            <a:custGeom>
              <a:avLst/>
              <a:gdLst/>
              <a:ahLst/>
              <a:cxnLst/>
              <a:rect r="r" b="b" t="t" l="l"/>
              <a:pathLst>
                <a:path h="2438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592822" cy="277624"/>
            </a:xfrm>
            <a:custGeom>
              <a:avLst/>
              <a:gdLst/>
              <a:ahLst/>
              <a:cxnLst/>
              <a:rect r="r" b="b" t="t" l="l"/>
              <a:pathLst>
                <a:path h="277624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260731"/>
                  </a:lnTo>
                  <a:cubicBezTo>
                    <a:pt x="7592822" y="270129"/>
                    <a:pt x="7585202" y="277622"/>
                    <a:pt x="7575931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7575931" y="243840"/>
                  </a:lnTo>
                  <a:lnTo>
                    <a:pt x="7575931" y="260731"/>
                  </a:lnTo>
                  <a:lnTo>
                    <a:pt x="7559040" y="2607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731520" y="5980176"/>
            <a:ext cx="1609344" cy="475488"/>
            <a:chOff x="0" y="0"/>
            <a:chExt cx="2145792" cy="63398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145792" cy="633984"/>
            </a:xfrm>
            <a:custGeom>
              <a:avLst/>
              <a:gdLst/>
              <a:ahLst/>
              <a:cxnLst/>
              <a:rect r="r" b="b" t="t" l="l"/>
              <a:pathLst>
                <a:path h="633984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49" r="0" b="-15949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214579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b="true" sz="1900" spc="399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4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731520" y="6473952"/>
            <a:ext cx="5266944" cy="640080"/>
            <a:chOff x="0" y="0"/>
            <a:chExt cx="7022592" cy="8534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7022592" cy="853440"/>
            </a:xfrm>
            <a:custGeom>
              <a:avLst/>
              <a:gdLst/>
              <a:ahLst/>
              <a:cxnLst/>
              <a:rect r="r" b="b" t="t" l="l"/>
              <a:pathLst>
                <a:path h="853440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334" r="0" b="-110334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7022592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 Suite &amp; CI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731520" y="7205472"/>
            <a:ext cx="5266944" cy="694944"/>
            <a:chOff x="0" y="0"/>
            <a:chExt cx="7022592" cy="92659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7022592" cy="926592"/>
            </a:xfrm>
            <a:custGeom>
              <a:avLst/>
              <a:gdLst/>
              <a:ahLst/>
              <a:cxnLst/>
              <a:rect r="r" b="b" t="t" l="l"/>
              <a:pathLst>
                <a:path h="926592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676" r="0" b="-97676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7022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Automated API test suite: auth flows, RBAC enforcement, portfolio edge cases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731520" y="7973568"/>
            <a:ext cx="5266944" cy="694944"/>
            <a:chOff x="0" y="0"/>
            <a:chExt cx="7022592" cy="92659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7022592" cy="926592"/>
            </a:xfrm>
            <a:custGeom>
              <a:avLst/>
              <a:gdLst/>
              <a:ahLst/>
              <a:cxnLst/>
              <a:rect r="r" b="b" t="t" l="l"/>
              <a:pathLst>
                <a:path h="926592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676" r="0" b="-97676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7022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Integration tests: full vault lifecycle + expiry pipeline + Drive stub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731520" y="8741664"/>
            <a:ext cx="5266944" cy="694944"/>
            <a:chOff x="0" y="0"/>
            <a:chExt cx="7022592" cy="92659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7022592" cy="926592"/>
            </a:xfrm>
            <a:custGeom>
              <a:avLst/>
              <a:gdLst/>
              <a:ahLst/>
              <a:cxnLst/>
              <a:rect r="r" b="b" t="t" l="l"/>
              <a:pathLst>
                <a:path h="926592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676" r="0" b="-97676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7022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Load test + fault-injection: random DB errors, Drive failures, clock skew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6442967" y="5693159"/>
            <a:ext cx="5694683" cy="3957323"/>
            <a:chOff x="0" y="0"/>
            <a:chExt cx="7592911" cy="5276431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7559040" cy="5242560"/>
            </a:xfrm>
            <a:custGeom>
              <a:avLst/>
              <a:gdLst/>
              <a:ahLst/>
              <a:cxnLst/>
              <a:rect r="r" b="b" t="t" l="l"/>
              <a:pathLst>
                <a:path h="524256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5242560"/>
                  </a:lnTo>
                  <a:lnTo>
                    <a:pt x="0" y="524256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7592822" cy="5276342"/>
            </a:xfrm>
            <a:custGeom>
              <a:avLst/>
              <a:gdLst/>
              <a:ahLst/>
              <a:cxnLst/>
              <a:rect r="r" b="b" t="t" l="l"/>
              <a:pathLst>
                <a:path h="527634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5259451"/>
                  </a:lnTo>
                  <a:cubicBezTo>
                    <a:pt x="7592822" y="5268849"/>
                    <a:pt x="7585202" y="5276342"/>
                    <a:pt x="7575931" y="5276342"/>
                  </a:cubicBezTo>
                  <a:lnTo>
                    <a:pt x="16891" y="5276342"/>
                  </a:lnTo>
                  <a:cubicBezTo>
                    <a:pt x="7493" y="5276342"/>
                    <a:pt x="0" y="5268722"/>
                    <a:pt x="0" y="5259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259451"/>
                  </a:lnTo>
                  <a:lnTo>
                    <a:pt x="16891" y="5259451"/>
                  </a:lnTo>
                  <a:lnTo>
                    <a:pt x="16891" y="5242560"/>
                  </a:lnTo>
                  <a:lnTo>
                    <a:pt x="7575931" y="5242560"/>
                  </a:lnTo>
                  <a:lnTo>
                    <a:pt x="7575931" y="5259451"/>
                  </a:lnTo>
                  <a:lnTo>
                    <a:pt x="7559040" y="525945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6442967" y="5693159"/>
            <a:ext cx="5694683" cy="208283"/>
            <a:chOff x="0" y="0"/>
            <a:chExt cx="7592911" cy="27771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7559040" cy="243840"/>
            </a:xfrm>
            <a:custGeom>
              <a:avLst/>
              <a:gdLst/>
              <a:ahLst/>
              <a:cxnLst/>
              <a:rect r="r" b="b" t="t" l="l"/>
              <a:pathLst>
                <a:path h="2438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7592822" cy="277624"/>
            </a:xfrm>
            <a:custGeom>
              <a:avLst/>
              <a:gdLst/>
              <a:ahLst/>
              <a:cxnLst/>
              <a:rect r="r" b="b" t="t" l="l"/>
              <a:pathLst>
                <a:path h="277624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260731"/>
                  </a:lnTo>
                  <a:cubicBezTo>
                    <a:pt x="7592822" y="270129"/>
                    <a:pt x="7585202" y="277622"/>
                    <a:pt x="7575931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7575931" y="243840"/>
                  </a:lnTo>
                  <a:lnTo>
                    <a:pt x="7575931" y="260731"/>
                  </a:lnTo>
                  <a:lnTo>
                    <a:pt x="7559040" y="2607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6675120" y="5980176"/>
            <a:ext cx="1609344" cy="475488"/>
            <a:chOff x="0" y="0"/>
            <a:chExt cx="2145792" cy="633984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145792" cy="633984"/>
            </a:xfrm>
            <a:custGeom>
              <a:avLst/>
              <a:gdLst/>
              <a:ahLst/>
              <a:cxnLst/>
              <a:rect r="r" b="b" t="t" l="l"/>
              <a:pathLst>
                <a:path h="633984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49" r="0" b="-15949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214579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b="true" sz="1900" spc="399">
                  <a:solidFill>
                    <a:srgbClr val="8B5C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5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6675120" y="6473952"/>
            <a:ext cx="5266944" cy="640080"/>
            <a:chOff x="0" y="0"/>
            <a:chExt cx="7022592" cy="85344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7022592" cy="853440"/>
            </a:xfrm>
            <a:custGeom>
              <a:avLst/>
              <a:gdLst/>
              <a:ahLst/>
              <a:cxnLst/>
              <a:rect r="r" b="b" t="t" l="l"/>
              <a:pathLst>
                <a:path h="853440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334" r="0" b="-110334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47625"/>
              <a:ext cx="7022592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Index Abstraction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6675120" y="7205472"/>
            <a:ext cx="5266944" cy="694944"/>
            <a:chOff x="0" y="0"/>
            <a:chExt cx="7022592" cy="92659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7022592" cy="926592"/>
            </a:xfrm>
            <a:custGeom>
              <a:avLst/>
              <a:gdLst/>
              <a:ahLst/>
              <a:cxnLst/>
              <a:rect r="r" b="b" t="t" l="l"/>
              <a:pathLst>
                <a:path h="926592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676" r="0" b="-97676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7022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Pluggable index interface: swap B+ Tree, skip list, or hash index without API change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6675120" y="7973568"/>
            <a:ext cx="5266944" cy="694944"/>
            <a:chOff x="0" y="0"/>
            <a:chExt cx="7022592" cy="926592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7022592" cy="926592"/>
            </a:xfrm>
            <a:custGeom>
              <a:avLst/>
              <a:gdLst/>
              <a:ahLst/>
              <a:cxnLst/>
              <a:rect r="r" b="b" t="t" l="l"/>
              <a:pathLst>
                <a:path h="926592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676" r="0" b="-97676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7022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In-path production experimentation: A/B index routing for real query paths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6675120" y="8741664"/>
            <a:ext cx="5266944" cy="694944"/>
            <a:chOff x="0" y="0"/>
            <a:chExt cx="7022592" cy="926592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7022592" cy="926592"/>
            </a:xfrm>
            <a:custGeom>
              <a:avLst/>
              <a:gdLst/>
              <a:ahLst/>
              <a:cxnLst/>
              <a:rect r="r" b="b" t="t" l="l"/>
              <a:pathLst>
                <a:path h="926592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676" r="0" b="-97676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7022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Live index warmup from DB snapshot on server start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2386567" y="5693159"/>
            <a:ext cx="5694683" cy="3957323"/>
            <a:chOff x="0" y="0"/>
            <a:chExt cx="7592911" cy="5276431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16891" y="16891"/>
              <a:ext cx="7559040" cy="5242560"/>
            </a:xfrm>
            <a:custGeom>
              <a:avLst/>
              <a:gdLst/>
              <a:ahLst/>
              <a:cxnLst/>
              <a:rect r="r" b="b" t="t" l="l"/>
              <a:pathLst>
                <a:path h="524256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5242560"/>
                  </a:lnTo>
                  <a:lnTo>
                    <a:pt x="0" y="524256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7592822" cy="5276342"/>
            </a:xfrm>
            <a:custGeom>
              <a:avLst/>
              <a:gdLst/>
              <a:ahLst/>
              <a:cxnLst/>
              <a:rect r="r" b="b" t="t" l="l"/>
              <a:pathLst>
                <a:path h="527634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5259451"/>
                  </a:lnTo>
                  <a:cubicBezTo>
                    <a:pt x="7592822" y="5268849"/>
                    <a:pt x="7585202" y="5276342"/>
                    <a:pt x="7575931" y="5276342"/>
                  </a:cubicBezTo>
                  <a:lnTo>
                    <a:pt x="16891" y="5276342"/>
                  </a:lnTo>
                  <a:cubicBezTo>
                    <a:pt x="7493" y="5276342"/>
                    <a:pt x="0" y="5268722"/>
                    <a:pt x="0" y="5259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259451"/>
                  </a:lnTo>
                  <a:lnTo>
                    <a:pt x="16891" y="5259451"/>
                  </a:lnTo>
                  <a:lnTo>
                    <a:pt x="16891" y="5242560"/>
                  </a:lnTo>
                  <a:lnTo>
                    <a:pt x="7575931" y="5242560"/>
                  </a:lnTo>
                  <a:lnTo>
                    <a:pt x="7575931" y="5259451"/>
                  </a:lnTo>
                  <a:lnTo>
                    <a:pt x="7559040" y="525945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12386567" y="5693159"/>
            <a:ext cx="5694683" cy="208283"/>
            <a:chOff x="0" y="0"/>
            <a:chExt cx="7592911" cy="277711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16891" y="16891"/>
              <a:ext cx="7559040" cy="243840"/>
            </a:xfrm>
            <a:custGeom>
              <a:avLst/>
              <a:gdLst/>
              <a:ahLst/>
              <a:cxnLst/>
              <a:rect r="r" b="b" t="t" l="l"/>
              <a:pathLst>
                <a:path h="2438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EC4899"/>
            </a:solid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7592822" cy="277624"/>
            </a:xfrm>
            <a:custGeom>
              <a:avLst/>
              <a:gdLst/>
              <a:ahLst/>
              <a:cxnLst/>
              <a:rect r="r" b="b" t="t" l="l"/>
              <a:pathLst>
                <a:path h="277624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260731"/>
                  </a:lnTo>
                  <a:cubicBezTo>
                    <a:pt x="7592822" y="270129"/>
                    <a:pt x="7585202" y="277622"/>
                    <a:pt x="7575931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7575931" y="243840"/>
                  </a:lnTo>
                  <a:lnTo>
                    <a:pt x="7575931" y="260731"/>
                  </a:lnTo>
                  <a:lnTo>
                    <a:pt x="7559040" y="2607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C4899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12618720" y="5980176"/>
            <a:ext cx="1609344" cy="475488"/>
            <a:chOff x="0" y="0"/>
            <a:chExt cx="2145792" cy="633984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2145792" cy="633984"/>
            </a:xfrm>
            <a:custGeom>
              <a:avLst/>
              <a:gdLst/>
              <a:ahLst/>
              <a:cxnLst/>
              <a:rect r="r" b="b" t="t" l="l"/>
              <a:pathLst>
                <a:path h="633984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49" r="0" b="-15949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214579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b="true" sz="1900" spc="399">
                  <a:solidFill>
                    <a:srgbClr val="EC48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6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2618720" y="6473952"/>
            <a:ext cx="5266944" cy="640080"/>
            <a:chOff x="0" y="0"/>
            <a:chExt cx="7022592" cy="85344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7022592" cy="853440"/>
            </a:xfrm>
            <a:custGeom>
              <a:avLst/>
              <a:gdLst/>
              <a:ahLst/>
              <a:cxnLst/>
              <a:rect r="r" b="b" t="t" l="l"/>
              <a:pathLst>
                <a:path h="853440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334" r="0" b="-110334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47625"/>
              <a:ext cx="7022592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Platform Features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2618720" y="7205472"/>
            <a:ext cx="5266944" cy="694944"/>
            <a:chOff x="0" y="0"/>
            <a:chExt cx="7022592" cy="926592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7022592" cy="926592"/>
            </a:xfrm>
            <a:custGeom>
              <a:avLst/>
              <a:gdLst/>
              <a:ahLst/>
              <a:cxnLst/>
              <a:rect r="r" b="b" t="t" l="l"/>
              <a:pathLst>
                <a:path h="926592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676" r="0" b="-97676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7022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QR-code based outer token sharing flow in mobile-optimised UI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2618720" y="7973568"/>
            <a:ext cx="5266944" cy="694944"/>
            <a:chOff x="0" y="0"/>
            <a:chExt cx="7022592" cy="926592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7022592" cy="926592"/>
            </a:xfrm>
            <a:custGeom>
              <a:avLst/>
              <a:gdLst/>
              <a:ahLst/>
              <a:cxnLst/>
              <a:rect r="r" b="b" t="t" l="l"/>
              <a:pathLst>
                <a:path h="926592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676" r="0" b="-97676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7022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Vault analytics dashboard: access counts, download history, geography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2618720" y="8741664"/>
            <a:ext cx="5266944" cy="694944"/>
            <a:chOff x="0" y="0"/>
            <a:chExt cx="7022592" cy="926592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7022592" cy="926592"/>
            </a:xfrm>
            <a:custGeom>
              <a:avLst/>
              <a:gdLst/>
              <a:ahLst/>
              <a:cxnLst/>
              <a:rect r="r" b="b" t="t" l="l"/>
              <a:pathLst>
                <a:path h="926592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676" r="0" b="-97676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38100"/>
              <a:ext cx="7022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Fine-grained SUB token scoping: per-file access grants instead of vault-wide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281435" cy="10312403"/>
            <a:chOff x="0" y="0"/>
            <a:chExt cx="375247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341376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5158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375158">
                  <a:moveTo>
                    <a:pt x="16891" y="0"/>
                  </a:moveTo>
                  <a:lnTo>
                    <a:pt x="358267" y="0"/>
                  </a:lnTo>
                  <a:cubicBezTo>
                    <a:pt x="367665" y="0"/>
                    <a:pt x="375158" y="7620"/>
                    <a:pt x="375158" y="16891"/>
                  </a:cubicBezTo>
                  <a:lnTo>
                    <a:pt x="375158" y="13732890"/>
                  </a:lnTo>
                  <a:cubicBezTo>
                    <a:pt x="375158" y="13742290"/>
                    <a:pt x="367538" y="13749782"/>
                    <a:pt x="358267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358267" y="13716000"/>
                  </a:lnTo>
                  <a:lnTo>
                    <a:pt x="358267" y="13732890"/>
                  </a:lnTo>
                  <a:lnTo>
                    <a:pt x="341376" y="13732890"/>
                  </a:lnTo>
                  <a:lnTo>
                    <a:pt x="341376" y="16891"/>
                  </a:lnTo>
                  <a:lnTo>
                    <a:pt x="358267" y="16891"/>
                  </a:lnTo>
                  <a:lnTo>
                    <a:pt x="35826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8313403" cy="208283"/>
            <a:chOff x="0" y="0"/>
            <a:chExt cx="24417871" cy="2777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277624"/>
            </a:xfrm>
            <a:custGeom>
              <a:avLst/>
              <a:gdLst/>
              <a:ahLst/>
              <a:cxnLst/>
              <a:rect r="r" b="b" t="t" l="l"/>
              <a:pathLst>
                <a:path h="27762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0731"/>
                  </a:lnTo>
                  <a:cubicBezTo>
                    <a:pt x="24417782" y="270129"/>
                    <a:pt x="24410163" y="277622"/>
                    <a:pt x="2440089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4400890" y="243840"/>
                  </a:lnTo>
                  <a:lnTo>
                    <a:pt x="24400890" y="260731"/>
                  </a:lnTo>
                  <a:lnTo>
                    <a:pt x="24384000" y="2607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2697" y="10082279"/>
            <a:ext cx="18313403" cy="208283"/>
            <a:chOff x="0" y="0"/>
            <a:chExt cx="24417871" cy="2777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4383999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417782" cy="277624"/>
            </a:xfrm>
            <a:custGeom>
              <a:avLst/>
              <a:gdLst/>
              <a:ahLst/>
              <a:cxnLst/>
              <a:rect r="r" b="b" t="t" l="l"/>
              <a:pathLst>
                <a:path h="27762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0731"/>
                  </a:lnTo>
                  <a:cubicBezTo>
                    <a:pt x="24417782" y="270129"/>
                    <a:pt x="24410163" y="277622"/>
                    <a:pt x="2440089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4400890" y="243840"/>
                  </a:lnTo>
                  <a:lnTo>
                    <a:pt x="24400890" y="260731"/>
                  </a:lnTo>
                  <a:lnTo>
                    <a:pt x="24384000" y="2607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48640" y="457200"/>
            <a:ext cx="17190720" cy="914400"/>
            <a:chOff x="0" y="0"/>
            <a:chExt cx="22920960" cy="1219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920961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6318" r="0" b="-31631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04775"/>
              <a:ext cx="22920960" cy="1323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b="true" sz="5200" spc="3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99367" y="1596647"/>
            <a:ext cx="17289275" cy="1890779"/>
            <a:chOff x="0" y="0"/>
            <a:chExt cx="23052367" cy="252103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23018497" cy="2487168"/>
            </a:xfrm>
            <a:custGeom>
              <a:avLst/>
              <a:gdLst/>
              <a:ahLst/>
              <a:cxnLst/>
              <a:rect r="r" b="b" t="t" l="l"/>
              <a:pathLst>
                <a:path h="2487168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2487168"/>
                  </a:lnTo>
                  <a:lnTo>
                    <a:pt x="0" y="2487168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052278" cy="2520950"/>
            </a:xfrm>
            <a:custGeom>
              <a:avLst/>
              <a:gdLst/>
              <a:ahLst/>
              <a:cxnLst/>
              <a:rect r="r" b="b" t="t" l="l"/>
              <a:pathLst>
                <a:path h="2520950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2504059"/>
                  </a:lnTo>
                  <a:cubicBezTo>
                    <a:pt x="23052278" y="2513457"/>
                    <a:pt x="23044658" y="2520950"/>
                    <a:pt x="23035388" y="2520950"/>
                  </a:cubicBezTo>
                  <a:lnTo>
                    <a:pt x="16891" y="2520950"/>
                  </a:lnTo>
                  <a:cubicBezTo>
                    <a:pt x="7493" y="2520950"/>
                    <a:pt x="0" y="2513330"/>
                    <a:pt x="0" y="25040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04059"/>
                  </a:lnTo>
                  <a:lnTo>
                    <a:pt x="16891" y="2504059"/>
                  </a:lnTo>
                  <a:lnTo>
                    <a:pt x="16891" y="2487168"/>
                  </a:lnTo>
                  <a:lnTo>
                    <a:pt x="23035388" y="2487168"/>
                  </a:lnTo>
                  <a:lnTo>
                    <a:pt x="23035388" y="2504059"/>
                  </a:lnTo>
                  <a:lnTo>
                    <a:pt x="23018497" y="2504059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99367" y="1596647"/>
            <a:ext cx="171707" cy="1890779"/>
            <a:chOff x="0" y="0"/>
            <a:chExt cx="228943" cy="252103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95072" cy="2487168"/>
            </a:xfrm>
            <a:custGeom>
              <a:avLst/>
              <a:gdLst/>
              <a:ahLst/>
              <a:cxnLst/>
              <a:rect r="r" b="b" t="t" l="l"/>
              <a:pathLst>
                <a:path h="2487168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487168"/>
                  </a:lnTo>
                  <a:lnTo>
                    <a:pt x="0" y="2487168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8854" cy="2520950"/>
            </a:xfrm>
            <a:custGeom>
              <a:avLst/>
              <a:gdLst/>
              <a:ahLst/>
              <a:cxnLst/>
              <a:rect r="r" b="b" t="t" l="l"/>
              <a:pathLst>
                <a:path h="2520950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504059"/>
                  </a:lnTo>
                  <a:cubicBezTo>
                    <a:pt x="228854" y="2513457"/>
                    <a:pt x="221234" y="2520950"/>
                    <a:pt x="211963" y="2520950"/>
                  </a:cubicBezTo>
                  <a:lnTo>
                    <a:pt x="16891" y="2520950"/>
                  </a:lnTo>
                  <a:cubicBezTo>
                    <a:pt x="7493" y="2520950"/>
                    <a:pt x="0" y="2513330"/>
                    <a:pt x="0" y="25040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04059"/>
                  </a:lnTo>
                  <a:lnTo>
                    <a:pt x="16891" y="2504059"/>
                  </a:lnTo>
                  <a:lnTo>
                    <a:pt x="16891" y="2487168"/>
                  </a:lnTo>
                  <a:lnTo>
                    <a:pt x="211963" y="2487168"/>
                  </a:lnTo>
                  <a:lnTo>
                    <a:pt x="211963" y="2504059"/>
                  </a:lnTo>
                  <a:lnTo>
                    <a:pt x="195072" y="2504059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04672" y="1700784"/>
            <a:ext cx="1005840" cy="1609344"/>
            <a:chOff x="0" y="0"/>
            <a:chExt cx="1341120" cy="21457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4112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5285" t="0" r="-155285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1341120" cy="22315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🌳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975104" y="1700784"/>
            <a:ext cx="15544800" cy="585216"/>
            <a:chOff x="0" y="0"/>
            <a:chExt cx="20726400" cy="78028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726400" cy="780288"/>
            </a:xfrm>
            <a:custGeom>
              <a:avLst/>
              <a:gdLst/>
              <a:ahLst/>
              <a:cxnLst/>
              <a:rect r="r" b="b" t="t" l="l"/>
              <a:pathLst>
                <a:path h="780288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7571" r="0" b="-46757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2072640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A — Algorithmic Rigor + Domain Integration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975104" y="2304288"/>
            <a:ext cx="15544800" cy="1060704"/>
            <a:chOff x="0" y="0"/>
            <a:chExt cx="20726400" cy="141427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7264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556" r="0" b="-23555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20726400" cy="1461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B+ Tree implemented from scratch with full CRUD, range queries, linked-leaf traversal, and Graphviz visualization. Parity-validated against DB-authoritative state across 8 test scenarios. Domain benchmark proves 17–62× speedups over brute-force on real BlindDrop-shaped access paths.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99367" y="3644903"/>
            <a:ext cx="17289275" cy="1890779"/>
            <a:chOff x="0" y="0"/>
            <a:chExt cx="23052367" cy="252103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23018497" cy="2487168"/>
            </a:xfrm>
            <a:custGeom>
              <a:avLst/>
              <a:gdLst/>
              <a:ahLst/>
              <a:cxnLst/>
              <a:rect r="r" b="b" t="t" l="l"/>
              <a:pathLst>
                <a:path h="2487168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2487168"/>
                  </a:lnTo>
                  <a:lnTo>
                    <a:pt x="0" y="2487168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3052278" cy="2520950"/>
            </a:xfrm>
            <a:custGeom>
              <a:avLst/>
              <a:gdLst/>
              <a:ahLst/>
              <a:cxnLst/>
              <a:rect r="r" b="b" t="t" l="l"/>
              <a:pathLst>
                <a:path h="2520950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2504059"/>
                  </a:lnTo>
                  <a:cubicBezTo>
                    <a:pt x="23052278" y="2513457"/>
                    <a:pt x="23044658" y="2520950"/>
                    <a:pt x="23035388" y="2520950"/>
                  </a:cubicBezTo>
                  <a:lnTo>
                    <a:pt x="16891" y="2520950"/>
                  </a:lnTo>
                  <a:cubicBezTo>
                    <a:pt x="7493" y="2520950"/>
                    <a:pt x="0" y="2513330"/>
                    <a:pt x="0" y="25040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04059"/>
                  </a:lnTo>
                  <a:lnTo>
                    <a:pt x="16891" y="2504059"/>
                  </a:lnTo>
                  <a:lnTo>
                    <a:pt x="16891" y="2487168"/>
                  </a:lnTo>
                  <a:lnTo>
                    <a:pt x="23035388" y="2487168"/>
                  </a:lnTo>
                  <a:lnTo>
                    <a:pt x="23035388" y="2504059"/>
                  </a:lnTo>
                  <a:lnTo>
                    <a:pt x="23018497" y="2504059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499367" y="3644903"/>
            <a:ext cx="171707" cy="1890779"/>
            <a:chOff x="0" y="0"/>
            <a:chExt cx="228943" cy="252103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195072" cy="2487168"/>
            </a:xfrm>
            <a:custGeom>
              <a:avLst/>
              <a:gdLst/>
              <a:ahLst/>
              <a:cxnLst/>
              <a:rect r="r" b="b" t="t" l="l"/>
              <a:pathLst>
                <a:path h="2487168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487168"/>
                  </a:lnTo>
                  <a:lnTo>
                    <a:pt x="0" y="2487168"/>
                  </a:ln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8854" cy="2520950"/>
            </a:xfrm>
            <a:custGeom>
              <a:avLst/>
              <a:gdLst/>
              <a:ahLst/>
              <a:cxnLst/>
              <a:rect r="r" b="b" t="t" l="l"/>
              <a:pathLst>
                <a:path h="2520950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504059"/>
                  </a:lnTo>
                  <a:cubicBezTo>
                    <a:pt x="228854" y="2513457"/>
                    <a:pt x="221234" y="2520950"/>
                    <a:pt x="211963" y="2520950"/>
                  </a:cubicBezTo>
                  <a:lnTo>
                    <a:pt x="16891" y="2520950"/>
                  </a:lnTo>
                  <a:cubicBezTo>
                    <a:pt x="7493" y="2520950"/>
                    <a:pt x="0" y="2513330"/>
                    <a:pt x="0" y="25040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04059"/>
                  </a:lnTo>
                  <a:lnTo>
                    <a:pt x="16891" y="2504059"/>
                  </a:lnTo>
                  <a:lnTo>
                    <a:pt x="16891" y="2487168"/>
                  </a:lnTo>
                  <a:lnTo>
                    <a:pt x="211963" y="2487168"/>
                  </a:lnTo>
                  <a:lnTo>
                    <a:pt x="211963" y="2504059"/>
                  </a:lnTo>
                  <a:lnTo>
                    <a:pt x="195072" y="2504059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804672" y="3749040"/>
            <a:ext cx="1005840" cy="1609344"/>
            <a:chOff x="0" y="0"/>
            <a:chExt cx="1341120" cy="214579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34112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5285" t="0" r="-155285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85725"/>
              <a:ext cx="1341120" cy="22315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🛡️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975104" y="3749040"/>
            <a:ext cx="15544800" cy="585216"/>
            <a:chOff x="0" y="0"/>
            <a:chExt cx="20726400" cy="78028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0726400" cy="780288"/>
            </a:xfrm>
            <a:custGeom>
              <a:avLst/>
              <a:gdLst/>
              <a:ahLst/>
              <a:cxnLst/>
              <a:rect r="r" b="b" t="t" l="l"/>
              <a:pathLst>
                <a:path h="780288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7571" r="0" b="-46757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2072640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B — Practical Security Engineering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975104" y="4352544"/>
            <a:ext cx="15544800" cy="1060704"/>
            <a:chOff x="0" y="0"/>
            <a:chExt cx="20726400" cy="141427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07264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556" r="0" b="-235556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20726400" cy="1461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Session auth, MAIN/SUB RBAC, portfolio CRUD, chained audit log, and integrity-hash tamper detection — all code-backed and evidence-packed. Not a toy login form but a real vault credential system repurposed defensibly.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499367" y="5693159"/>
            <a:ext cx="17289275" cy="1890779"/>
            <a:chOff x="0" y="0"/>
            <a:chExt cx="23052367" cy="252103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23018497" cy="2487168"/>
            </a:xfrm>
            <a:custGeom>
              <a:avLst/>
              <a:gdLst/>
              <a:ahLst/>
              <a:cxnLst/>
              <a:rect r="r" b="b" t="t" l="l"/>
              <a:pathLst>
                <a:path h="2487168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2487168"/>
                  </a:lnTo>
                  <a:lnTo>
                    <a:pt x="0" y="2487168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3052278" cy="2520950"/>
            </a:xfrm>
            <a:custGeom>
              <a:avLst/>
              <a:gdLst/>
              <a:ahLst/>
              <a:cxnLst/>
              <a:rect r="r" b="b" t="t" l="l"/>
              <a:pathLst>
                <a:path h="2520950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2504059"/>
                  </a:lnTo>
                  <a:cubicBezTo>
                    <a:pt x="23052278" y="2513457"/>
                    <a:pt x="23044658" y="2520950"/>
                    <a:pt x="23035388" y="2520950"/>
                  </a:cubicBezTo>
                  <a:lnTo>
                    <a:pt x="16891" y="2520950"/>
                  </a:lnTo>
                  <a:cubicBezTo>
                    <a:pt x="7493" y="2520950"/>
                    <a:pt x="0" y="2513330"/>
                    <a:pt x="0" y="25040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04059"/>
                  </a:lnTo>
                  <a:lnTo>
                    <a:pt x="16891" y="2504059"/>
                  </a:lnTo>
                  <a:lnTo>
                    <a:pt x="16891" y="2487168"/>
                  </a:lnTo>
                  <a:lnTo>
                    <a:pt x="23035388" y="2487168"/>
                  </a:lnTo>
                  <a:lnTo>
                    <a:pt x="23035388" y="2504059"/>
                  </a:lnTo>
                  <a:lnTo>
                    <a:pt x="23018497" y="2504059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499367" y="5693159"/>
            <a:ext cx="171707" cy="1890779"/>
            <a:chOff x="0" y="0"/>
            <a:chExt cx="228943" cy="252103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95072" cy="2487168"/>
            </a:xfrm>
            <a:custGeom>
              <a:avLst/>
              <a:gdLst/>
              <a:ahLst/>
              <a:cxnLst/>
              <a:rect r="r" b="b" t="t" l="l"/>
              <a:pathLst>
                <a:path h="2487168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487168"/>
                  </a:lnTo>
                  <a:lnTo>
                    <a:pt x="0" y="2487168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28854" cy="2520950"/>
            </a:xfrm>
            <a:custGeom>
              <a:avLst/>
              <a:gdLst/>
              <a:ahLst/>
              <a:cxnLst/>
              <a:rect r="r" b="b" t="t" l="l"/>
              <a:pathLst>
                <a:path h="2520950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504059"/>
                  </a:lnTo>
                  <a:cubicBezTo>
                    <a:pt x="228854" y="2513457"/>
                    <a:pt x="221234" y="2520950"/>
                    <a:pt x="211963" y="2520950"/>
                  </a:cubicBezTo>
                  <a:lnTo>
                    <a:pt x="16891" y="2520950"/>
                  </a:lnTo>
                  <a:cubicBezTo>
                    <a:pt x="7493" y="2520950"/>
                    <a:pt x="0" y="2513330"/>
                    <a:pt x="0" y="25040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04059"/>
                  </a:lnTo>
                  <a:lnTo>
                    <a:pt x="16891" y="2504059"/>
                  </a:lnTo>
                  <a:lnTo>
                    <a:pt x="16891" y="2487168"/>
                  </a:lnTo>
                  <a:lnTo>
                    <a:pt x="211963" y="2487168"/>
                  </a:lnTo>
                  <a:lnTo>
                    <a:pt x="211963" y="2504059"/>
                  </a:lnTo>
                  <a:lnTo>
                    <a:pt x="195072" y="2504059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804672" y="5797296"/>
            <a:ext cx="1005840" cy="1609344"/>
            <a:chOff x="0" y="0"/>
            <a:chExt cx="1341120" cy="214579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34112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5285" t="0" r="-155285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85725"/>
              <a:ext cx="1341120" cy="22315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📊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975104" y="5797296"/>
            <a:ext cx="15544800" cy="585216"/>
            <a:chOff x="0" y="0"/>
            <a:chExt cx="20726400" cy="78028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0726400" cy="780288"/>
            </a:xfrm>
            <a:custGeom>
              <a:avLst/>
              <a:gdLst/>
              <a:ahLst/>
              <a:cxnLst/>
              <a:rect r="r" b="b" t="t" l="l"/>
              <a:pathLst>
                <a:path h="780288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7571" r="0" b="-46757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2072640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SQL Optimization — Measurable, Not Assumed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975104" y="6400800"/>
            <a:ext cx="15544800" cy="1060704"/>
            <a:chOff x="0" y="0"/>
            <a:chExt cx="20726400" cy="141427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07264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556" r="0" b="-23555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20726400" cy="1461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Full table scan at 452.8 ms → composite index at 40.1 ms = 12.3× improvement. EXPLAIN plans captured before and after. Index design matches the live RBAC list query path, making the benchmark defensible rather than synthetic.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499367" y="7741415"/>
            <a:ext cx="17289275" cy="1890779"/>
            <a:chOff x="0" y="0"/>
            <a:chExt cx="23052367" cy="252103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23018497" cy="2487168"/>
            </a:xfrm>
            <a:custGeom>
              <a:avLst/>
              <a:gdLst/>
              <a:ahLst/>
              <a:cxnLst/>
              <a:rect r="r" b="b" t="t" l="l"/>
              <a:pathLst>
                <a:path h="2487168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2487168"/>
                  </a:lnTo>
                  <a:lnTo>
                    <a:pt x="0" y="2487168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3052278" cy="2520950"/>
            </a:xfrm>
            <a:custGeom>
              <a:avLst/>
              <a:gdLst/>
              <a:ahLst/>
              <a:cxnLst/>
              <a:rect r="r" b="b" t="t" l="l"/>
              <a:pathLst>
                <a:path h="2520950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2504059"/>
                  </a:lnTo>
                  <a:cubicBezTo>
                    <a:pt x="23052278" y="2513457"/>
                    <a:pt x="23044658" y="2520950"/>
                    <a:pt x="23035388" y="2520950"/>
                  </a:cubicBezTo>
                  <a:lnTo>
                    <a:pt x="16891" y="2520950"/>
                  </a:lnTo>
                  <a:cubicBezTo>
                    <a:pt x="7493" y="2520950"/>
                    <a:pt x="0" y="2513330"/>
                    <a:pt x="0" y="25040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04059"/>
                  </a:lnTo>
                  <a:lnTo>
                    <a:pt x="16891" y="2504059"/>
                  </a:lnTo>
                  <a:lnTo>
                    <a:pt x="16891" y="2487168"/>
                  </a:lnTo>
                  <a:lnTo>
                    <a:pt x="23035388" y="2487168"/>
                  </a:lnTo>
                  <a:lnTo>
                    <a:pt x="23035388" y="2504059"/>
                  </a:lnTo>
                  <a:lnTo>
                    <a:pt x="23018497" y="2504059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499367" y="7741415"/>
            <a:ext cx="171707" cy="1890779"/>
            <a:chOff x="0" y="0"/>
            <a:chExt cx="228943" cy="252103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195072" cy="2487168"/>
            </a:xfrm>
            <a:custGeom>
              <a:avLst/>
              <a:gdLst/>
              <a:ahLst/>
              <a:cxnLst/>
              <a:rect r="r" b="b" t="t" l="l"/>
              <a:pathLst>
                <a:path h="2487168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487168"/>
                  </a:lnTo>
                  <a:lnTo>
                    <a:pt x="0" y="2487168"/>
                  </a:ln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28854" cy="2520950"/>
            </a:xfrm>
            <a:custGeom>
              <a:avLst/>
              <a:gdLst/>
              <a:ahLst/>
              <a:cxnLst/>
              <a:rect r="r" b="b" t="t" l="l"/>
              <a:pathLst>
                <a:path h="2520950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504059"/>
                  </a:lnTo>
                  <a:cubicBezTo>
                    <a:pt x="228854" y="2513457"/>
                    <a:pt x="221234" y="2520950"/>
                    <a:pt x="211963" y="2520950"/>
                  </a:cubicBezTo>
                  <a:lnTo>
                    <a:pt x="16891" y="2520950"/>
                  </a:lnTo>
                  <a:cubicBezTo>
                    <a:pt x="7493" y="2520950"/>
                    <a:pt x="0" y="2513330"/>
                    <a:pt x="0" y="25040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04059"/>
                  </a:lnTo>
                  <a:lnTo>
                    <a:pt x="16891" y="2504059"/>
                  </a:lnTo>
                  <a:lnTo>
                    <a:pt x="16891" y="2487168"/>
                  </a:lnTo>
                  <a:lnTo>
                    <a:pt x="211963" y="2487168"/>
                  </a:lnTo>
                  <a:lnTo>
                    <a:pt x="211963" y="2504059"/>
                  </a:lnTo>
                  <a:lnTo>
                    <a:pt x="195072" y="2504059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804672" y="7845552"/>
            <a:ext cx="1005840" cy="1609344"/>
            <a:chOff x="0" y="0"/>
            <a:chExt cx="1341120" cy="214579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34112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5285" t="0" r="-155285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85725"/>
              <a:ext cx="1341120" cy="22315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🔗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975104" y="7845552"/>
            <a:ext cx="15544800" cy="585216"/>
            <a:chOff x="0" y="0"/>
            <a:chExt cx="20726400" cy="78028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0726400" cy="780288"/>
            </a:xfrm>
            <a:custGeom>
              <a:avLst/>
              <a:gdLst/>
              <a:ahLst/>
              <a:cxnLst/>
              <a:rect r="r" b="b" t="t" l="l"/>
              <a:pathLst>
                <a:path h="780288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7571" r="0" b="-46757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57150"/>
              <a:ext cx="2072640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One Domain, Two Modules, Complete Traceability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975104" y="8449056"/>
            <a:ext cx="15544800" cy="1060704"/>
            <a:chOff x="0" y="0"/>
            <a:chExt cx="20726400" cy="141427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07264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556" r="0" b="-235556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20726400" cy="1461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Both modules share the same exported database snapshot, the same table definitions, and the same access-pattern vocabulary. Every evidence artifact is traceable to a specific code path, making this submission uniquely strong in completeness.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499367" y="9679943"/>
            <a:ext cx="17190720" cy="402336"/>
            <a:chOff x="0" y="0"/>
            <a:chExt cx="22920960" cy="53644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2920961" cy="536448"/>
            </a:xfrm>
            <a:custGeom>
              <a:avLst/>
              <a:gdLst/>
              <a:ahLst/>
              <a:cxnLst/>
              <a:rect r="r" b="b" t="t" l="l"/>
              <a:pathLst>
                <a:path h="536448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2542" r="0" b="-782542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2292096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b="true" sz="2400" i="true" spc="600">
                  <a:solidFill>
                    <a:srgbClr val="06B6C8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Correctness · Performance · Security · Demonstrability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281435" cy="10312403"/>
            <a:chOff x="0" y="0"/>
            <a:chExt cx="375247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341376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5158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375158">
                  <a:moveTo>
                    <a:pt x="16891" y="0"/>
                  </a:moveTo>
                  <a:lnTo>
                    <a:pt x="358267" y="0"/>
                  </a:lnTo>
                  <a:cubicBezTo>
                    <a:pt x="367665" y="0"/>
                    <a:pt x="375158" y="7620"/>
                    <a:pt x="375158" y="16891"/>
                  </a:cubicBezTo>
                  <a:lnTo>
                    <a:pt x="375158" y="13732890"/>
                  </a:lnTo>
                  <a:cubicBezTo>
                    <a:pt x="375158" y="13742290"/>
                    <a:pt x="367538" y="13749782"/>
                    <a:pt x="358267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358267" y="13716000"/>
                  </a:lnTo>
                  <a:lnTo>
                    <a:pt x="358267" y="13732890"/>
                  </a:lnTo>
                  <a:lnTo>
                    <a:pt x="341376" y="13732890"/>
                  </a:lnTo>
                  <a:lnTo>
                    <a:pt x="341376" y="16891"/>
                  </a:lnTo>
                  <a:lnTo>
                    <a:pt x="358267" y="16891"/>
                  </a:lnTo>
                  <a:lnTo>
                    <a:pt x="35826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8313403" cy="208283"/>
            <a:chOff x="0" y="0"/>
            <a:chExt cx="24417871" cy="2777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277624"/>
            </a:xfrm>
            <a:custGeom>
              <a:avLst/>
              <a:gdLst/>
              <a:ahLst/>
              <a:cxnLst/>
              <a:rect r="r" b="b" t="t" l="l"/>
              <a:pathLst>
                <a:path h="27762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0731"/>
                  </a:lnTo>
                  <a:cubicBezTo>
                    <a:pt x="24417782" y="270129"/>
                    <a:pt x="24410163" y="277622"/>
                    <a:pt x="2440089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4400890" y="243840"/>
                  </a:lnTo>
                  <a:lnTo>
                    <a:pt x="24400890" y="260731"/>
                  </a:lnTo>
                  <a:lnTo>
                    <a:pt x="24384000" y="2607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2697" y="10082279"/>
            <a:ext cx="18313403" cy="208283"/>
            <a:chOff x="0" y="0"/>
            <a:chExt cx="24417871" cy="2777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4383999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417782" cy="277624"/>
            </a:xfrm>
            <a:custGeom>
              <a:avLst/>
              <a:gdLst/>
              <a:ahLst/>
              <a:cxnLst/>
              <a:rect r="r" b="b" t="t" l="l"/>
              <a:pathLst>
                <a:path h="27762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0731"/>
                  </a:lnTo>
                  <a:cubicBezTo>
                    <a:pt x="24417782" y="270129"/>
                    <a:pt x="24410163" y="277622"/>
                    <a:pt x="2440089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4400890" y="243840"/>
                  </a:lnTo>
                  <a:lnTo>
                    <a:pt x="24400890" y="260731"/>
                  </a:lnTo>
                  <a:lnTo>
                    <a:pt x="24384000" y="2607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97922" y="449961"/>
            <a:ext cx="17190720" cy="2011680"/>
            <a:chOff x="0" y="0"/>
            <a:chExt cx="22920960" cy="26822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920961" cy="2682240"/>
            </a:xfrm>
            <a:custGeom>
              <a:avLst/>
              <a:gdLst/>
              <a:ahLst/>
              <a:cxnLst/>
              <a:rect r="r" b="b" t="t" l="l"/>
              <a:pathLst>
                <a:path h="268224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508" r="0" b="-11650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38125"/>
              <a:ext cx="22920960" cy="2920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919"/>
                </a:lnSpc>
              </a:pPr>
              <a:r>
                <a:rPr lang="en-US" sz="1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Thank You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694181" y="2221735"/>
            <a:ext cx="10998203" cy="135131"/>
            <a:chOff x="0" y="0"/>
            <a:chExt cx="14664271" cy="1801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4630399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399">
                  <a:moveTo>
                    <a:pt x="0" y="0"/>
                  </a:moveTo>
                  <a:lnTo>
                    <a:pt x="14630399" y="0"/>
                  </a:lnTo>
                  <a:lnTo>
                    <a:pt x="14630399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64182" cy="180088"/>
            </a:xfrm>
            <a:custGeom>
              <a:avLst/>
              <a:gdLst/>
              <a:ahLst/>
              <a:cxnLst/>
              <a:rect r="r" b="b" t="t" l="l"/>
              <a:pathLst>
                <a:path h="180088" w="14664182">
                  <a:moveTo>
                    <a:pt x="16891" y="0"/>
                  </a:moveTo>
                  <a:lnTo>
                    <a:pt x="14647290" y="0"/>
                  </a:lnTo>
                  <a:cubicBezTo>
                    <a:pt x="14656690" y="0"/>
                    <a:pt x="14664182" y="7620"/>
                    <a:pt x="14664182" y="16891"/>
                  </a:cubicBezTo>
                  <a:lnTo>
                    <a:pt x="14664182" y="163195"/>
                  </a:lnTo>
                  <a:cubicBezTo>
                    <a:pt x="14664182" y="172593"/>
                    <a:pt x="14656563" y="180086"/>
                    <a:pt x="14647290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4647290" y="146304"/>
                  </a:lnTo>
                  <a:lnTo>
                    <a:pt x="14647290" y="163195"/>
                  </a:lnTo>
                  <a:lnTo>
                    <a:pt x="14630400" y="163195"/>
                  </a:lnTo>
                  <a:lnTo>
                    <a:pt x="14630400" y="16891"/>
                  </a:lnTo>
                  <a:lnTo>
                    <a:pt x="14647290" y="16891"/>
                  </a:lnTo>
                  <a:lnTo>
                    <a:pt x="146472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48640" y="2633091"/>
            <a:ext cx="17190720" cy="914400"/>
            <a:chOff x="0" y="0"/>
            <a:chExt cx="22920960" cy="1219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920961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6318" r="0" b="-31631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14300"/>
              <a:ext cx="22920960" cy="1333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b="true" sz="5599" spc="1599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 &amp; A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48640" y="3718941"/>
            <a:ext cx="17190720" cy="512064"/>
            <a:chOff x="0" y="0"/>
            <a:chExt cx="22920960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920961" cy="682752"/>
            </a:xfrm>
            <a:custGeom>
              <a:avLst/>
              <a:gdLst/>
              <a:ahLst/>
              <a:cxnLst/>
              <a:rect r="r" b="b" t="t" l="l"/>
              <a:pathLst>
                <a:path h="682752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4140" r="0" b="-60414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29209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b="true" sz="2000" spc="800">
                  <a:solidFill>
                    <a:srgbClr val="8BAFC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LIKELY EVALUATOR QUESTIONS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99367" y="4402455"/>
            <a:ext cx="17289275" cy="720347"/>
            <a:chOff x="0" y="0"/>
            <a:chExt cx="23052367" cy="96046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23018497" cy="926592"/>
            </a:xfrm>
            <a:custGeom>
              <a:avLst/>
              <a:gdLst/>
              <a:ahLst/>
              <a:cxnLst/>
              <a:rect r="r" b="b" t="t" l="l"/>
              <a:pathLst>
                <a:path h="926592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3052278" cy="960376"/>
            </a:xfrm>
            <a:custGeom>
              <a:avLst/>
              <a:gdLst/>
              <a:ahLst/>
              <a:cxnLst/>
              <a:rect r="r" b="b" t="t" l="l"/>
              <a:pathLst>
                <a:path h="960376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943483"/>
                  </a:lnTo>
                  <a:cubicBezTo>
                    <a:pt x="23052278" y="952881"/>
                    <a:pt x="23044658" y="960374"/>
                    <a:pt x="23035388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3035388" y="926592"/>
                  </a:lnTo>
                  <a:lnTo>
                    <a:pt x="23035388" y="943483"/>
                  </a:lnTo>
                  <a:lnTo>
                    <a:pt x="23018497" y="943483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58368" y="4488304"/>
            <a:ext cx="2743200" cy="512064"/>
            <a:chOff x="0" y="0"/>
            <a:chExt cx="3657600" cy="68275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657600" cy="682752"/>
            </a:xfrm>
            <a:custGeom>
              <a:avLst/>
              <a:gdLst/>
              <a:ahLst/>
              <a:cxnLst/>
              <a:rect r="r" b="b" t="t" l="l"/>
              <a:pathLst>
                <a:path h="68275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3657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Q: Architecture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438144" y="4488304"/>
            <a:ext cx="14081760" cy="512064"/>
            <a:chOff x="0" y="0"/>
            <a:chExt cx="18775680" cy="68275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8775680" cy="682752"/>
            </a:xfrm>
            <a:custGeom>
              <a:avLst/>
              <a:gdLst/>
              <a:ahLst/>
              <a:cxnLst/>
              <a:rect r="r" b="b" t="t" l="l"/>
              <a:pathLst>
                <a:path h="682752" w="18775680">
                  <a:moveTo>
                    <a:pt x="0" y="0"/>
                  </a:moveTo>
                  <a:lnTo>
                    <a:pt x="18775680" y="0"/>
                  </a:lnTo>
                  <a:lnTo>
                    <a:pt x="18775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838" r="0" b="-48583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87756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How does Module A connect to Module B? → Shared database_export.json; same domain vocab across both modules.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99367" y="5207127"/>
            <a:ext cx="17289275" cy="720347"/>
            <a:chOff x="0" y="0"/>
            <a:chExt cx="23052367" cy="96046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23018497" cy="926592"/>
            </a:xfrm>
            <a:custGeom>
              <a:avLst/>
              <a:gdLst/>
              <a:ahLst/>
              <a:cxnLst/>
              <a:rect r="r" b="b" t="t" l="l"/>
              <a:pathLst>
                <a:path h="926592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3052278" cy="960376"/>
            </a:xfrm>
            <a:custGeom>
              <a:avLst/>
              <a:gdLst/>
              <a:ahLst/>
              <a:cxnLst/>
              <a:rect r="r" b="b" t="t" l="l"/>
              <a:pathLst>
                <a:path h="960376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943483"/>
                  </a:lnTo>
                  <a:cubicBezTo>
                    <a:pt x="23052278" y="952881"/>
                    <a:pt x="23044658" y="960374"/>
                    <a:pt x="23035388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3035388" y="926592"/>
                  </a:lnTo>
                  <a:lnTo>
                    <a:pt x="23035388" y="943483"/>
                  </a:lnTo>
                  <a:lnTo>
                    <a:pt x="23018497" y="943483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58368" y="5292976"/>
            <a:ext cx="2743200" cy="512064"/>
            <a:chOff x="0" y="0"/>
            <a:chExt cx="3657600" cy="68275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657600" cy="682752"/>
            </a:xfrm>
            <a:custGeom>
              <a:avLst/>
              <a:gdLst/>
              <a:ahLst/>
              <a:cxnLst/>
              <a:rect r="r" b="b" t="t" l="l"/>
              <a:pathLst>
                <a:path h="68275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3657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Q: B+ Tree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3438144" y="5292976"/>
            <a:ext cx="14081760" cy="512064"/>
            <a:chOff x="0" y="0"/>
            <a:chExt cx="18775680" cy="6827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8775680" cy="682752"/>
            </a:xfrm>
            <a:custGeom>
              <a:avLst/>
              <a:gdLst/>
              <a:ahLst/>
              <a:cxnLst/>
              <a:rect r="r" b="b" t="t" l="l"/>
              <a:pathLst>
                <a:path h="682752" w="18775680">
                  <a:moveTo>
                    <a:pt x="0" y="0"/>
                  </a:moveTo>
                  <a:lnTo>
                    <a:pt x="18775680" y="0"/>
                  </a:lnTo>
                  <a:lnTo>
                    <a:pt x="18775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838" r="0" b="-48583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87756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Why not just use MySQL's built-in index? → Assignment requires from-scratch; parity validation proves equivalence.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499367" y="6011799"/>
            <a:ext cx="17289275" cy="720347"/>
            <a:chOff x="0" y="0"/>
            <a:chExt cx="23052367" cy="96046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23018497" cy="926592"/>
            </a:xfrm>
            <a:custGeom>
              <a:avLst/>
              <a:gdLst/>
              <a:ahLst/>
              <a:cxnLst/>
              <a:rect r="r" b="b" t="t" l="l"/>
              <a:pathLst>
                <a:path h="926592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3052278" cy="960376"/>
            </a:xfrm>
            <a:custGeom>
              <a:avLst/>
              <a:gdLst/>
              <a:ahLst/>
              <a:cxnLst/>
              <a:rect r="r" b="b" t="t" l="l"/>
              <a:pathLst>
                <a:path h="960376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943483"/>
                  </a:lnTo>
                  <a:cubicBezTo>
                    <a:pt x="23052278" y="952881"/>
                    <a:pt x="23044658" y="960374"/>
                    <a:pt x="23035388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3035388" y="926592"/>
                  </a:lnTo>
                  <a:lnTo>
                    <a:pt x="23035388" y="943483"/>
                  </a:lnTo>
                  <a:lnTo>
                    <a:pt x="23018497" y="943483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58368" y="6097648"/>
            <a:ext cx="2743200" cy="512064"/>
            <a:chOff x="0" y="0"/>
            <a:chExt cx="3657600" cy="68275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657600" cy="682752"/>
            </a:xfrm>
            <a:custGeom>
              <a:avLst/>
              <a:gdLst/>
              <a:ahLst/>
              <a:cxnLst/>
              <a:rect r="r" b="b" t="t" l="l"/>
              <a:pathLst>
                <a:path h="68275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3657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Q: Security Model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3438144" y="6097648"/>
            <a:ext cx="14081760" cy="512064"/>
            <a:chOff x="0" y="0"/>
            <a:chExt cx="18775680" cy="68275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8775680" cy="682752"/>
            </a:xfrm>
            <a:custGeom>
              <a:avLst/>
              <a:gdLst/>
              <a:ahLst/>
              <a:cxnLst/>
              <a:rect r="r" b="b" t="t" l="l"/>
              <a:pathLst>
                <a:path h="682752" w="18775680">
                  <a:moveTo>
                    <a:pt x="0" y="0"/>
                  </a:moveTo>
                  <a:lnTo>
                    <a:pt x="18775680" y="0"/>
                  </a:lnTo>
                  <a:lnTo>
                    <a:pt x="18775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838" r="0" b="-48583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187756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How is MAIN vs SUB enforced? → token_type column in inner_tokens; authSession middleware attaches role to req.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499367" y="6816471"/>
            <a:ext cx="17289275" cy="720347"/>
            <a:chOff x="0" y="0"/>
            <a:chExt cx="23052367" cy="96046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23018497" cy="926592"/>
            </a:xfrm>
            <a:custGeom>
              <a:avLst/>
              <a:gdLst/>
              <a:ahLst/>
              <a:cxnLst/>
              <a:rect r="r" b="b" t="t" l="l"/>
              <a:pathLst>
                <a:path h="926592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3052278" cy="960376"/>
            </a:xfrm>
            <a:custGeom>
              <a:avLst/>
              <a:gdLst/>
              <a:ahLst/>
              <a:cxnLst/>
              <a:rect r="r" b="b" t="t" l="l"/>
              <a:pathLst>
                <a:path h="960376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943483"/>
                  </a:lnTo>
                  <a:cubicBezTo>
                    <a:pt x="23052278" y="952881"/>
                    <a:pt x="23044658" y="960374"/>
                    <a:pt x="23035388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3035388" y="926592"/>
                  </a:lnTo>
                  <a:lnTo>
                    <a:pt x="23035388" y="943483"/>
                  </a:lnTo>
                  <a:lnTo>
                    <a:pt x="23018497" y="943483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58368" y="6902320"/>
            <a:ext cx="2743200" cy="512064"/>
            <a:chOff x="0" y="0"/>
            <a:chExt cx="3657600" cy="68275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657600" cy="682752"/>
            </a:xfrm>
            <a:custGeom>
              <a:avLst/>
              <a:gdLst/>
              <a:ahLst/>
              <a:cxnLst/>
              <a:rect r="r" b="b" t="t" l="l"/>
              <a:pathLst>
                <a:path h="68275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3657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Q: SQL Index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3438144" y="6902320"/>
            <a:ext cx="14081760" cy="512064"/>
            <a:chOff x="0" y="0"/>
            <a:chExt cx="18775680" cy="68275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8775680" cy="682752"/>
            </a:xfrm>
            <a:custGeom>
              <a:avLst/>
              <a:gdLst/>
              <a:ahLst/>
              <a:cxnLst/>
              <a:rect r="r" b="b" t="t" l="l"/>
              <a:pathLst>
                <a:path h="682752" w="18775680">
                  <a:moveTo>
                    <a:pt x="0" y="0"/>
                  </a:moveTo>
                  <a:lnTo>
                    <a:pt x="18775680" y="0"/>
                  </a:lnTo>
                  <a:lnTo>
                    <a:pt x="18775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838" r="0" b="-485838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187756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Why pick (vault_id, owner_vault_id, status, created_at)? → Matches exact WHERE + ORDER BY clauses in the live RBAC list query.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499367" y="7621143"/>
            <a:ext cx="17289275" cy="720347"/>
            <a:chOff x="0" y="0"/>
            <a:chExt cx="23052367" cy="96046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23018497" cy="926592"/>
            </a:xfrm>
            <a:custGeom>
              <a:avLst/>
              <a:gdLst/>
              <a:ahLst/>
              <a:cxnLst/>
              <a:rect r="r" b="b" t="t" l="l"/>
              <a:pathLst>
                <a:path h="926592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3052278" cy="960376"/>
            </a:xfrm>
            <a:custGeom>
              <a:avLst/>
              <a:gdLst/>
              <a:ahLst/>
              <a:cxnLst/>
              <a:rect r="r" b="b" t="t" l="l"/>
              <a:pathLst>
                <a:path h="960376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943483"/>
                  </a:lnTo>
                  <a:cubicBezTo>
                    <a:pt x="23052278" y="952881"/>
                    <a:pt x="23044658" y="960374"/>
                    <a:pt x="23035388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3035388" y="926592"/>
                  </a:lnTo>
                  <a:lnTo>
                    <a:pt x="23035388" y="943483"/>
                  </a:lnTo>
                  <a:lnTo>
                    <a:pt x="23018497" y="943483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658368" y="7706992"/>
            <a:ext cx="2743200" cy="512064"/>
            <a:chOff x="0" y="0"/>
            <a:chExt cx="3657600" cy="68275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657600" cy="682752"/>
            </a:xfrm>
            <a:custGeom>
              <a:avLst/>
              <a:gdLst/>
              <a:ahLst/>
              <a:cxnLst/>
              <a:rect r="r" b="b" t="t" l="l"/>
              <a:pathLst>
                <a:path h="68275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3657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Q: Tamper Detection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3438144" y="7706992"/>
            <a:ext cx="14081760" cy="512064"/>
            <a:chOff x="0" y="0"/>
            <a:chExt cx="18775680" cy="68275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8775680" cy="682752"/>
            </a:xfrm>
            <a:custGeom>
              <a:avLst/>
              <a:gdLst/>
              <a:ahLst/>
              <a:cxnLst/>
              <a:rect r="r" b="b" t="t" l="l"/>
              <a:pathLst>
                <a:path h="682752" w="18775680">
                  <a:moveTo>
                    <a:pt x="0" y="0"/>
                  </a:moveTo>
                  <a:lnTo>
                    <a:pt x="18775680" y="0"/>
                  </a:lnTo>
                  <a:lnTo>
                    <a:pt x="18775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838" r="0" b="-485838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187756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How is integrity_hash computed? → SHA-256 over vault_id+owner+title+body. Mismatch = row was edited outside the app.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499367" y="8425815"/>
            <a:ext cx="17289275" cy="720347"/>
            <a:chOff x="0" y="0"/>
            <a:chExt cx="23052367" cy="960463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23018497" cy="926592"/>
            </a:xfrm>
            <a:custGeom>
              <a:avLst/>
              <a:gdLst/>
              <a:ahLst/>
              <a:cxnLst/>
              <a:rect r="r" b="b" t="t" l="l"/>
              <a:pathLst>
                <a:path h="926592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3052278" cy="960376"/>
            </a:xfrm>
            <a:custGeom>
              <a:avLst/>
              <a:gdLst/>
              <a:ahLst/>
              <a:cxnLst/>
              <a:rect r="r" b="b" t="t" l="l"/>
              <a:pathLst>
                <a:path h="960376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943483"/>
                  </a:lnTo>
                  <a:cubicBezTo>
                    <a:pt x="23052278" y="952881"/>
                    <a:pt x="23044658" y="960374"/>
                    <a:pt x="23035388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3035388" y="926592"/>
                  </a:lnTo>
                  <a:lnTo>
                    <a:pt x="23035388" y="943483"/>
                  </a:lnTo>
                  <a:lnTo>
                    <a:pt x="23018497" y="943483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658368" y="8511664"/>
            <a:ext cx="2743200" cy="512064"/>
            <a:chOff x="0" y="0"/>
            <a:chExt cx="3657600" cy="68275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657600" cy="682752"/>
            </a:xfrm>
            <a:custGeom>
              <a:avLst/>
              <a:gdLst/>
              <a:ahLst/>
              <a:cxnLst/>
              <a:rect r="r" b="b" t="t" l="l"/>
              <a:pathLst>
                <a:path h="68275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3657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Q: Benchmarks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3438144" y="8511664"/>
            <a:ext cx="14081760" cy="512064"/>
            <a:chOff x="0" y="0"/>
            <a:chExt cx="18775680" cy="68275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8775680" cy="682752"/>
            </a:xfrm>
            <a:custGeom>
              <a:avLst/>
              <a:gdLst/>
              <a:ahLst/>
              <a:cxnLst/>
              <a:rect r="r" b="b" t="t" l="l"/>
              <a:pathLst>
                <a:path h="682752" w="18775680">
                  <a:moveTo>
                    <a:pt x="0" y="0"/>
                  </a:moveTo>
                  <a:lnTo>
                    <a:pt x="18775680" y="0"/>
                  </a:lnTo>
                  <a:lnTo>
                    <a:pt x="18775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838" r="0" b="-485838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187756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Are B+ Tree speedups reproducible? → Yes — run benchmark_blinddrop_paths.py; deterministic dataset amplification from same seed.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597922" y="9449629"/>
            <a:ext cx="17190720" cy="329184"/>
            <a:chOff x="0" y="0"/>
            <a:chExt cx="22920960" cy="43891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2920961" cy="438912"/>
            </a:xfrm>
            <a:custGeom>
              <a:avLst/>
              <a:gdLst/>
              <a:ahLst/>
              <a:cxnLst/>
              <a:rect r="r" b="b" t="t" l="l"/>
              <a:pathLst>
                <a:path h="438912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7551" r="0" b="-967551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2292096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i="true">
                  <a:solidFill>
                    <a:srgbClr val="8BAFC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Keep backup artifacts ready: evidence/ folders  ·  benchmark JSON  ·  audit.log  ·  init_schema.sql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DAHFa72h8ug</dc:identifier>
  <dcterms:modified xsi:type="dcterms:W3CDTF">2011-08-01T06:04:30Z</dcterms:modified>
  <cp:revision>1</cp:revision>
  <dc:title>BlindDrop_CS432_v2.pptx</dc:title>
</cp:coreProperties>
</file>